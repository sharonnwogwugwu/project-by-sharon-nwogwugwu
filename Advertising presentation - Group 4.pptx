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47"/>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Lst>
  <p:sldSz cx="18288000" cy="10287000"/>
  <p:notesSz cx="6858000" cy="9144000"/>
  <p:embeddedFontLst>
    <p:embeddedFont>
      <p:font typeface="Open Sauce" charset="1" panose="00000500000000000000"/>
      <p:regular r:id="rId40"/>
    </p:embeddedFont>
    <p:embeddedFont>
      <p:font typeface="Libre Baskerville Italics" charset="1" panose="02000000000000000000"/>
      <p:regular r:id="rId41"/>
    </p:embeddedFont>
    <p:embeddedFont>
      <p:font typeface="Open Sauce Bold" charset="1" panose="00000800000000000000"/>
      <p:regular r:id="rId42"/>
    </p:embeddedFont>
    <p:embeddedFont>
      <p:font typeface="Open Sauce Light" charset="1" panose="00000400000000000000"/>
      <p:regular r:id="rId43"/>
    </p:embeddedFont>
    <p:embeddedFont>
      <p:font typeface="Open Sauce Medium" charset="1" panose="00000600000000000000"/>
      <p:regular r:id="rId44"/>
    </p:embeddedFont>
    <p:embeddedFont>
      <p:font typeface="Open Sauce Italics" charset="1" panose="00000500000000000000"/>
      <p:regular r:id="rId45"/>
    </p:embeddedFont>
    <p:embeddedFont>
      <p:font typeface="Open Sauce Bold Italics" charset="1" panose="00000800000000000000"/>
      <p:regular r:id="rId46"/>
    </p:embeddedFont>
    <p:embeddedFont>
      <p:font typeface="Canva Sans" charset="1" panose="020B0503030501040103"/>
      <p:regular r:id="rId51"/>
    </p:embeddedFont>
    <p:embeddedFont>
      <p:font typeface="Canva Sans Bold" charset="1" panose="020B0803030501040103"/>
      <p:regular r:id="rId5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fonts/font40.fntdata" Type="http://schemas.openxmlformats.org/officeDocument/2006/relationships/font"/><Relationship Id="rId41" Target="fonts/font41.fntdata" Type="http://schemas.openxmlformats.org/officeDocument/2006/relationships/font"/><Relationship Id="rId42" Target="fonts/font42.fntdata" Type="http://schemas.openxmlformats.org/officeDocument/2006/relationships/font"/><Relationship Id="rId43" Target="fonts/font43.fntdata" Type="http://schemas.openxmlformats.org/officeDocument/2006/relationships/font"/><Relationship Id="rId44" Target="fonts/font44.fntdata" Type="http://schemas.openxmlformats.org/officeDocument/2006/relationships/font"/><Relationship Id="rId45" Target="fonts/font45.fntdata" Type="http://schemas.openxmlformats.org/officeDocument/2006/relationships/font"/><Relationship Id="rId46" Target="fonts/font46.fntdata" Type="http://schemas.openxmlformats.org/officeDocument/2006/relationships/font"/><Relationship Id="rId47" Target="notesMasters/notesMaster1.xml" Type="http://schemas.openxmlformats.org/officeDocument/2006/relationships/notesMaster"/><Relationship Id="rId48" Target="theme/theme2.xml" Type="http://schemas.openxmlformats.org/officeDocument/2006/relationships/theme"/><Relationship Id="rId49" Target="notesSlides/notesSlide1.xml" Type="http://schemas.openxmlformats.org/officeDocument/2006/relationships/notesSlide"/><Relationship Id="rId5" Target="tableStyles.xml" Type="http://schemas.openxmlformats.org/officeDocument/2006/relationships/tableStyles"/><Relationship Id="rId50" Target="notesSlides/notesSlide2.xml" Type="http://schemas.openxmlformats.org/officeDocument/2006/relationships/notesSlide"/><Relationship Id="rId51" Target="fonts/font51.fntdata" Type="http://schemas.openxmlformats.org/officeDocument/2006/relationships/font"/><Relationship Id="rId52" Target="fonts/font52.fntdata" Type="http://schemas.openxmlformats.org/officeDocument/2006/relationships/font"/><Relationship Id="rId53" Target="notesSlides/notesSlide3.xml" Type="http://schemas.openxmlformats.org/officeDocument/2006/relationships/notesSlide"/><Relationship Id="rId54" Target="notesSlides/notesSlide4.xml" Type="http://schemas.openxmlformats.org/officeDocument/2006/relationships/notesSlide"/><Relationship Id="rId55" Target="notesSlides/notesSlide5.xml" Type="http://schemas.openxmlformats.org/officeDocument/2006/relationships/notesSlide"/><Relationship Id="rId56" Target="notesSlides/notesSlide6.xml" Type="http://schemas.openxmlformats.org/officeDocument/2006/relationships/notesSlide"/><Relationship Id="rId57" Target="notesSlides/notesSlide7.xml" Type="http://schemas.openxmlformats.org/officeDocument/2006/relationships/notesSlide"/><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7.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8.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2.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3.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https://campaignsoftheworld.com/tv/samsung-do-what-you-cant-2019/ </a:t>
            </a:r>
          </a:p>
          <a:p>
            <a:r>
              <a:rPr lang="en-US"/>
              <a:t/>
            </a:r>
          </a:p>
          <a:p>
            <a:r>
              <a:rPr lang="en-US"/>
              <a:t>#DoWhatYouCant</a:t>
            </a:r>
          </a:p>
          <a:p>
            <a:r>
              <a:rPr lang="en-US"/>
              <a:t/>
            </a:r>
          </a:p>
          <a:p>
            <a:r>
              <a:rPr lang="en-US"/>
              <a:t>film of confronting then overcoming limits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http://www.mandmglobal.com/samsung-develops-first-latam-ad-campaign-in-global-do-what-you-cant-push/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https://vincenzolandino.medium.com/good-brand-philosophy-samsungs-do-what-you-can-t-campaign-c80ed7710188</a:t>
            </a:r>
          </a:p>
          <a:p>
            <a:r>
              <a:rPr lang="en-US"/>
              <a:t/>
            </a:r>
          </a:p>
          <a:p>
            <a:r>
              <a:rPr lang="en-US"/>
              <a:t>https://www.campaignlive.co.uk/article/samsung-underscores-dowhatyoucant-brand-strategy-new-global-ad-s8-galaxy/1429949</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This campaign was a response to the 2016 travel bans to muslim majority countries as well as ongoing discrimination in the housing and hotel industry</a:t>
            </a:r>
          </a:p>
          <a:p>
            <a:r>
              <a:rPr lang="en-US"/>
              <a:t/>
            </a:r>
          </a:p>
          <a:p>
            <a:r>
              <a:rPr lang="en-US"/>
              <a:t>It launched during the 2017 superbowl with the hashtag we accept</a:t>
            </a:r>
          </a:p>
          <a:p>
            <a:r>
              <a:rPr lang="en-US"/>
              <a:t/>
            </a:r>
          </a:p>
          <a:p>
            <a:r>
              <a:rPr lang="en-US"/>
              <a:t>the campaign didn't end there. Airbnb donated $4 million to the international rescue committee to provide housing relief to thousands</a:t>
            </a:r>
          </a:p>
          <a:p>
            <a:r>
              <a:rPr lang="en-US"/>
              <a:t/>
            </a:r>
          </a:p>
          <a:p>
            <a:r>
              <a:rPr lang="en-US"/>
              <a:t>https://medium.com/@l.gamble/breaking-down-airbnbs-weaccept-campaign-f4f46f6c640f</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This campaign received 85% positive responses from the public</a:t>
            </a:r>
          </a:p>
          <a:p>
            <a:r>
              <a:rPr lang="en-US"/>
              <a:t/>
            </a:r>
          </a:p>
          <a:p>
            <a:r>
              <a:rPr lang="en-US"/>
              <a:t>They received multiple honors at the 2018 Shorty social good awards, which recognises marketing campaigns. They recieved awards in the following categories:</a:t>
            </a:r>
          </a:p>
          <a:p>
            <a:r>
              <a:rPr lang="en-US"/>
              <a:t/>
            </a:r>
          </a:p>
          <a:p>
            <a:r>
              <a:rPr lang="en-US"/>
              <a:t>They were the most searched hashtag during the superbowl when the ad aired</a:t>
            </a:r>
          </a:p>
          <a:p>
            <a:r>
              <a:rPr lang="en-US"/>
              <a:t/>
            </a:r>
          </a:p>
          <a:p>
            <a:r>
              <a:rPr lang="en-US"/>
              <a:t>In addition to all these awards, we believe this campaign was effective because message aligned well with their service and mission to provide housing accommodations</a:t>
            </a:r>
          </a:p>
          <a:p>
            <a:r>
              <a:rPr lang="en-US"/>
              <a:t/>
            </a:r>
          </a:p>
          <a:p>
            <a:r>
              <a:rPr lang="en-US"/>
              <a:t>https://shortyawards.com/2nd-socialgood/weaccept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this campaign aimed to re establish trust with stakeholders after the fake accounts scandal where millions of fake accounts were opened in customers names without their consent, such as credit cards to increase sales data</a:t>
            </a:r>
          </a:p>
          <a:p>
            <a:r>
              <a:rPr lang="en-US"/>
              <a:t/>
            </a:r>
          </a:p>
          <a:p>
            <a:r>
              <a:rPr lang="en-US"/>
              <a:t>the campaign was widespread and ran on all platforms including tv, print, social media, and more</a:t>
            </a:r>
          </a:p>
          <a:p>
            <a:r>
              <a:rPr lang="en-US"/>
              <a:t/>
            </a:r>
          </a:p>
          <a:p>
            <a:r>
              <a:rPr lang="en-US"/>
              <a:t/>
            </a:r>
          </a:p>
          <a:p>
            <a:r>
              <a:rPr lang="en-US"/>
              <a:t>https://www.latimes.com/business/la-fi-wells-fargo-ad-campaign-20180509-story.html</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Quote from deb gabor</a:t>
            </a:r>
          </a:p>
          <a:p>
            <a:r>
              <a:rPr lang="en-US"/>
              <a:t/>
            </a:r>
          </a:p>
          <a:p>
            <a:r>
              <a:rPr lang="en-US"/>
              <a:t>overall the campaign came across as inauthentic, and they did not adequately follow through with customers through their actions</a:t>
            </a:r>
          </a:p>
          <a:p>
            <a:r>
              <a:rPr lang="en-US"/>
              <a:t/>
            </a:r>
          </a:p>
          <a:p>
            <a:r>
              <a:rPr lang="en-US"/>
              <a:t>https://www.latimes.com/business/la-fi-wells-fargo-ad-campaign-20180509-story.html</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svg" Type="http://schemas.openxmlformats.org/officeDocument/2006/relationships/image"/><Relationship Id="rId4" Target="../media/image13.jpeg" Type="http://schemas.openxmlformats.org/officeDocument/2006/relationships/image"/><Relationship Id="rId5" Target="https://www.youtube.com/watch?v=sGjQnGio5mw" TargetMode="External" Type="http://schemas.openxmlformats.org/officeDocument/2006/relationships/video"/><Relationship Id="rId6" Target="../media/image14.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6.svg" Type="http://schemas.openxmlformats.org/officeDocument/2006/relationships/image"/><Relationship Id="rId4" Target="../media/image17.png" Type="http://schemas.openxmlformats.org/officeDocument/2006/relationships/image"/><Relationship Id="rId5" Target="../media/image18.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 Id="rId3" Target="../media/image20.svg" Type="http://schemas.openxmlformats.org/officeDocument/2006/relationships/image"/><Relationship Id="rId4" Target="../media/image21.png" Type="http://schemas.openxmlformats.org/officeDocument/2006/relationships/image"/><Relationship Id="rId5" Target="../media/image22.sv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 Id="rId8" Target="../media/image23.png" Type="http://schemas.openxmlformats.org/officeDocument/2006/relationships/image"/><Relationship Id="rId9" Target="../media/image24.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5.png" Type="http://schemas.openxmlformats.org/officeDocument/2006/relationships/image"/><Relationship Id="rId3" Target="../media/image26.svg" Type="http://schemas.openxmlformats.org/officeDocument/2006/relationships/image"/><Relationship Id="rId4" Target="../media/image27.png" Type="http://schemas.openxmlformats.org/officeDocument/2006/relationships/image"/><Relationship Id="rId5" Target="../media/image28.svg" Type="http://schemas.openxmlformats.org/officeDocument/2006/relationships/image"/><Relationship Id="rId6" Target="../media/image14.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29.png" Type="http://schemas.openxmlformats.org/officeDocument/2006/relationships/image"/><Relationship Id="rId7" Target="../media/image30.svg" Type="http://schemas.openxmlformats.org/officeDocument/2006/relationships/image"/><Relationship Id="rId8" Target="../media/image14.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1.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2.png" Type="http://schemas.openxmlformats.org/officeDocument/2006/relationships/image"/><Relationship Id="rId3" Target="../media/image33.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svg" Type="http://schemas.openxmlformats.org/officeDocument/2006/relationships/image"/><Relationship Id="rId4" Target="../media/image34.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5.png" Type="http://schemas.openxmlformats.org/officeDocument/2006/relationships/image"/><Relationship Id="rId3" Target="../media/image36.svg" Type="http://schemas.openxmlformats.org/officeDocument/2006/relationships/image"/><Relationship Id="rId4" Target="../media/image31.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7.png" Type="http://schemas.openxmlformats.org/officeDocument/2006/relationships/image"/><Relationship Id="rId3" Target="../media/image38.svg" Type="http://schemas.openxmlformats.org/officeDocument/2006/relationships/image"/><Relationship Id="rId4" Target="../media/image31.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31.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7.png" Type="http://schemas.openxmlformats.org/officeDocument/2006/relationships/image"/><Relationship Id="rId2" Target="../media/image39.png" Type="http://schemas.openxmlformats.org/officeDocument/2006/relationships/image"/><Relationship Id="rId3" Target="../media/image40.svg" Type="http://schemas.openxmlformats.org/officeDocument/2006/relationships/image"/><Relationship Id="rId4" Target="../media/image41.png" Type="http://schemas.openxmlformats.org/officeDocument/2006/relationships/image"/><Relationship Id="rId5" Target="../media/image42.svg" Type="http://schemas.openxmlformats.org/officeDocument/2006/relationships/image"/><Relationship Id="rId6" Target="../media/image43.png" Type="http://schemas.openxmlformats.org/officeDocument/2006/relationships/image"/><Relationship Id="rId7" Target="../media/image44.svg" Type="http://schemas.openxmlformats.org/officeDocument/2006/relationships/image"/><Relationship Id="rId8" Target="../media/image45.png" Type="http://schemas.openxmlformats.org/officeDocument/2006/relationships/image"/><Relationship Id="rId9" Target="../media/image46.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47.png" Type="http://schemas.openxmlformats.org/officeDocument/2006/relationships/image"/><Relationship Id="rId4" Target="../media/image13.jpeg" Type="http://schemas.openxmlformats.org/officeDocument/2006/relationships/image"/><Relationship Id="rId5" Target="https://www.youtube.com/watch?v=wdL3zfxzueQ&amp;ab_channel=AndroidHeart" TargetMode="External" Type="http://schemas.openxmlformats.org/officeDocument/2006/relationships/video"/></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48.png" Type="http://schemas.openxmlformats.org/officeDocument/2006/relationships/image"/><Relationship Id="rId4" Target="../media/image49.svg" Type="http://schemas.openxmlformats.org/officeDocument/2006/relationships/image"/><Relationship Id="rId5" Target="../media/image39.png" Type="http://schemas.openxmlformats.org/officeDocument/2006/relationships/image"/><Relationship Id="rId6" Target="../media/image40.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5.png" Type="http://schemas.openxmlformats.org/officeDocument/2006/relationships/image"/><Relationship Id="rId11" Target="../media/image56.svg" Type="http://schemas.openxmlformats.org/officeDocument/2006/relationships/image"/><Relationship Id="rId2" Target="../notesSlides/notesSlide3.xml" Type="http://schemas.openxmlformats.org/officeDocument/2006/relationships/notesSlide"/><Relationship Id="rId3" Target="../media/image48.png" Type="http://schemas.openxmlformats.org/officeDocument/2006/relationships/image"/><Relationship Id="rId4" Target="../media/image49.svg" Type="http://schemas.openxmlformats.org/officeDocument/2006/relationships/image"/><Relationship Id="rId5" Target="../media/image50.jpeg" Type="http://schemas.openxmlformats.org/officeDocument/2006/relationships/image"/><Relationship Id="rId6" Target="../media/image51.png" Type="http://schemas.openxmlformats.org/officeDocument/2006/relationships/image"/><Relationship Id="rId7" Target="../media/image52.svg" Type="http://schemas.openxmlformats.org/officeDocument/2006/relationships/image"/><Relationship Id="rId8" Target="../media/image53.png" Type="http://schemas.openxmlformats.org/officeDocument/2006/relationships/image"/><Relationship Id="rId9" Target="../media/image54.sv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6.svg" Type="http://schemas.openxmlformats.org/officeDocument/2006/relationships/image"/><Relationship Id="rId2" Target="../media/image13.jpeg" Type="http://schemas.openxmlformats.org/officeDocument/2006/relationships/image"/><Relationship Id="rId3" Target="https://www.youtube.com/watch?v=bP4BgkPGG9M&amp;ab_channel=Campaignsoftheworld" TargetMode="External" Type="http://schemas.openxmlformats.org/officeDocument/2006/relationships/video"/><Relationship Id="rId4" Target="https://www.youtube.com/watch?v=fjQ6trDkHks&amp;ab_channel=SamsungDeutschland" TargetMode="External" Type="http://schemas.openxmlformats.org/officeDocument/2006/relationships/video"/><Relationship Id="rId5" Target="https://www.youtube.com/watch?v=H62eKilk22c&amp;ab_channel=Campaignsoftheworld" TargetMode="External" Type="http://schemas.openxmlformats.org/officeDocument/2006/relationships/video"/><Relationship Id="rId6" Target="https://www.youtube.com/watch?v=uX5mtNHRjA0&amp;ab_channel=AnthonyKalamut" TargetMode="External" Type="http://schemas.openxmlformats.org/officeDocument/2006/relationships/video"/><Relationship Id="rId7" Target="https://www.youtube.com/watch?v=jG7dSXcfVqE&amp;t=6s&amp;ab_channel=CaseyNeistat" TargetMode="External" Type="http://schemas.openxmlformats.org/officeDocument/2006/relationships/video"/><Relationship Id="rId8" Target="https://www.youtube.com/watch?v=lGCP154Ojy8&amp;t=1s&amp;ab_channel=Hshg766Cantik455" TargetMode="External" Type="http://schemas.openxmlformats.org/officeDocument/2006/relationships/video"/><Relationship Id="rId9" Target="../media/image45.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7.png" Type="http://schemas.openxmlformats.org/officeDocument/2006/relationships/image"/><Relationship Id="rId11" Target="../media/image58.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9.png" Type="http://schemas.openxmlformats.org/officeDocument/2006/relationships/image"/><Relationship Id="rId3" Target="../media/image60.sv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svg" Type="http://schemas.openxmlformats.org/officeDocument/2006/relationships/image"/><Relationship Id="rId4" Target="../media/image61.jpeg" Type="http://schemas.openxmlformats.org/officeDocument/2006/relationships/image"/><Relationship Id="rId5" Target="https://youtu.be/AgeKTTP9_KM?si=raD4dHtoE1cI5Bfe" TargetMode="External" Type="http://schemas.openxmlformats.org/officeDocument/2006/relationships/hyperlink"/></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7.png" Type="http://schemas.openxmlformats.org/officeDocument/2006/relationships/image"/><Relationship Id="rId3" Target="../media/image58.svg" Type="http://schemas.openxmlformats.org/officeDocument/2006/relationships/image"/><Relationship Id="rId4" Target="../media/image62.png" Type="http://schemas.openxmlformats.org/officeDocument/2006/relationships/image"/><Relationship Id="rId5" Target="../media/image63.svg" Type="http://schemas.openxmlformats.org/officeDocument/2006/relationships/image"/><Relationship Id="rId6" Target="../media/image64.png" Type="http://schemas.openxmlformats.org/officeDocument/2006/relationships/image"/><Relationship Id="rId7" Target="../media/image65.sv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7.png" Type="http://schemas.openxmlformats.org/officeDocument/2006/relationships/image"/><Relationship Id="rId3" Target="../media/image58.sv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66.png" Type="http://schemas.openxmlformats.org/officeDocument/2006/relationships/image"/><Relationship Id="rId11" Target="../media/image67.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8.png" Type="http://schemas.openxmlformats.org/officeDocument/2006/relationships/image"/><Relationship Id="rId3" Target="../media/image69.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jpeg" Type="http://schemas.openxmlformats.org/officeDocument/2006/relationships/image"/><Relationship Id="rId3" Target="https://www.youtube.com/watch?v=yetFk7QoSck" TargetMode="External" Type="http://schemas.openxmlformats.org/officeDocument/2006/relationships/video"/><Relationship Id="rId4" Target="../media/image70.pn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71.png" Type="http://schemas.openxmlformats.org/officeDocument/2006/relationships/image"/><Relationship Id="rId4" Target="../media/image72.svg" Type="http://schemas.openxmlformats.org/officeDocument/2006/relationships/image"/><Relationship Id="rId5" Target="../media/image73.png" Type="http://schemas.openxmlformats.org/officeDocument/2006/relationships/image"/><Relationship Id="rId6" Target="../media/image74.svg" Type="http://schemas.openxmlformats.org/officeDocument/2006/relationships/image"/><Relationship Id="rId7" Target="../media/image70.png" Type="http://schemas.openxmlformats.org/officeDocument/2006/relationships/image"/><Relationship Id="rId8" Target="../media/image75.pn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5.png" Type="http://schemas.openxmlformats.org/officeDocument/2006/relationships/image"/><Relationship Id="rId4" Target="../media/image6.svg" Type="http://schemas.openxmlformats.org/officeDocument/2006/relationships/image"/><Relationship Id="rId5" Target="../media/image7.png" Type="http://schemas.openxmlformats.org/officeDocument/2006/relationships/image"/><Relationship Id="rId6" Target="../media/image8.svg" Type="http://schemas.openxmlformats.org/officeDocument/2006/relationships/image"/><Relationship Id="rId7" Target="../media/image76.pn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7.png" Type="http://schemas.openxmlformats.org/officeDocument/2006/relationships/image"/><Relationship Id="rId11" Target="../media/image78.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9.pn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jpeg" Type="http://schemas.openxmlformats.org/officeDocument/2006/relationships/image"/><Relationship Id="rId3" Target="https://www.youtube.com/watch?v=qxExqOiCkPU" TargetMode="External" Type="http://schemas.openxmlformats.org/officeDocument/2006/relationships/video"/><Relationship Id="rId4" Target="../media/image80.pn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3.png" Type="http://schemas.openxmlformats.org/officeDocument/2006/relationships/image"/><Relationship Id="rId4" Target="../media/image4.svg" Type="http://schemas.openxmlformats.org/officeDocument/2006/relationships/image"/><Relationship Id="rId5" Target="../media/image80.png" Type="http://schemas.openxmlformats.org/officeDocument/2006/relationships/image"/><Relationship Id="rId6" Target="../media/image81.pn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5.png" Type="http://schemas.openxmlformats.org/officeDocument/2006/relationships/image"/><Relationship Id="rId4" Target="../media/image6.svg" Type="http://schemas.openxmlformats.org/officeDocument/2006/relationships/image"/><Relationship Id="rId5" Target="../media/image7.png" Type="http://schemas.openxmlformats.org/officeDocument/2006/relationships/image"/><Relationship Id="rId6" Target="../media/image8.svg" Type="http://schemas.openxmlformats.org/officeDocument/2006/relationships/image"/><Relationship Id="rId7" Target="../media/image82.pn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8F6F1"/>
        </a:solidFill>
      </p:bgPr>
    </p:bg>
    <p:spTree>
      <p:nvGrpSpPr>
        <p:cNvPr id="1" name=""/>
        <p:cNvGrpSpPr/>
        <p:nvPr/>
      </p:nvGrpSpPr>
      <p:grpSpPr>
        <a:xfrm>
          <a:off x="0" y="0"/>
          <a:ext cx="0" cy="0"/>
          <a:chOff x="0" y="0"/>
          <a:chExt cx="0" cy="0"/>
        </a:xfrm>
      </p:grpSpPr>
      <p:sp>
        <p:nvSpPr>
          <p:cNvPr name="TextBox 2" id="2"/>
          <p:cNvSpPr txBox="true"/>
          <p:nvPr/>
        </p:nvSpPr>
        <p:spPr>
          <a:xfrm rot="0">
            <a:off x="1754880" y="4895359"/>
            <a:ext cx="14778239" cy="2350770"/>
          </a:xfrm>
          <a:prstGeom prst="rect">
            <a:avLst/>
          </a:prstGeom>
        </p:spPr>
        <p:txBody>
          <a:bodyPr anchor="t" rtlCol="false" tIns="0" lIns="0" bIns="0" rIns="0">
            <a:spAutoFit/>
          </a:bodyPr>
          <a:lstStyle/>
          <a:p>
            <a:pPr algn="l" marL="0" indent="0" lvl="0">
              <a:lnSpc>
                <a:spcPts val="18239"/>
              </a:lnSpc>
            </a:pPr>
            <a:r>
              <a:rPr lang="en-US" sz="15999" spc="-1151">
                <a:solidFill>
                  <a:srgbClr val="000000"/>
                </a:solidFill>
                <a:latin typeface="Open Sauce"/>
                <a:ea typeface="Open Sauce"/>
                <a:cs typeface="Open Sauce"/>
                <a:sym typeface="Open Sauce"/>
              </a:rPr>
              <a:t>Ad Campaigns</a:t>
            </a:r>
          </a:p>
        </p:txBody>
      </p:sp>
      <p:sp>
        <p:nvSpPr>
          <p:cNvPr name="TextBox 3" id="3"/>
          <p:cNvSpPr txBox="true"/>
          <p:nvPr/>
        </p:nvSpPr>
        <p:spPr>
          <a:xfrm rot="0">
            <a:off x="1754880" y="4005986"/>
            <a:ext cx="9410494" cy="1082434"/>
          </a:xfrm>
          <a:prstGeom prst="rect">
            <a:avLst/>
          </a:prstGeom>
        </p:spPr>
        <p:txBody>
          <a:bodyPr anchor="t" rtlCol="false" tIns="0" lIns="0" bIns="0" rIns="0">
            <a:spAutoFit/>
          </a:bodyPr>
          <a:lstStyle/>
          <a:p>
            <a:pPr algn="l" marL="0" indent="0" lvl="0">
              <a:lnSpc>
                <a:spcPts val="8459"/>
              </a:lnSpc>
            </a:pPr>
            <a:r>
              <a:rPr lang="en-US" sz="7420" spc="-534">
                <a:solidFill>
                  <a:srgbClr val="000000"/>
                </a:solidFill>
                <a:latin typeface="Open Sauce"/>
                <a:ea typeface="Open Sauce"/>
                <a:cs typeface="Open Sauce"/>
                <a:sym typeface="Open Sauce"/>
              </a:rPr>
              <a:t>Effective + Ineffective</a:t>
            </a:r>
          </a:p>
        </p:txBody>
      </p:sp>
      <p:sp>
        <p:nvSpPr>
          <p:cNvPr name="TextBox 4" id="4"/>
          <p:cNvSpPr txBox="true"/>
          <p:nvPr/>
        </p:nvSpPr>
        <p:spPr>
          <a:xfrm rot="0">
            <a:off x="4624882" y="8251033"/>
            <a:ext cx="5822696" cy="1207446"/>
          </a:xfrm>
          <a:prstGeom prst="rect">
            <a:avLst/>
          </a:prstGeom>
        </p:spPr>
        <p:txBody>
          <a:bodyPr anchor="t" rtlCol="false" tIns="0" lIns="0" bIns="0" rIns="0">
            <a:spAutoFit/>
          </a:bodyPr>
          <a:lstStyle/>
          <a:p>
            <a:pPr algn="l" marL="0" indent="0" lvl="0">
              <a:lnSpc>
                <a:spcPts val="3272"/>
              </a:lnSpc>
              <a:spcBef>
                <a:spcPct val="0"/>
              </a:spcBef>
            </a:pPr>
            <a:r>
              <a:rPr lang="en-US" sz="2337">
                <a:solidFill>
                  <a:srgbClr val="000000"/>
                </a:solidFill>
                <a:latin typeface="Open Sauce"/>
                <a:ea typeface="Open Sauce"/>
                <a:cs typeface="Open Sauce"/>
                <a:sym typeface="Open Sauce"/>
              </a:rPr>
              <a:t>Group 4: Julia Zlomke, Robbie Grubbs, Sharon Nwogwugwu, Zoe Meeker, Mandi Nemri</a:t>
            </a:r>
          </a:p>
        </p:txBody>
      </p:sp>
      <p:sp>
        <p:nvSpPr>
          <p:cNvPr name="Freeform 5" id="5"/>
          <p:cNvSpPr/>
          <p:nvPr/>
        </p:nvSpPr>
        <p:spPr>
          <a:xfrm flipH="false" flipV="false" rot="0">
            <a:off x="12573977" y="7445439"/>
            <a:ext cx="7233003" cy="7272673"/>
          </a:xfrm>
          <a:custGeom>
            <a:avLst/>
            <a:gdLst/>
            <a:ahLst/>
            <a:cxnLst/>
            <a:rect r="r" b="b" t="t" l="l"/>
            <a:pathLst>
              <a:path h="7272673" w="7233003">
                <a:moveTo>
                  <a:pt x="0" y="0"/>
                </a:moveTo>
                <a:lnTo>
                  <a:pt x="7233004" y="0"/>
                </a:lnTo>
                <a:lnTo>
                  <a:pt x="7233004" y="7272673"/>
                </a:lnTo>
                <a:lnTo>
                  <a:pt x="0" y="72726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2278513" y="7352237"/>
            <a:ext cx="7365874" cy="7365874"/>
          </a:xfrm>
          <a:custGeom>
            <a:avLst/>
            <a:gdLst/>
            <a:ahLst/>
            <a:cxnLst/>
            <a:rect r="r" b="b" t="t" l="l"/>
            <a:pathLst>
              <a:path h="7365874" w="7365874">
                <a:moveTo>
                  <a:pt x="0" y="0"/>
                </a:moveTo>
                <a:lnTo>
                  <a:pt x="7365874" y="0"/>
                </a:lnTo>
                <a:lnTo>
                  <a:pt x="7365874" y="7365875"/>
                </a:lnTo>
                <a:lnTo>
                  <a:pt x="0" y="73658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2545021" y="-1971742"/>
            <a:ext cx="5968153" cy="6000885"/>
          </a:xfrm>
          <a:custGeom>
            <a:avLst/>
            <a:gdLst/>
            <a:ahLst/>
            <a:cxnLst/>
            <a:rect r="r" b="b" t="t" l="l"/>
            <a:pathLst>
              <a:path h="6000885" w="5968153">
                <a:moveTo>
                  <a:pt x="0" y="0"/>
                </a:moveTo>
                <a:lnTo>
                  <a:pt x="5968153" y="0"/>
                </a:lnTo>
                <a:lnTo>
                  <a:pt x="5968153" y="6000884"/>
                </a:lnTo>
                <a:lnTo>
                  <a:pt x="0" y="600088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3641859">
            <a:off x="14342911" y="-1264914"/>
            <a:ext cx="6736363" cy="6368925"/>
          </a:xfrm>
          <a:custGeom>
            <a:avLst/>
            <a:gdLst/>
            <a:ahLst/>
            <a:cxnLst/>
            <a:rect r="r" b="b" t="t" l="l"/>
            <a:pathLst>
              <a:path h="6368925" w="6736363">
                <a:moveTo>
                  <a:pt x="0" y="0"/>
                </a:moveTo>
                <a:lnTo>
                  <a:pt x="6736363" y="0"/>
                </a:lnTo>
                <a:lnTo>
                  <a:pt x="6736363" y="6368925"/>
                </a:lnTo>
                <a:lnTo>
                  <a:pt x="0" y="636892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8F6F1"/>
        </a:solidFill>
      </p:bgPr>
    </p:bg>
    <p:spTree>
      <p:nvGrpSpPr>
        <p:cNvPr id="1" name=""/>
        <p:cNvGrpSpPr/>
        <p:nvPr/>
      </p:nvGrpSpPr>
      <p:grpSpPr>
        <a:xfrm>
          <a:off x="0" y="0"/>
          <a:ext cx="0" cy="0"/>
          <a:chOff x="0" y="0"/>
          <a:chExt cx="0" cy="0"/>
        </a:xfrm>
      </p:grpSpPr>
      <p:sp>
        <p:nvSpPr>
          <p:cNvPr name="Freeform 2" id="2"/>
          <p:cNvSpPr/>
          <p:nvPr/>
        </p:nvSpPr>
        <p:spPr>
          <a:xfrm flipH="false" flipV="false" rot="0">
            <a:off x="13311323" y="7254243"/>
            <a:ext cx="6246740" cy="6281000"/>
          </a:xfrm>
          <a:custGeom>
            <a:avLst/>
            <a:gdLst/>
            <a:ahLst/>
            <a:cxnLst/>
            <a:rect r="r" b="b" t="t" l="l"/>
            <a:pathLst>
              <a:path h="6281000" w="6246740">
                <a:moveTo>
                  <a:pt x="0" y="0"/>
                </a:moveTo>
                <a:lnTo>
                  <a:pt x="6246739" y="0"/>
                </a:lnTo>
                <a:lnTo>
                  <a:pt x="6246739" y="6281000"/>
                </a:lnTo>
                <a:lnTo>
                  <a:pt x="0" y="6281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3062665" y="7254243"/>
            <a:ext cx="7365874" cy="7365874"/>
          </a:xfrm>
          <a:custGeom>
            <a:avLst/>
            <a:gdLst/>
            <a:ahLst/>
            <a:cxnLst/>
            <a:rect r="r" b="b" t="t" l="l"/>
            <a:pathLst>
              <a:path h="7365874" w="7365874">
                <a:moveTo>
                  <a:pt x="0" y="0"/>
                </a:moveTo>
                <a:lnTo>
                  <a:pt x="7365875" y="0"/>
                </a:lnTo>
                <a:lnTo>
                  <a:pt x="7365875" y="7365874"/>
                </a:lnTo>
                <a:lnTo>
                  <a:pt x="0" y="736587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2518440" y="-3114742"/>
            <a:ext cx="5968153" cy="6000885"/>
          </a:xfrm>
          <a:custGeom>
            <a:avLst/>
            <a:gdLst/>
            <a:ahLst/>
            <a:cxnLst/>
            <a:rect r="r" b="b" t="t" l="l"/>
            <a:pathLst>
              <a:path h="6000885" w="5968153">
                <a:moveTo>
                  <a:pt x="0" y="0"/>
                </a:moveTo>
                <a:lnTo>
                  <a:pt x="5968153" y="0"/>
                </a:lnTo>
                <a:lnTo>
                  <a:pt x="5968153" y="6000884"/>
                </a:lnTo>
                <a:lnTo>
                  <a:pt x="0" y="600088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3641859">
            <a:off x="14582144" y="-2536717"/>
            <a:ext cx="6736363" cy="6368925"/>
          </a:xfrm>
          <a:custGeom>
            <a:avLst/>
            <a:gdLst/>
            <a:ahLst/>
            <a:cxnLst/>
            <a:rect r="r" b="b" t="t" l="l"/>
            <a:pathLst>
              <a:path h="6368925" w="6736363">
                <a:moveTo>
                  <a:pt x="0" y="0"/>
                </a:moveTo>
                <a:lnTo>
                  <a:pt x="6736363" y="0"/>
                </a:lnTo>
                <a:lnTo>
                  <a:pt x="6736363" y="6368926"/>
                </a:lnTo>
                <a:lnTo>
                  <a:pt x="0" y="636892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2248149">
            <a:off x="8463893" y="1659720"/>
            <a:ext cx="1360214" cy="2452844"/>
          </a:xfrm>
          <a:custGeom>
            <a:avLst/>
            <a:gdLst/>
            <a:ahLst/>
            <a:cxnLst/>
            <a:rect r="r" b="b" t="t" l="l"/>
            <a:pathLst>
              <a:path h="2452844" w="1360214">
                <a:moveTo>
                  <a:pt x="0" y="0"/>
                </a:moveTo>
                <a:lnTo>
                  <a:pt x="1360214" y="0"/>
                </a:lnTo>
                <a:lnTo>
                  <a:pt x="1360214" y="2452845"/>
                </a:lnTo>
                <a:lnTo>
                  <a:pt x="0" y="245284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7" id="7"/>
          <p:cNvSpPr txBox="true"/>
          <p:nvPr/>
        </p:nvSpPr>
        <p:spPr>
          <a:xfrm rot="0">
            <a:off x="2743492" y="5181600"/>
            <a:ext cx="12801016" cy="1024893"/>
          </a:xfrm>
          <a:prstGeom prst="rect">
            <a:avLst/>
          </a:prstGeom>
        </p:spPr>
        <p:txBody>
          <a:bodyPr anchor="t" rtlCol="false" tIns="0" lIns="0" bIns="0" rIns="0">
            <a:spAutoFit/>
          </a:bodyPr>
          <a:lstStyle/>
          <a:p>
            <a:pPr algn="l" marL="0" indent="0" lvl="0">
              <a:lnSpc>
                <a:spcPts val="7980"/>
              </a:lnSpc>
            </a:pPr>
            <a:r>
              <a:rPr lang="en-US" sz="7000" i="true" spc="-504">
                <a:solidFill>
                  <a:srgbClr val="BF0000"/>
                </a:solidFill>
                <a:latin typeface="Libre Baskerville Italics"/>
                <a:ea typeface="Libre Baskerville Italics"/>
                <a:cs typeface="Libre Baskerville Italics"/>
                <a:sym typeface="Libre Baskerville Italics"/>
              </a:rPr>
              <a:t>Coca-cola’s “share a coke campaign”</a:t>
            </a:r>
          </a:p>
        </p:txBody>
      </p:sp>
      <p:sp>
        <p:nvSpPr>
          <p:cNvPr name="TextBox 8" id="8"/>
          <p:cNvSpPr txBox="true"/>
          <p:nvPr/>
        </p:nvSpPr>
        <p:spPr>
          <a:xfrm rot="0">
            <a:off x="2252433" y="3968116"/>
            <a:ext cx="14182259" cy="1175384"/>
          </a:xfrm>
          <a:prstGeom prst="rect">
            <a:avLst/>
          </a:prstGeom>
        </p:spPr>
        <p:txBody>
          <a:bodyPr anchor="t" rtlCol="false" tIns="0" lIns="0" bIns="0" rIns="0">
            <a:spAutoFit/>
          </a:bodyPr>
          <a:lstStyle/>
          <a:p>
            <a:pPr algn="l" marL="0" indent="0" lvl="0">
              <a:lnSpc>
                <a:spcPts val="9119"/>
              </a:lnSpc>
            </a:pPr>
            <a:r>
              <a:rPr lang="en-US" b="true" sz="7999" spc="-575">
                <a:solidFill>
                  <a:srgbClr val="000000"/>
                </a:solidFill>
                <a:latin typeface="Open Sauce Bold"/>
                <a:ea typeface="Open Sauce Bold"/>
                <a:cs typeface="Open Sauce Bold"/>
                <a:sym typeface="Open Sauce Bold"/>
              </a:rPr>
              <a:t>Non durable product - Effective </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8F6F1"/>
        </a:solidFill>
      </p:bgPr>
    </p:bg>
    <p:spTree>
      <p:nvGrpSpPr>
        <p:cNvPr id="1" name=""/>
        <p:cNvGrpSpPr/>
        <p:nvPr/>
      </p:nvGrpSpPr>
      <p:grpSpPr>
        <a:xfrm>
          <a:off x="0" y="0"/>
          <a:ext cx="0" cy="0"/>
          <a:chOff x="0" y="0"/>
          <a:chExt cx="0" cy="0"/>
        </a:xfrm>
      </p:grpSpPr>
      <p:sp>
        <p:nvSpPr>
          <p:cNvPr name="Freeform 2" id="2"/>
          <p:cNvSpPr/>
          <p:nvPr/>
        </p:nvSpPr>
        <p:spPr>
          <a:xfrm flipH="false" flipV="false" rot="0">
            <a:off x="3878166" y="2531177"/>
            <a:ext cx="10531667" cy="7678543"/>
          </a:xfrm>
          <a:custGeom>
            <a:avLst/>
            <a:gdLst/>
            <a:ahLst/>
            <a:cxnLst/>
            <a:rect r="r" b="b" t="t" l="l"/>
            <a:pathLst>
              <a:path h="7678543" w="10531667">
                <a:moveTo>
                  <a:pt x="0" y="0"/>
                </a:moveTo>
                <a:lnTo>
                  <a:pt x="10531668" y="0"/>
                </a:lnTo>
                <a:lnTo>
                  <a:pt x="10531668" y="7678543"/>
                </a:lnTo>
                <a:lnTo>
                  <a:pt x="0" y="767854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pic>
        <p:nvPicPr>
          <p:cNvPr name="Picture 3" id="3"/>
          <p:cNvPicPr>
            <a:picLocks noChangeAspect="true"/>
          </p:cNvPicPr>
          <p:nvPr>
            <a:videoFile r:link="rId5"/>
          </p:nvPr>
        </p:nvPicPr>
        <p:blipFill>
          <a:blip r:embed="rId4"/>
          <a:stretch>
            <a:fillRect/>
          </a:stretch>
        </p:blipFill>
        <p:spPr>
          <a:xfrm rot="0">
            <a:off x="5243951" y="3176674"/>
            <a:ext cx="7800098" cy="4387555"/>
          </a:xfrm>
          <a:prstGeom prst="rect">
            <a:avLst/>
          </a:prstGeom>
        </p:spPr>
      </p:pic>
      <p:grpSp>
        <p:nvGrpSpPr>
          <p:cNvPr name="Group 4" id="4"/>
          <p:cNvGrpSpPr/>
          <p:nvPr/>
        </p:nvGrpSpPr>
        <p:grpSpPr>
          <a:xfrm rot="-441132">
            <a:off x="221602" y="115276"/>
            <a:ext cx="3701180" cy="3701180"/>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6"/>
              <a:stretch>
                <a:fillRect l="0" t="0" r="0" b="0"/>
              </a:stretch>
            </a:blipFill>
            <a:ln w="114300" cap="sq">
              <a:solidFill>
                <a:srgbClr val="000000"/>
              </a:solidFill>
              <a:prstDash val="lgDash"/>
              <a:miter/>
            </a:ln>
          </p:spPr>
        </p:sp>
      </p:grpSp>
      <p:sp>
        <p:nvSpPr>
          <p:cNvPr name="TextBox 6" id="6"/>
          <p:cNvSpPr txBox="true"/>
          <p:nvPr/>
        </p:nvSpPr>
        <p:spPr>
          <a:xfrm rot="0">
            <a:off x="10113629" y="66675"/>
            <a:ext cx="8099815" cy="1678306"/>
          </a:xfrm>
          <a:prstGeom prst="rect">
            <a:avLst/>
          </a:prstGeom>
        </p:spPr>
        <p:txBody>
          <a:bodyPr anchor="t" rtlCol="false" tIns="0" lIns="0" bIns="0" rIns="0">
            <a:spAutoFit/>
          </a:bodyPr>
          <a:lstStyle/>
          <a:p>
            <a:pPr algn="l" marL="0" indent="0" lvl="0">
              <a:lnSpc>
                <a:spcPts val="13110"/>
              </a:lnSpc>
              <a:spcBef>
                <a:spcPct val="0"/>
              </a:spcBef>
            </a:pPr>
            <a:r>
              <a:rPr lang="en-US" sz="11500" spc="-828">
                <a:solidFill>
                  <a:srgbClr val="000000"/>
                </a:solidFill>
                <a:latin typeface="Open Sauce Light"/>
                <a:ea typeface="Open Sauce Light"/>
                <a:cs typeface="Open Sauce Light"/>
                <a:sym typeface="Open Sauce Light"/>
              </a:rPr>
              <a:t>Share a Coke</a:t>
            </a:r>
          </a:p>
        </p:txBody>
      </p:sp>
      <p:sp>
        <p:nvSpPr>
          <p:cNvPr name="TextBox 7" id="7"/>
          <p:cNvSpPr txBox="true"/>
          <p:nvPr/>
        </p:nvSpPr>
        <p:spPr>
          <a:xfrm rot="0">
            <a:off x="11465801" y="1569695"/>
            <a:ext cx="9144413" cy="1135762"/>
          </a:xfrm>
          <a:prstGeom prst="rect">
            <a:avLst/>
          </a:prstGeom>
        </p:spPr>
        <p:txBody>
          <a:bodyPr anchor="t" rtlCol="false" tIns="0" lIns="0" bIns="0" rIns="0">
            <a:spAutoFit/>
          </a:bodyPr>
          <a:lstStyle/>
          <a:p>
            <a:pPr algn="l" marL="0" indent="0" lvl="0">
              <a:lnSpc>
                <a:spcPts val="8892"/>
              </a:lnSpc>
              <a:spcBef>
                <a:spcPct val="0"/>
              </a:spcBef>
            </a:pPr>
            <a:r>
              <a:rPr lang="en-US" sz="7800" i="true" spc="-561">
                <a:solidFill>
                  <a:srgbClr val="BF0000"/>
                </a:solidFill>
                <a:latin typeface="Libre Baskerville Italics"/>
                <a:ea typeface="Libre Baskerville Italics"/>
                <a:cs typeface="Libre Baskerville Italics"/>
                <a:sym typeface="Libre Baskerville Italics"/>
              </a:rPr>
              <a:t>Video Campaign</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8F6F1"/>
        </a:solidFill>
      </p:bgPr>
    </p:bg>
    <p:spTree>
      <p:nvGrpSpPr>
        <p:cNvPr id="1" name=""/>
        <p:cNvGrpSpPr/>
        <p:nvPr/>
      </p:nvGrpSpPr>
      <p:grpSpPr>
        <a:xfrm>
          <a:off x="0" y="0"/>
          <a:ext cx="0" cy="0"/>
          <a:chOff x="0" y="0"/>
          <a:chExt cx="0" cy="0"/>
        </a:xfrm>
      </p:grpSpPr>
      <p:sp>
        <p:nvSpPr>
          <p:cNvPr name="Freeform 2" id="2"/>
          <p:cNvSpPr/>
          <p:nvPr/>
        </p:nvSpPr>
        <p:spPr>
          <a:xfrm flipH="false" flipV="false" rot="0">
            <a:off x="-4408880" y="633468"/>
            <a:ext cx="9521871" cy="9574094"/>
          </a:xfrm>
          <a:custGeom>
            <a:avLst/>
            <a:gdLst/>
            <a:ahLst/>
            <a:cxnLst/>
            <a:rect r="r" b="b" t="t" l="l"/>
            <a:pathLst>
              <a:path h="9574094" w="9521871">
                <a:moveTo>
                  <a:pt x="0" y="0"/>
                </a:moveTo>
                <a:lnTo>
                  <a:pt x="9521872" y="0"/>
                </a:lnTo>
                <a:lnTo>
                  <a:pt x="9521872" y="9574093"/>
                </a:lnTo>
                <a:lnTo>
                  <a:pt x="0" y="957409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5681790" y="2839386"/>
            <a:ext cx="1738223" cy="1532797"/>
          </a:xfrm>
          <a:custGeom>
            <a:avLst/>
            <a:gdLst/>
            <a:ahLst/>
            <a:cxnLst/>
            <a:rect r="r" b="b" t="t" l="l"/>
            <a:pathLst>
              <a:path h="1532797" w="1738223">
                <a:moveTo>
                  <a:pt x="0" y="0"/>
                </a:moveTo>
                <a:lnTo>
                  <a:pt x="1738223" y="0"/>
                </a:lnTo>
                <a:lnTo>
                  <a:pt x="1738223" y="1532796"/>
                </a:lnTo>
                <a:lnTo>
                  <a:pt x="0" y="153279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5784548" y="7156211"/>
            <a:ext cx="12072833" cy="2759710"/>
          </a:xfrm>
          <a:prstGeom prst="rect">
            <a:avLst/>
          </a:prstGeom>
        </p:spPr>
        <p:txBody>
          <a:bodyPr anchor="t" rtlCol="false" tIns="0" lIns="0" bIns="0" rIns="0">
            <a:spAutoFit/>
          </a:bodyPr>
          <a:lstStyle/>
          <a:p>
            <a:pPr algn="l">
              <a:lnSpc>
                <a:spcPts val="2239"/>
              </a:lnSpc>
            </a:pPr>
            <a:r>
              <a:rPr lang="en-US" sz="1599">
                <a:solidFill>
                  <a:srgbClr val="000000"/>
                </a:solidFill>
                <a:latin typeface="Open Sauce Light"/>
                <a:ea typeface="Open Sauce Light"/>
                <a:cs typeface="Open Sauce Light"/>
                <a:sym typeface="Open Sauce Light"/>
              </a:rPr>
              <a:t>This campaign was created in Sydney, Australia through a collaboration with Ogilvy marketing agency. The concept was simple: personalize Coca-Cola bottles and cans with popular names, to forge closer connections with Australian youth and spark moments of shared happiness. Coca-Cola recognized the need for a fresh approach to engaging with young consumers and its Share a Coke campaign not only renewed its image but also strategically shifted its target demographic from Baby Boomers to Millennials. </a:t>
            </a:r>
          </a:p>
          <a:p>
            <a:pPr algn="l">
              <a:lnSpc>
                <a:spcPts val="2239"/>
              </a:lnSpc>
            </a:pPr>
          </a:p>
          <a:p>
            <a:pPr algn="l" marL="0" indent="0" lvl="0">
              <a:lnSpc>
                <a:spcPts val="2239"/>
              </a:lnSpc>
              <a:spcBef>
                <a:spcPct val="0"/>
              </a:spcBef>
            </a:pPr>
            <a:r>
              <a:rPr lang="en-US" sz="1599">
                <a:solidFill>
                  <a:srgbClr val="000000"/>
                </a:solidFill>
                <a:latin typeface="Open Sauce Light"/>
                <a:ea typeface="Open Sauce Light"/>
                <a:cs typeface="Open Sauce Light"/>
                <a:sym typeface="Open Sauce Light"/>
              </a:rPr>
              <a:t>By embracing personalization and creativity, Coca-Cola successfully connected with its audience on a personal level, positioning itself as a brand aligned with the evolving tastes and preferences of the next generation while driving impressive profitability during its summer campaign in 2012 and beyond. This innovative approach resonated globally, spreading to over 70 countries and generating substantial revenue and brand exposure, cementing its status in modern marketing.</a:t>
            </a:r>
          </a:p>
        </p:txBody>
      </p:sp>
      <p:sp>
        <p:nvSpPr>
          <p:cNvPr name="TextBox 5" id="5"/>
          <p:cNvSpPr txBox="true"/>
          <p:nvPr/>
        </p:nvSpPr>
        <p:spPr>
          <a:xfrm rot="0">
            <a:off x="5784548" y="6736349"/>
            <a:ext cx="11182356" cy="296037"/>
          </a:xfrm>
          <a:prstGeom prst="rect">
            <a:avLst/>
          </a:prstGeom>
        </p:spPr>
        <p:txBody>
          <a:bodyPr anchor="t" rtlCol="false" tIns="0" lIns="0" bIns="0" rIns="0">
            <a:spAutoFit/>
          </a:bodyPr>
          <a:lstStyle/>
          <a:p>
            <a:pPr algn="l">
              <a:lnSpc>
                <a:spcPts val="2289"/>
              </a:lnSpc>
            </a:pPr>
            <a:r>
              <a:rPr lang="en-US" sz="2100" b="true">
                <a:solidFill>
                  <a:srgbClr val="000000"/>
                </a:solidFill>
                <a:latin typeface="Open Sauce Medium"/>
                <a:ea typeface="Open Sauce Medium"/>
                <a:cs typeface="Open Sauce Medium"/>
                <a:sym typeface="Open Sauce Medium"/>
              </a:rPr>
              <a:t>SHARE A COKE AD CAMPAIGN</a:t>
            </a:r>
          </a:p>
        </p:txBody>
      </p:sp>
      <p:sp>
        <p:nvSpPr>
          <p:cNvPr name="TextBox 6" id="6"/>
          <p:cNvSpPr txBox="true"/>
          <p:nvPr/>
        </p:nvSpPr>
        <p:spPr>
          <a:xfrm rot="0">
            <a:off x="5691513" y="488616"/>
            <a:ext cx="10212135" cy="2350770"/>
          </a:xfrm>
          <a:prstGeom prst="rect">
            <a:avLst/>
          </a:prstGeom>
        </p:spPr>
        <p:txBody>
          <a:bodyPr anchor="t" rtlCol="false" tIns="0" lIns="0" bIns="0" rIns="0">
            <a:spAutoFit/>
          </a:bodyPr>
          <a:lstStyle/>
          <a:p>
            <a:pPr algn="l" marL="0" indent="0" lvl="0">
              <a:lnSpc>
                <a:spcPts val="18239"/>
              </a:lnSpc>
              <a:spcBef>
                <a:spcPct val="0"/>
              </a:spcBef>
            </a:pPr>
            <a:r>
              <a:rPr lang="en-US" sz="15999" spc="-1151">
                <a:solidFill>
                  <a:srgbClr val="000000"/>
                </a:solidFill>
                <a:latin typeface="Open Sauce Light"/>
                <a:ea typeface="Open Sauce Light"/>
                <a:cs typeface="Open Sauce Light"/>
                <a:sym typeface="Open Sauce Light"/>
              </a:rPr>
              <a:t>Background</a:t>
            </a:r>
          </a:p>
        </p:txBody>
      </p:sp>
      <p:sp>
        <p:nvSpPr>
          <p:cNvPr name="TextBox 7" id="7"/>
          <p:cNvSpPr txBox="true"/>
          <p:nvPr/>
        </p:nvSpPr>
        <p:spPr>
          <a:xfrm rot="0">
            <a:off x="5691513" y="2473262"/>
            <a:ext cx="9773542" cy="2350770"/>
          </a:xfrm>
          <a:prstGeom prst="rect">
            <a:avLst/>
          </a:prstGeom>
        </p:spPr>
        <p:txBody>
          <a:bodyPr anchor="t" rtlCol="false" tIns="0" lIns="0" bIns="0" rIns="0">
            <a:spAutoFit/>
          </a:bodyPr>
          <a:lstStyle/>
          <a:p>
            <a:pPr algn="l" marL="0" indent="0" lvl="0">
              <a:lnSpc>
                <a:spcPts val="18239"/>
              </a:lnSpc>
              <a:spcBef>
                <a:spcPct val="0"/>
              </a:spcBef>
            </a:pPr>
            <a:r>
              <a:rPr lang="en-US" b="true" sz="15999" spc="-1151">
                <a:solidFill>
                  <a:srgbClr val="9D121B"/>
                </a:solidFill>
                <a:latin typeface="Open Sauce Medium"/>
                <a:ea typeface="Open Sauce Medium"/>
                <a:cs typeface="Open Sauce Medium"/>
                <a:sym typeface="Open Sauce Medium"/>
              </a:rPr>
              <a:t>Information</a:t>
            </a:r>
          </a:p>
        </p:txBody>
      </p:sp>
      <p:sp>
        <p:nvSpPr>
          <p:cNvPr name="TextBox 8" id="8"/>
          <p:cNvSpPr txBox="true"/>
          <p:nvPr/>
        </p:nvSpPr>
        <p:spPr>
          <a:xfrm rot="0">
            <a:off x="5784548" y="5005006"/>
            <a:ext cx="11182356" cy="296037"/>
          </a:xfrm>
          <a:prstGeom prst="rect">
            <a:avLst/>
          </a:prstGeom>
        </p:spPr>
        <p:txBody>
          <a:bodyPr anchor="t" rtlCol="false" tIns="0" lIns="0" bIns="0" rIns="0">
            <a:spAutoFit/>
          </a:bodyPr>
          <a:lstStyle/>
          <a:p>
            <a:pPr algn="l">
              <a:lnSpc>
                <a:spcPts val="2289"/>
              </a:lnSpc>
            </a:pPr>
            <a:r>
              <a:rPr lang="en-US" sz="2100" b="true">
                <a:solidFill>
                  <a:srgbClr val="000000"/>
                </a:solidFill>
                <a:latin typeface="Open Sauce Medium"/>
                <a:ea typeface="Open Sauce Medium"/>
                <a:cs typeface="Open Sauce Medium"/>
                <a:sym typeface="Open Sauce Medium"/>
              </a:rPr>
              <a:t>THE ORIGIN OF COCA‑COLA</a:t>
            </a:r>
          </a:p>
        </p:txBody>
      </p:sp>
      <p:sp>
        <p:nvSpPr>
          <p:cNvPr name="TextBox 9" id="9"/>
          <p:cNvSpPr txBox="true"/>
          <p:nvPr/>
        </p:nvSpPr>
        <p:spPr>
          <a:xfrm rot="0">
            <a:off x="5784548" y="5424868"/>
            <a:ext cx="11182356" cy="549910"/>
          </a:xfrm>
          <a:prstGeom prst="rect">
            <a:avLst/>
          </a:prstGeom>
        </p:spPr>
        <p:txBody>
          <a:bodyPr anchor="t" rtlCol="false" tIns="0" lIns="0" bIns="0" rIns="0">
            <a:spAutoFit/>
          </a:bodyPr>
          <a:lstStyle/>
          <a:p>
            <a:pPr algn="l" marL="0" indent="0" lvl="0">
              <a:lnSpc>
                <a:spcPts val="2239"/>
              </a:lnSpc>
              <a:spcBef>
                <a:spcPct val="0"/>
              </a:spcBef>
            </a:pPr>
            <a:r>
              <a:rPr lang="en-US" sz="1599">
                <a:solidFill>
                  <a:srgbClr val="000000"/>
                </a:solidFill>
                <a:latin typeface="Open Sauce Light"/>
                <a:ea typeface="Open Sauce Light"/>
                <a:cs typeface="Open Sauce Light"/>
                <a:sym typeface="Open Sauce Light"/>
              </a:rPr>
              <a:t>On May 8, 1886, Dr. John Pemberton, a local pharmacist, brought his perfected syrup to Jacobs' Pharmacy in downtown Atlanta where the first glass of Coca‑Cola was poured.</a:t>
            </a:r>
            <a:r>
              <a:rPr lang="en-US" sz="1599">
                <a:solidFill>
                  <a:srgbClr val="000000"/>
                </a:solidFill>
                <a:latin typeface="Open Sauce Light"/>
                <a:ea typeface="Open Sauce Light"/>
                <a:cs typeface="Open Sauce Light"/>
                <a:sym typeface="Open Sauce Light"/>
              </a:rPr>
              <a:t> </a:t>
            </a:r>
          </a:p>
        </p:txBody>
      </p:sp>
      <p:sp>
        <p:nvSpPr>
          <p:cNvPr name="TextBox 10" id="10"/>
          <p:cNvSpPr txBox="true"/>
          <p:nvPr/>
        </p:nvSpPr>
        <p:spPr>
          <a:xfrm rot="0">
            <a:off x="5784548" y="6098604"/>
            <a:ext cx="11182356" cy="273685"/>
          </a:xfrm>
          <a:prstGeom prst="rect">
            <a:avLst/>
          </a:prstGeom>
        </p:spPr>
        <p:txBody>
          <a:bodyPr anchor="t" rtlCol="false" tIns="0" lIns="0" bIns="0" rIns="0">
            <a:spAutoFit/>
          </a:bodyPr>
          <a:lstStyle/>
          <a:p>
            <a:pPr algn="l" marL="0" indent="0" lvl="0">
              <a:lnSpc>
                <a:spcPts val="2239"/>
              </a:lnSpc>
              <a:spcBef>
                <a:spcPct val="0"/>
              </a:spcBef>
            </a:pPr>
            <a:r>
              <a:rPr lang="en-US" sz="1599">
                <a:solidFill>
                  <a:srgbClr val="000000"/>
                </a:solidFill>
                <a:latin typeface="Open Sauce Light"/>
                <a:ea typeface="Open Sauce Light"/>
                <a:cs typeface="Open Sauce Light"/>
                <a:sym typeface="Open Sauce Light"/>
              </a:rPr>
              <a:t>It was placed on sale for five cents a glass as a soda fountain drink.</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8F6F1"/>
        </a:solidFill>
      </p:bgPr>
    </p:bg>
    <p:spTree>
      <p:nvGrpSpPr>
        <p:cNvPr id="1" name=""/>
        <p:cNvGrpSpPr/>
        <p:nvPr/>
      </p:nvGrpSpPr>
      <p:grpSpPr>
        <a:xfrm>
          <a:off x="0" y="0"/>
          <a:ext cx="0" cy="0"/>
          <a:chOff x="0" y="0"/>
          <a:chExt cx="0" cy="0"/>
        </a:xfrm>
      </p:grpSpPr>
      <p:sp>
        <p:nvSpPr>
          <p:cNvPr name="Freeform 2" id="2"/>
          <p:cNvSpPr/>
          <p:nvPr/>
        </p:nvSpPr>
        <p:spPr>
          <a:xfrm flipH="false" flipV="false" rot="0">
            <a:off x="8034166" y="-2057400"/>
            <a:ext cx="4318969" cy="4114800"/>
          </a:xfrm>
          <a:custGeom>
            <a:avLst/>
            <a:gdLst/>
            <a:ahLst/>
            <a:cxnLst/>
            <a:rect r="r" b="b" t="t" l="l"/>
            <a:pathLst>
              <a:path h="4114800" w="4318969">
                <a:moveTo>
                  <a:pt x="0" y="0"/>
                </a:moveTo>
                <a:lnTo>
                  <a:pt x="4318970" y="0"/>
                </a:lnTo>
                <a:lnTo>
                  <a:pt x="431897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7205501" y="5465018"/>
            <a:ext cx="1859517" cy="1835850"/>
          </a:xfrm>
          <a:custGeom>
            <a:avLst/>
            <a:gdLst/>
            <a:ahLst/>
            <a:cxnLst/>
            <a:rect r="r" b="b" t="t" l="l"/>
            <a:pathLst>
              <a:path h="1835850" w="1859517">
                <a:moveTo>
                  <a:pt x="0" y="0"/>
                </a:moveTo>
                <a:lnTo>
                  <a:pt x="1859517" y="0"/>
                </a:lnTo>
                <a:lnTo>
                  <a:pt x="1859517" y="1835850"/>
                </a:lnTo>
                <a:lnTo>
                  <a:pt x="0" y="183585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264345" y="2011022"/>
            <a:ext cx="263979" cy="476028"/>
          </a:xfrm>
          <a:custGeom>
            <a:avLst/>
            <a:gdLst/>
            <a:ahLst/>
            <a:cxnLst/>
            <a:rect r="r" b="b" t="t" l="l"/>
            <a:pathLst>
              <a:path h="476028" w="263979">
                <a:moveTo>
                  <a:pt x="0" y="0"/>
                </a:moveTo>
                <a:lnTo>
                  <a:pt x="263979" y="0"/>
                </a:lnTo>
                <a:lnTo>
                  <a:pt x="263979" y="476028"/>
                </a:lnTo>
                <a:lnTo>
                  <a:pt x="0" y="47602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264345" y="2877215"/>
            <a:ext cx="263979" cy="476028"/>
          </a:xfrm>
          <a:custGeom>
            <a:avLst/>
            <a:gdLst/>
            <a:ahLst/>
            <a:cxnLst/>
            <a:rect r="r" b="b" t="t" l="l"/>
            <a:pathLst>
              <a:path h="476028" w="263979">
                <a:moveTo>
                  <a:pt x="0" y="0"/>
                </a:moveTo>
                <a:lnTo>
                  <a:pt x="263979" y="0"/>
                </a:lnTo>
                <a:lnTo>
                  <a:pt x="263979" y="476029"/>
                </a:lnTo>
                <a:lnTo>
                  <a:pt x="0" y="47602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276442" y="3800919"/>
            <a:ext cx="263979" cy="476028"/>
          </a:xfrm>
          <a:custGeom>
            <a:avLst/>
            <a:gdLst/>
            <a:ahLst/>
            <a:cxnLst/>
            <a:rect r="r" b="b" t="t" l="l"/>
            <a:pathLst>
              <a:path h="476028" w="263979">
                <a:moveTo>
                  <a:pt x="0" y="0"/>
                </a:moveTo>
                <a:lnTo>
                  <a:pt x="263980" y="0"/>
                </a:lnTo>
                <a:lnTo>
                  <a:pt x="263980" y="476028"/>
                </a:lnTo>
                <a:lnTo>
                  <a:pt x="0" y="47602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264345" y="4667472"/>
            <a:ext cx="263979" cy="476028"/>
          </a:xfrm>
          <a:custGeom>
            <a:avLst/>
            <a:gdLst/>
            <a:ahLst/>
            <a:cxnLst/>
            <a:rect r="r" b="b" t="t" l="l"/>
            <a:pathLst>
              <a:path h="476028" w="263979">
                <a:moveTo>
                  <a:pt x="0" y="0"/>
                </a:moveTo>
                <a:lnTo>
                  <a:pt x="263979" y="0"/>
                </a:lnTo>
                <a:lnTo>
                  <a:pt x="263979" y="476028"/>
                </a:lnTo>
                <a:lnTo>
                  <a:pt x="0" y="47602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318930" y="6840844"/>
            <a:ext cx="3051223" cy="3303489"/>
          </a:xfrm>
          <a:custGeom>
            <a:avLst/>
            <a:gdLst/>
            <a:ahLst/>
            <a:cxnLst/>
            <a:rect r="r" b="b" t="t" l="l"/>
            <a:pathLst>
              <a:path h="3303489" w="3051223">
                <a:moveTo>
                  <a:pt x="0" y="0"/>
                </a:moveTo>
                <a:lnTo>
                  <a:pt x="3051223" y="0"/>
                </a:lnTo>
                <a:lnTo>
                  <a:pt x="3051223" y="3303489"/>
                </a:lnTo>
                <a:lnTo>
                  <a:pt x="0" y="330348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9" id="9"/>
          <p:cNvSpPr txBox="true"/>
          <p:nvPr/>
        </p:nvSpPr>
        <p:spPr>
          <a:xfrm rot="0">
            <a:off x="134053" y="444731"/>
            <a:ext cx="8137414" cy="1366266"/>
          </a:xfrm>
          <a:prstGeom prst="rect">
            <a:avLst/>
          </a:prstGeom>
        </p:spPr>
        <p:txBody>
          <a:bodyPr anchor="t" rtlCol="false" tIns="0" lIns="0" bIns="0" rIns="0">
            <a:spAutoFit/>
          </a:bodyPr>
          <a:lstStyle/>
          <a:p>
            <a:pPr algn="ctr" marL="0" indent="0" lvl="0">
              <a:lnSpc>
                <a:spcPts val="10602"/>
              </a:lnSpc>
              <a:spcBef>
                <a:spcPct val="0"/>
              </a:spcBef>
            </a:pPr>
            <a:r>
              <a:rPr lang="en-US" b="true" sz="9300" spc="-669">
                <a:solidFill>
                  <a:srgbClr val="9D121B"/>
                </a:solidFill>
                <a:latin typeface="Open Sauce Bold"/>
                <a:ea typeface="Open Sauce Bold"/>
                <a:cs typeface="Open Sauce Bold"/>
                <a:sym typeface="Open Sauce Bold"/>
              </a:rPr>
              <a:t>Media</a:t>
            </a:r>
            <a:r>
              <a:rPr lang="en-US" sz="9300" spc="-669">
                <a:solidFill>
                  <a:srgbClr val="000000"/>
                </a:solidFill>
                <a:latin typeface="Open Sauce Light"/>
                <a:ea typeface="Open Sauce Light"/>
                <a:cs typeface="Open Sauce Light"/>
                <a:sym typeface="Open Sauce Light"/>
              </a:rPr>
              <a:t> </a:t>
            </a:r>
            <a:r>
              <a:rPr lang="en-US" b="true" sz="9300" spc="-669">
                <a:solidFill>
                  <a:srgbClr val="000000"/>
                </a:solidFill>
                <a:latin typeface="Open Sauce Bold"/>
                <a:ea typeface="Open Sauce Bold"/>
                <a:cs typeface="Open Sauce Bold"/>
                <a:sym typeface="Open Sauce Bold"/>
              </a:rPr>
              <a:t>Strategy</a:t>
            </a:r>
          </a:p>
        </p:txBody>
      </p:sp>
      <p:sp>
        <p:nvSpPr>
          <p:cNvPr name="TextBox 10" id="10"/>
          <p:cNvSpPr txBox="true"/>
          <p:nvPr/>
        </p:nvSpPr>
        <p:spPr>
          <a:xfrm rot="0">
            <a:off x="8756236" y="5698123"/>
            <a:ext cx="9365263" cy="1426791"/>
          </a:xfrm>
          <a:prstGeom prst="rect">
            <a:avLst/>
          </a:prstGeom>
        </p:spPr>
        <p:txBody>
          <a:bodyPr anchor="t" rtlCol="false" tIns="0" lIns="0" bIns="0" rIns="0">
            <a:spAutoFit/>
          </a:bodyPr>
          <a:lstStyle/>
          <a:p>
            <a:pPr algn="ctr" marL="0" indent="0" lvl="0">
              <a:lnSpc>
                <a:spcPts val="11106"/>
              </a:lnSpc>
              <a:spcBef>
                <a:spcPct val="0"/>
              </a:spcBef>
            </a:pPr>
            <a:r>
              <a:rPr lang="en-US" b="true" sz="9742" spc="-701">
                <a:solidFill>
                  <a:srgbClr val="000000"/>
                </a:solidFill>
                <a:latin typeface="Open Sauce Medium"/>
                <a:ea typeface="Open Sauce Medium"/>
                <a:cs typeface="Open Sauce Medium"/>
                <a:sym typeface="Open Sauce Medium"/>
              </a:rPr>
              <a:t>Target </a:t>
            </a:r>
            <a:r>
              <a:rPr lang="en-US" b="true" sz="9742" spc="-701">
                <a:solidFill>
                  <a:srgbClr val="9D121B"/>
                </a:solidFill>
                <a:latin typeface="Open Sauce Medium"/>
                <a:ea typeface="Open Sauce Medium"/>
                <a:cs typeface="Open Sauce Medium"/>
                <a:sym typeface="Open Sauce Medium"/>
              </a:rPr>
              <a:t>Audience</a:t>
            </a:r>
          </a:p>
        </p:txBody>
      </p:sp>
      <p:sp>
        <p:nvSpPr>
          <p:cNvPr name="TextBox 11" id="11"/>
          <p:cNvSpPr txBox="true"/>
          <p:nvPr/>
        </p:nvSpPr>
        <p:spPr>
          <a:xfrm rot="0">
            <a:off x="641366" y="2168989"/>
            <a:ext cx="2987108" cy="296037"/>
          </a:xfrm>
          <a:prstGeom prst="rect">
            <a:avLst/>
          </a:prstGeom>
        </p:spPr>
        <p:txBody>
          <a:bodyPr anchor="t" rtlCol="false" tIns="0" lIns="0" bIns="0" rIns="0">
            <a:spAutoFit/>
          </a:bodyPr>
          <a:lstStyle/>
          <a:p>
            <a:pPr algn="l">
              <a:lnSpc>
                <a:spcPts val="2289"/>
              </a:lnSpc>
            </a:pPr>
            <a:r>
              <a:rPr lang="en-US" sz="2100" b="true">
                <a:solidFill>
                  <a:srgbClr val="000000"/>
                </a:solidFill>
                <a:latin typeface="Open Sauce Medium"/>
                <a:ea typeface="Open Sauce Medium"/>
                <a:cs typeface="Open Sauce Medium"/>
                <a:sym typeface="Open Sauce Medium"/>
              </a:rPr>
              <a:t>DIGITAL INTEGRATION</a:t>
            </a:r>
          </a:p>
        </p:txBody>
      </p:sp>
      <p:sp>
        <p:nvSpPr>
          <p:cNvPr name="TextBox 12" id="12"/>
          <p:cNvSpPr txBox="true"/>
          <p:nvPr/>
        </p:nvSpPr>
        <p:spPr>
          <a:xfrm rot="0">
            <a:off x="641366" y="3035182"/>
            <a:ext cx="4236433" cy="296037"/>
          </a:xfrm>
          <a:prstGeom prst="rect">
            <a:avLst/>
          </a:prstGeom>
        </p:spPr>
        <p:txBody>
          <a:bodyPr anchor="t" rtlCol="false" tIns="0" lIns="0" bIns="0" rIns="0">
            <a:spAutoFit/>
          </a:bodyPr>
          <a:lstStyle/>
          <a:p>
            <a:pPr algn="l">
              <a:lnSpc>
                <a:spcPts val="2289"/>
              </a:lnSpc>
            </a:pPr>
            <a:r>
              <a:rPr lang="en-US" sz="2100" b="true">
                <a:solidFill>
                  <a:srgbClr val="000000"/>
                </a:solidFill>
                <a:latin typeface="Open Sauce Medium"/>
                <a:ea typeface="Open Sauce Medium"/>
                <a:cs typeface="Open Sauce Medium"/>
                <a:sym typeface="Open Sauce Medium"/>
              </a:rPr>
              <a:t>SOCIAL MEDIA ENGAGEMENT</a:t>
            </a:r>
          </a:p>
        </p:txBody>
      </p:sp>
      <p:sp>
        <p:nvSpPr>
          <p:cNvPr name="TextBox 13" id="13"/>
          <p:cNvSpPr txBox="true"/>
          <p:nvPr/>
        </p:nvSpPr>
        <p:spPr>
          <a:xfrm rot="0">
            <a:off x="641366" y="3958886"/>
            <a:ext cx="4236433" cy="296037"/>
          </a:xfrm>
          <a:prstGeom prst="rect">
            <a:avLst/>
          </a:prstGeom>
        </p:spPr>
        <p:txBody>
          <a:bodyPr anchor="t" rtlCol="false" tIns="0" lIns="0" bIns="0" rIns="0">
            <a:spAutoFit/>
          </a:bodyPr>
          <a:lstStyle/>
          <a:p>
            <a:pPr algn="l">
              <a:lnSpc>
                <a:spcPts val="2289"/>
              </a:lnSpc>
            </a:pPr>
            <a:r>
              <a:rPr lang="en-US" sz="2100" b="true">
                <a:solidFill>
                  <a:srgbClr val="000000"/>
                </a:solidFill>
                <a:latin typeface="Open Sauce Medium"/>
                <a:ea typeface="Open Sauce Medium"/>
                <a:cs typeface="Open Sauce Medium"/>
                <a:sym typeface="Open Sauce Medium"/>
              </a:rPr>
              <a:t>INFLUENCER PARTNERSHIPS</a:t>
            </a:r>
          </a:p>
        </p:txBody>
      </p:sp>
      <p:sp>
        <p:nvSpPr>
          <p:cNvPr name="TextBox 14" id="14"/>
          <p:cNvSpPr txBox="true"/>
          <p:nvPr/>
        </p:nvSpPr>
        <p:spPr>
          <a:xfrm rot="0">
            <a:off x="641366" y="4826423"/>
            <a:ext cx="4525323" cy="296037"/>
          </a:xfrm>
          <a:prstGeom prst="rect">
            <a:avLst/>
          </a:prstGeom>
        </p:spPr>
        <p:txBody>
          <a:bodyPr anchor="t" rtlCol="false" tIns="0" lIns="0" bIns="0" rIns="0">
            <a:spAutoFit/>
          </a:bodyPr>
          <a:lstStyle/>
          <a:p>
            <a:pPr algn="l">
              <a:lnSpc>
                <a:spcPts val="2289"/>
              </a:lnSpc>
            </a:pPr>
            <a:r>
              <a:rPr lang="en-US" sz="2100" b="true">
                <a:solidFill>
                  <a:srgbClr val="000000"/>
                </a:solidFill>
                <a:latin typeface="Open Sauce Medium"/>
                <a:ea typeface="Open Sauce Medium"/>
                <a:cs typeface="Open Sauce Medium"/>
                <a:sym typeface="Open Sauce Medium"/>
              </a:rPr>
              <a:t>INTERACTIVE DIGITAL CAMPAIGN</a:t>
            </a:r>
          </a:p>
        </p:txBody>
      </p:sp>
      <p:sp>
        <p:nvSpPr>
          <p:cNvPr name="TextBox 15" id="15"/>
          <p:cNvSpPr txBox="true"/>
          <p:nvPr/>
        </p:nvSpPr>
        <p:spPr>
          <a:xfrm rot="0">
            <a:off x="3484332" y="7753258"/>
            <a:ext cx="14921608" cy="581787"/>
          </a:xfrm>
          <a:prstGeom prst="rect">
            <a:avLst/>
          </a:prstGeom>
        </p:spPr>
        <p:txBody>
          <a:bodyPr anchor="t" rtlCol="false" tIns="0" lIns="0" bIns="0" rIns="0">
            <a:spAutoFit/>
          </a:bodyPr>
          <a:lstStyle/>
          <a:p>
            <a:pPr algn="l">
              <a:lnSpc>
                <a:spcPts val="2289"/>
              </a:lnSpc>
            </a:pPr>
            <a:r>
              <a:rPr lang="en-US" sz="2100" b="true">
                <a:solidFill>
                  <a:srgbClr val="000000"/>
                </a:solidFill>
                <a:latin typeface="Open Sauce Medium"/>
                <a:ea typeface="Open Sauce Medium"/>
                <a:cs typeface="Open Sauce Medium"/>
                <a:sym typeface="Open Sauce Medium"/>
              </a:rPr>
              <a:t>THE PRIMARY TARGET AUDIENCE OF THIS CAMPAIGN WAS MILLENNIALS (YOUNG, 18-25-YEAR-OLD ADULTS)</a:t>
            </a:r>
          </a:p>
          <a:p>
            <a:pPr algn="l">
              <a:lnSpc>
                <a:spcPts val="2289"/>
              </a:lnSpc>
            </a:pPr>
          </a:p>
        </p:txBody>
      </p:sp>
      <p:sp>
        <p:nvSpPr>
          <p:cNvPr name="TextBox 16" id="16"/>
          <p:cNvSpPr txBox="true"/>
          <p:nvPr/>
        </p:nvSpPr>
        <p:spPr>
          <a:xfrm rot="0">
            <a:off x="3477440" y="8354095"/>
            <a:ext cx="11333120" cy="296037"/>
          </a:xfrm>
          <a:prstGeom prst="rect">
            <a:avLst/>
          </a:prstGeom>
        </p:spPr>
        <p:txBody>
          <a:bodyPr anchor="t" rtlCol="false" tIns="0" lIns="0" bIns="0" rIns="0">
            <a:spAutoFit/>
          </a:bodyPr>
          <a:lstStyle/>
          <a:p>
            <a:pPr algn="l">
              <a:lnSpc>
                <a:spcPts val="2289"/>
              </a:lnSpc>
            </a:pPr>
            <a:r>
              <a:rPr lang="en-US" sz="2100" b="true">
                <a:solidFill>
                  <a:srgbClr val="000000"/>
                </a:solidFill>
                <a:latin typeface="Open Sauce Medium"/>
                <a:ea typeface="Open Sauce Medium"/>
                <a:cs typeface="Open Sauce Medium"/>
                <a:sym typeface="Open Sauce Medium"/>
              </a:rPr>
              <a:t>THE SECONDARY TARGET AUDIENCE OF THE CAMPAIGN WAS MIDDLE-AGED PEOPLE</a:t>
            </a:r>
          </a:p>
        </p:txBody>
      </p:sp>
      <p:sp>
        <p:nvSpPr>
          <p:cNvPr name="TextBox 17" id="17"/>
          <p:cNvSpPr txBox="true"/>
          <p:nvPr/>
        </p:nvSpPr>
        <p:spPr>
          <a:xfrm rot="0">
            <a:off x="3621609" y="2216188"/>
            <a:ext cx="8046765" cy="222377"/>
          </a:xfrm>
          <a:prstGeom prst="rect">
            <a:avLst/>
          </a:prstGeom>
        </p:spPr>
        <p:txBody>
          <a:bodyPr anchor="t" rtlCol="false" tIns="0" lIns="0" bIns="0" rIns="0">
            <a:spAutoFit/>
          </a:bodyPr>
          <a:lstStyle/>
          <a:p>
            <a:pPr algn="l">
              <a:lnSpc>
                <a:spcPts val="1744"/>
              </a:lnSpc>
            </a:pPr>
            <a:r>
              <a:rPr lang="en-US" sz="1600" i="true">
                <a:solidFill>
                  <a:srgbClr val="000000"/>
                </a:solidFill>
                <a:latin typeface="Open Sauce Italics"/>
                <a:ea typeface="Open Sauce Italics"/>
                <a:cs typeface="Open Sauce Italics"/>
                <a:sym typeface="Open Sauce Italics"/>
              </a:rPr>
              <a:t> - This helped extend the campaign’s reach and fostered user-generated content.</a:t>
            </a:r>
          </a:p>
        </p:txBody>
      </p:sp>
      <p:sp>
        <p:nvSpPr>
          <p:cNvPr name="TextBox 18" id="18"/>
          <p:cNvSpPr txBox="true"/>
          <p:nvPr/>
        </p:nvSpPr>
        <p:spPr>
          <a:xfrm rot="0">
            <a:off x="4586265" y="3087537"/>
            <a:ext cx="11631077" cy="222377"/>
          </a:xfrm>
          <a:prstGeom prst="rect">
            <a:avLst/>
          </a:prstGeom>
        </p:spPr>
        <p:txBody>
          <a:bodyPr anchor="t" rtlCol="false" tIns="0" lIns="0" bIns="0" rIns="0">
            <a:spAutoFit/>
          </a:bodyPr>
          <a:lstStyle/>
          <a:p>
            <a:pPr algn="l">
              <a:lnSpc>
                <a:spcPts val="1744"/>
              </a:lnSpc>
            </a:pPr>
            <a:r>
              <a:rPr lang="en-US" sz="1600" i="true">
                <a:solidFill>
                  <a:srgbClr val="000000"/>
                </a:solidFill>
                <a:latin typeface="Open Sauce Italics"/>
                <a:ea typeface="Open Sauce Italics"/>
                <a:cs typeface="Open Sauce Italics"/>
                <a:sym typeface="Open Sauce Italics"/>
              </a:rPr>
              <a:t> - Consumers were encouraged to share photos and stories related to the campaign using the hashtag #ShareACoke. </a:t>
            </a:r>
          </a:p>
        </p:txBody>
      </p:sp>
      <p:sp>
        <p:nvSpPr>
          <p:cNvPr name="TextBox 19" id="19"/>
          <p:cNvSpPr txBox="true"/>
          <p:nvPr/>
        </p:nvSpPr>
        <p:spPr>
          <a:xfrm rot="0">
            <a:off x="4453358" y="4006084"/>
            <a:ext cx="11498170" cy="222377"/>
          </a:xfrm>
          <a:prstGeom prst="rect">
            <a:avLst/>
          </a:prstGeom>
        </p:spPr>
        <p:txBody>
          <a:bodyPr anchor="t" rtlCol="false" tIns="0" lIns="0" bIns="0" rIns="0">
            <a:spAutoFit/>
          </a:bodyPr>
          <a:lstStyle/>
          <a:p>
            <a:pPr algn="l">
              <a:lnSpc>
                <a:spcPts val="1744"/>
              </a:lnSpc>
            </a:pPr>
            <a:r>
              <a:rPr lang="en-US" sz="1600" i="true">
                <a:solidFill>
                  <a:srgbClr val="000000"/>
                </a:solidFill>
                <a:latin typeface="Open Sauce Italics"/>
                <a:ea typeface="Open Sauce Italics"/>
                <a:cs typeface="Open Sauce Italics"/>
                <a:sym typeface="Open Sauce Italics"/>
              </a:rPr>
              <a:t> - This strategy helped to amplify the reach of the campaign and create a sense of authenticity and endorsement.</a:t>
            </a:r>
          </a:p>
        </p:txBody>
      </p:sp>
      <p:sp>
        <p:nvSpPr>
          <p:cNvPr name="TextBox 20" id="20"/>
          <p:cNvSpPr txBox="true"/>
          <p:nvPr/>
        </p:nvSpPr>
        <p:spPr>
          <a:xfrm rot="0">
            <a:off x="5048749" y="4863253"/>
            <a:ext cx="13072751" cy="222377"/>
          </a:xfrm>
          <a:prstGeom prst="rect">
            <a:avLst/>
          </a:prstGeom>
        </p:spPr>
        <p:txBody>
          <a:bodyPr anchor="t" rtlCol="false" tIns="0" lIns="0" bIns="0" rIns="0">
            <a:spAutoFit/>
          </a:bodyPr>
          <a:lstStyle/>
          <a:p>
            <a:pPr algn="l">
              <a:lnSpc>
                <a:spcPts val="1744"/>
              </a:lnSpc>
            </a:pPr>
            <a:r>
              <a:rPr lang="en-US" sz="1600" i="true">
                <a:solidFill>
                  <a:srgbClr val="000000"/>
                </a:solidFill>
                <a:latin typeface="Open Sauce Italics"/>
                <a:ea typeface="Open Sauce Italics"/>
                <a:cs typeface="Open Sauce Italics"/>
                <a:sym typeface="Open Sauce Italics"/>
              </a:rPr>
              <a:t> - A website allowed consumers to search for names, creating virtual customized Coke bottles that could be shared on social media.</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8F6F1"/>
        </a:solidFill>
      </p:bgPr>
    </p:bg>
    <p:spTree>
      <p:nvGrpSpPr>
        <p:cNvPr id="1" name=""/>
        <p:cNvGrpSpPr/>
        <p:nvPr/>
      </p:nvGrpSpPr>
      <p:grpSpPr>
        <a:xfrm>
          <a:off x="0" y="0"/>
          <a:ext cx="0" cy="0"/>
          <a:chOff x="0" y="0"/>
          <a:chExt cx="0" cy="0"/>
        </a:xfrm>
      </p:grpSpPr>
      <p:sp>
        <p:nvSpPr>
          <p:cNvPr name="Freeform 2" id="2"/>
          <p:cNvSpPr/>
          <p:nvPr/>
        </p:nvSpPr>
        <p:spPr>
          <a:xfrm flipH="false" flipV="false" rot="0">
            <a:off x="9807882" y="2472651"/>
            <a:ext cx="903086" cy="903086"/>
          </a:xfrm>
          <a:custGeom>
            <a:avLst/>
            <a:gdLst/>
            <a:ahLst/>
            <a:cxnLst/>
            <a:rect r="r" b="b" t="t" l="l"/>
            <a:pathLst>
              <a:path h="903086" w="903086">
                <a:moveTo>
                  <a:pt x="0" y="0"/>
                </a:moveTo>
                <a:lnTo>
                  <a:pt x="903086" y="0"/>
                </a:lnTo>
                <a:lnTo>
                  <a:pt x="903086" y="903086"/>
                </a:lnTo>
                <a:lnTo>
                  <a:pt x="0" y="90308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4824504" y="221146"/>
            <a:ext cx="7500833" cy="2350770"/>
          </a:xfrm>
          <a:prstGeom prst="rect">
            <a:avLst/>
          </a:prstGeom>
        </p:spPr>
        <p:txBody>
          <a:bodyPr anchor="t" rtlCol="false" tIns="0" lIns="0" bIns="0" rIns="0">
            <a:spAutoFit/>
          </a:bodyPr>
          <a:lstStyle/>
          <a:p>
            <a:pPr algn="l" marL="0" indent="0" lvl="0">
              <a:lnSpc>
                <a:spcPts val="18239"/>
              </a:lnSpc>
              <a:spcBef>
                <a:spcPct val="0"/>
              </a:spcBef>
            </a:pPr>
            <a:r>
              <a:rPr lang="en-US" b="true" sz="15999" spc="-1151">
                <a:solidFill>
                  <a:srgbClr val="000000"/>
                </a:solidFill>
                <a:latin typeface="Open Sauce Bold"/>
                <a:ea typeface="Open Sauce Bold"/>
                <a:cs typeface="Open Sauce Bold"/>
                <a:sym typeface="Open Sauce Bold"/>
              </a:rPr>
              <a:t>Why is it</a:t>
            </a:r>
          </a:p>
        </p:txBody>
      </p:sp>
      <p:sp>
        <p:nvSpPr>
          <p:cNvPr name="TextBox 4" id="4"/>
          <p:cNvSpPr txBox="true"/>
          <p:nvPr/>
        </p:nvSpPr>
        <p:spPr>
          <a:xfrm rot="0">
            <a:off x="10466208" y="2648116"/>
            <a:ext cx="6889461" cy="2049780"/>
          </a:xfrm>
          <a:prstGeom prst="rect">
            <a:avLst/>
          </a:prstGeom>
        </p:spPr>
        <p:txBody>
          <a:bodyPr anchor="t" rtlCol="false" tIns="0" lIns="0" bIns="0" rIns="0">
            <a:spAutoFit/>
          </a:bodyPr>
          <a:lstStyle/>
          <a:p>
            <a:pPr algn="l" marL="0" indent="0" lvl="0">
              <a:lnSpc>
                <a:spcPts val="15960"/>
              </a:lnSpc>
              <a:spcBef>
                <a:spcPct val="0"/>
              </a:spcBef>
            </a:pPr>
            <a:r>
              <a:rPr lang="en-US" sz="14000" i="true" spc="-1008">
                <a:solidFill>
                  <a:srgbClr val="9D121B"/>
                </a:solidFill>
                <a:latin typeface="Libre Baskerville Italics"/>
                <a:ea typeface="Libre Baskerville Italics"/>
                <a:cs typeface="Libre Baskerville Italics"/>
                <a:sym typeface="Libre Baskerville Italics"/>
              </a:rPr>
              <a:t>Effective?</a:t>
            </a:r>
          </a:p>
        </p:txBody>
      </p:sp>
      <p:sp>
        <p:nvSpPr>
          <p:cNvPr name="Freeform 5" id="5"/>
          <p:cNvSpPr/>
          <p:nvPr/>
        </p:nvSpPr>
        <p:spPr>
          <a:xfrm flipH="false" flipV="false" rot="0">
            <a:off x="16678730" y="3992304"/>
            <a:ext cx="938872" cy="938872"/>
          </a:xfrm>
          <a:custGeom>
            <a:avLst/>
            <a:gdLst/>
            <a:ahLst/>
            <a:cxnLst/>
            <a:rect r="r" b="b" t="t" l="l"/>
            <a:pathLst>
              <a:path h="938872" w="938872">
                <a:moveTo>
                  <a:pt x="0" y="0"/>
                </a:moveTo>
                <a:lnTo>
                  <a:pt x="938872" y="0"/>
                </a:lnTo>
                <a:lnTo>
                  <a:pt x="938872" y="938872"/>
                </a:lnTo>
                <a:lnTo>
                  <a:pt x="0" y="93887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4519015">
            <a:off x="-2565930" y="3342380"/>
            <a:ext cx="8801100" cy="4288536"/>
          </a:xfrm>
          <a:custGeom>
            <a:avLst/>
            <a:gdLst/>
            <a:ahLst/>
            <a:cxnLst/>
            <a:rect r="r" b="b" t="t" l="l"/>
            <a:pathLst>
              <a:path h="4288536" w="8801100">
                <a:moveTo>
                  <a:pt x="0" y="0"/>
                </a:moveTo>
                <a:lnTo>
                  <a:pt x="8801100" y="0"/>
                </a:lnTo>
                <a:lnTo>
                  <a:pt x="8801100" y="4288536"/>
                </a:lnTo>
                <a:lnTo>
                  <a:pt x="0" y="428853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5508799" y="5682241"/>
            <a:ext cx="10405278" cy="285115"/>
          </a:xfrm>
          <a:prstGeom prst="rect">
            <a:avLst/>
          </a:prstGeom>
        </p:spPr>
        <p:txBody>
          <a:bodyPr anchor="t" rtlCol="false" tIns="0" lIns="0" bIns="0" rIns="0">
            <a:spAutoFit/>
          </a:bodyPr>
          <a:lstStyle/>
          <a:p>
            <a:pPr algn="just">
              <a:lnSpc>
                <a:spcPts val="2180"/>
              </a:lnSpc>
            </a:pPr>
            <a:r>
              <a:rPr lang="en-US" b="true" sz="2000">
                <a:solidFill>
                  <a:srgbClr val="000000"/>
                </a:solidFill>
                <a:latin typeface="Open Sauce Medium"/>
                <a:ea typeface="Open Sauce Medium"/>
                <a:cs typeface="Open Sauce Medium"/>
                <a:sym typeface="Open Sauce Medium"/>
              </a:rPr>
              <a:t>IT SUCCESSFULLY CAPTURED THE ATTENTION OF ITS TARGET AUDIENCE.</a:t>
            </a:r>
          </a:p>
        </p:txBody>
      </p:sp>
      <p:grpSp>
        <p:nvGrpSpPr>
          <p:cNvPr name="Group 8" id="8"/>
          <p:cNvGrpSpPr/>
          <p:nvPr/>
        </p:nvGrpSpPr>
        <p:grpSpPr>
          <a:xfrm rot="-441132">
            <a:off x="4852314" y="5598754"/>
            <a:ext cx="464466" cy="464466"/>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6"/>
              <a:stretch>
                <a:fillRect l="0" t="0" r="0" b="0"/>
              </a:stretch>
            </a:blipFill>
            <a:ln w="26670" cap="sq">
              <a:solidFill>
                <a:srgbClr val="000000"/>
              </a:solidFill>
              <a:prstDash val="sysDot"/>
              <a:miter/>
            </a:ln>
          </p:spPr>
        </p:sp>
      </p:grpSp>
      <p:sp>
        <p:nvSpPr>
          <p:cNvPr name="TextBox 10" id="10"/>
          <p:cNvSpPr txBox="true"/>
          <p:nvPr/>
        </p:nvSpPr>
        <p:spPr>
          <a:xfrm rot="0">
            <a:off x="5508799" y="6434760"/>
            <a:ext cx="12276783" cy="285115"/>
          </a:xfrm>
          <a:prstGeom prst="rect">
            <a:avLst/>
          </a:prstGeom>
        </p:spPr>
        <p:txBody>
          <a:bodyPr anchor="t" rtlCol="false" tIns="0" lIns="0" bIns="0" rIns="0">
            <a:spAutoFit/>
          </a:bodyPr>
          <a:lstStyle/>
          <a:p>
            <a:pPr algn="just">
              <a:lnSpc>
                <a:spcPts val="2180"/>
              </a:lnSpc>
            </a:pPr>
            <a:r>
              <a:rPr lang="en-US" b="true" sz="2000">
                <a:solidFill>
                  <a:srgbClr val="000000"/>
                </a:solidFill>
                <a:latin typeface="Open Sauce Medium"/>
                <a:ea typeface="Open Sauce Medium"/>
                <a:cs typeface="Open Sauce Medium"/>
                <a:sym typeface="Open Sauce Medium"/>
              </a:rPr>
              <a:t>ROUGHLY 1.25 MILLION MORE TEENS TRIED A COKE DURING THE FOLLOWING SUMMER. </a:t>
            </a:r>
          </a:p>
        </p:txBody>
      </p:sp>
      <p:grpSp>
        <p:nvGrpSpPr>
          <p:cNvPr name="Group 11" id="11"/>
          <p:cNvGrpSpPr/>
          <p:nvPr/>
        </p:nvGrpSpPr>
        <p:grpSpPr>
          <a:xfrm rot="-441132">
            <a:off x="4852314" y="6351273"/>
            <a:ext cx="464466" cy="464466"/>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6"/>
              <a:stretch>
                <a:fillRect l="0" t="0" r="0" b="0"/>
              </a:stretch>
            </a:blipFill>
            <a:ln w="28575" cap="sq">
              <a:solidFill>
                <a:srgbClr val="000000"/>
              </a:solidFill>
              <a:prstDash val="sysDot"/>
              <a:miter/>
            </a:ln>
          </p:spPr>
        </p:sp>
      </p:grpSp>
      <p:sp>
        <p:nvSpPr>
          <p:cNvPr name="TextBox 13" id="13"/>
          <p:cNvSpPr txBox="true"/>
          <p:nvPr/>
        </p:nvSpPr>
        <p:spPr>
          <a:xfrm rot="0">
            <a:off x="5508799" y="7219404"/>
            <a:ext cx="12276783" cy="285115"/>
          </a:xfrm>
          <a:prstGeom prst="rect">
            <a:avLst/>
          </a:prstGeom>
        </p:spPr>
        <p:txBody>
          <a:bodyPr anchor="t" rtlCol="false" tIns="0" lIns="0" bIns="0" rIns="0">
            <a:spAutoFit/>
          </a:bodyPr>
          <a:lstStyle/>
          <a:p>
            <a:pPr algn="just">
              <a:lnSpc>
                <a:spcPts val="2180"/>
              </a:lnSpc>
              <a:spcBef>
                <a:spcPct val="0"/>
              </a:spcBef>
            </a:pPr>
            <a:r>
              <a:rPr lang="en-US" b="true" sz="2000">
                <a:solidFill>
                  <a:srgbClr val="000000"/>
                </a:solidFill>
                <a:latin typeface="Open Sauce Medium"/>
                <a:ea typeface="Open Sauce Medium"/>
                <a:cs typeface="Open Sauce Medium"/>
                <a:sym typeface="Open Sauce Medium"/>
              </a:rPr>
              <a:t>SALES OF PARTICIPATING COCA-COLA PACKAGES ROSE BY A PHENOMENAL 11% IN THE US.</a:t>
            </a:r>
          </a:p>
        </p:txBody>
      </p:sp>
      <p:grpSp>
        <p:nvGrpSpPr>
          <p:cNvPr name="Group 14" id="14"/>
          <p:cNvGrpSpPr/>
          <p:nvPr/>
        </p:nvGrpSpPr>
        <p:grpSpPr>
          <a:xfrm rot="-441132">
            <a:off x="4824268" y="7125665"/>
            <a:ext cx="464466" cy="464466"/>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6"/>
              <a:stretch>
                <a:fillRect l="0" t="0" r="0" b="0"/>
              </a:stretch>
            </a:blipFill>
            <a:ln w="28575" cap="sq">
              <a:solidFill>
                <a:srgbClr val="000000"/>
              </a:solidFill>
              <a:prstDash val="sysDot"/>
              <a:miter/>
            </a:ln>
          </p:spPr>
        </p:sp>
      </p:grpSp>
      <p:sp>
        <p:nvSpPr>
          <p:cNvPr name="TextBox 16" id="16"/>
          <p:cNvSpPr txBox="true"/>
          <p:nvPr/>
        </p:nvSpPr>
        <p:spPr>
          <a:xfrm rot="0">
            <a:off x="5508799" y="7964917"/>
            <a:ext cx="12514078" cy="561340"/>
          </a:xfrm>
          <a:prstGeom prst="rect">
            <a:avLst/>
          </a:prstGeom>
        </p:spPr>
        <p:txBody>
          <a:bodyPr anchor="t" rtlCol="false" tIns="0" lIns="0" bIns="0" rIns="0">
            <a:spAutoFit/>
          </a:bodyPr>
          <a:lstStyle/>
          <a:p>
            <a:pPr algn="just">
              <a:lnSpc>
                <a:spcPts val="2180"/>
              </a:lnSpc>
              <a:spcBef>
                <a:spcPct val="0"/>
              </a:spcBef>
            </a:pPr>
            <a:r>
              <a:rPr lang="en-US" b="true" sz="2000">
                <a:solidFill>
                  <a:srgbClr val="000000"/>
                </a:solidFill>
                <a:latin typeface="Open Sauce Medium"/>
                <a:ea typeface="Open Sauce Medium"/>
                <a:cs typeface="Open Sauce Medium"/>
                <a:sym typeface="Open Sauce Medium"/>
              </a:rPr>
              <a:t>THE CAMPAIGN’S SUCCESS LED TO ITS EXPANSION IN OVER 80 COUNTRIES, CONTRIBUTING TO A 2% GLOBAL INCREASE IN COKE VOLUME SALES.</a:t>
            </a:r>
          </a:p>
        </p:txBody>
      </p:sp>
      <p:grpSp>
        <p:nvGrpSpPr>
          <p:cNvPr name="Group 17" id="17"/>
          <p:cNvGrpSpPr/>
          <p:nvPr/>
        </p:nvGrpSpPr>
        <p:grpSpPr>
          <a:xfrm rot="-441132">
            <a:off x="4852314" y="8014053"/>
            <a:ext cx="464466" cy="464466"/>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6"/>
              <a:stretch>
                <a:fillRect l="0" t="0" r="0" b="0"/>
              </a:stretch>
            </a:blipFill>
            <a:ln w="28575" cap="sq">
              <a:solidFill>
                <a:srgbClr val="000000"/>
              </a:solidFill>
              <a:prstDash val="sysDot"/>
              <a:miter/>
            </a:ln>
          </p:spPr>
        </p:sp>
      </p:grpSp>
      <p:grpSp>
        <p:nvGrpSpPr>
          <p:cNvPr name="Group 19" id="19"/>
          <p:cNvGrpSpPr/>
          <p:nvPr/>
        </p:nvGrpSpPr>
        <p:grpSpPr>
          <a:xfrm rot="-441132">
            <a:off x="4852314" y="9046578"/>
            <a:ext cx="464466" cy="464466"/>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6"/>
              <a:stretch>
                <a:fillRect l="0" t="0" r="0" b="0"/>
              </a:stretch>
            </a:blipFill>
            <a:ln w="28575" cap="sq">
              <a:solidFill>
                <a:srgbClr val="000000"/>
              </a:solidFill>
              <a:prstDash val="sysDot"/>
              <a:miter/>
            </a:ln>
          </p:spPr>
        </p:sp>
      </p:grpSp>
      <p:sp>
        <p:nvSpPr>
          <p:cNvPr name="TextBox 21" id="21"/>
          <p:cNvSpPr txBox="true"/>
          <p:nvPr/>
        </p:nvSpPr>
        <p:spPr>
          <a:xfrm rot="0">
            <a:off x="5508799" y="9007666"/>
            <a:ext cx="12514078" cy="561340"/>
          </a:xfrm>
          <a:prstGeom prst="rect">
            <a:avLst/>
          </a:prstGeom>
        </p:spPr>
        <p:txBody>
          <a:bodyPr anchor="t" rtlCol="false" tIns="0" lIns="0" bIns="0" rIns="0">
            <a:spAutoFit/>
          </a:bodyPr>
          <a:lstStyle/>
          <a:p>
            <a:pPr algn="just">
              <a:lnSpc>
                <a:spcPts val="2180"/>
              </a:lnSpc>
              <a:spcBef>
                <a:spcPct val="0"/>
              </a:spcBef>
            </a:pPr>
            <a:r>
              <a:rPr lang="en-US" b="true" sz="2000">
                <a:solidFill>
                  <a:srgbClr val="000000"/>
                </a:solidFill>
                <a:latin typeface="Open Sauce Medium"/>
                <a:ea typeface="Open Sauce Medium"/>
                <a:cs typeface="Open Sauce Medium"/>
                <a:sym typeface="Open Sauce Medium"/>
              </a:rPr>
              <a:t>THE BIGGEST CONTRIBUTOR TO THE SUCCESS OF THE SHARE A COKE CAMPAIGN IS COCA-COLA'S DIVERSE MARKETING STRATEGIES AND TECHNIQUES.</a:t>
            </a:r>
          </a:p>
        </p:txBody>
      </p:sp>
      <p:sp>
        <p:nvSpPr>
          <p:cNvPr name="TextBox 22" id="22"/>
          <p:cNvSpPr txBox="true"/>
          <p:nvPr/>
        </p:nvSpPr>
        <p:spPr>
          <a:xfrm rot="0">
            <a:off x="5508799" y="4950226"/>
            <a:ext cx="8598166" cy="285115"/>
          </a:xfrm>
          <a:prstGeom prst="rect">
            <a:avLst/>
          </a:prstGeom>
        </p:spPr>
        <p:txBody>
          <a:bodyPr anchor="t" rtlCol="false" tIns="0" lIns="0" bIns="0" rIns="0">
            <a:spAutoFit/>
          </a:bodyPr>
          <a:lstStyle/>
          <a:p>
            <a:pPr algn="just">
              <a:lnSpc>
                <a:spcPts val="2180"/>
              </a:lnSpc>
              <a:spcBef>
                <a:spcPct val="0"/>
              </a:spcBef>
            </a:pPr>
            <a:r>
              <a:rPr lang="en-US" b="true" sz="2000">
                <a:solidFill>
                  <a:srgbClr val="000000"/>
                </a:solidFill>
                <a:latin typeface="Open Sauce Medium"/>
                <a:ea typeface="Open Sauce Medium"/>
                <a:cs typeface="Open Sauce Medium"/>
                <a:sym typeface="Open Sauce Medium"/>
              </a:rPr>
              <a:t>IT IS PERSONALIZED, SHAREABLE, AND APPEALS TO EMOTIONS.</a:t>
            </a:r>
          </a:p>
        </p:txBody>
      </p:sp>
      <p:grpSp>
        <p:nvGrpSpPr>
          <p:cNvPr name="Group 23" id="23"/>
          <p:cNvGrpSpPr/>
          <p:nvPr/>
        </p:nvGrpSpPr>
        <p:grpSpPr>
          <a:xfrm rot="-441132">
            <a:off x="4852314" y="4851026"/>
            <a:ext cx="464466" cy="464466"/>
            <a:chOff x="0" y="0"/>
            <a:chExt cx="812800" cy="812800"/>
          </a:xfrm>
        </p:grpSpPr>
        <p:sp>
          <p:nvSpPr>
            <p:cNvPr name="Freeform 24" id="2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6"/>
              <a:stretch>
                <a:fillRect l="0" t="0" r="0" b="0"/>
              </a:stretch>
            </a:blipFill>
            <a:ln w="28575" cap="sq">
              <a:solidFill>
                <a:srgbClr val="000000"/>
              </a:solidFill>
              <a:prstDash val="sysDot"/>
              <a:miter/>
            </a:ln>
          </p:spPr>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8F6F1"/>
        </a:solidFill>
      </p:bgPr>
    </p:bg>
    <p:spTree>
      <p:nvGrpSpPr>
        <p:cNvPr id="1" name=""/>
        <p:cNvGrpSpPr/>
        <p:nvPr/>
      </p:nvGrpSpPr>
      <p:grpSpPr>
        <a:xfrm>
          <a:off x="0" y="0"/>
          <a:ext cx="0" cy="0"/>
          <a:chOff x="0" y="0"/>
          <a:chExt cx="0" cy="0"/>
        </a:xfrm>
      </p:grpSpPr>
      <p:sp>
        <p:nvSpPr>
          <p:cNvPr name="TextBox 2" id="2"/>
          <p:cNvSpPr txBox="true"/>
          <p:nvPr/>
        </p:nvSpPr>
        <p:spPr>
          <a:xfrm rot="0">
            <a:off x="6639747" y="276242"/>
            <a:ext cx="4126045" cy="1908810"/>
          </a:xfrm>
          <a:prstGeom prst="rect">
            <a:avLst/>
          </a:prstGeom>
        </p:spPr>
        <p:txBody>
          <a:bodyPr anchor="t" rtlCol="false" tIns="0" lIns="0" bIns="0" rIns="0">
            <a:spAutoFit/>
          </a:bodyPr>
          <a:lstStyle/>
          <a:p>
            <a:pPr algn="ctr" marL="0" indent="0" lvl="0">
              <a:lnSpc>
                <a:spcPts val="14819"/>
              </a:lnSpc>
              <a:spcBef>
                <a:spcPct val="0"/>
              </a:spcBef>
            </a:pPr>
            <a:r>
              <a:rPr lang="en-US" sz="12999" spc="-935">
                <a:solidFill>
                  <a:srgbClr val="000000"/>
                </a:solidFill>
                <a:latin typeface="Open Sauce Light"/>
                <a:ea typeface="Open Sauce Light"/>
                <a:cs typeface="Open Sauce Light"/>
                <a:sym typeface="Open Sauce Light"/>
              </a:rPr>
              <a:t>Other</a:t>
            </a:r>
          </a:p>
        </p:txBody>
      </p:sp>
      <p:sp>
        <p:nvSpPr>
          <p:cNvPr name="TextBox 3" id="3"/>
          <p:cNvSpPr txBox="true"/>
          <p:nvPr/>
        </p:nvSpPr>
        <p:spPr>
          <a:xfrm rot="0">
            <a:off x="3893323" y="1980513"/>
            <a:ext cx="10229853" cy="1758315"/>
          </a:xfrm>
          <a:prstGeom prst="rect">
            <a:avLst/>
          </a:prstGeom>
        </p:spPr>
        <p:txBody>
          <a:bodyPr anchor="t" rtlCol="false" tIns="0" lIns="0" bIns="0" rIns="0">
            <a:spAutoFit/>
          </a:bodyPr>
          <a:lstStyle/>
          <a:p>
            <a:pPr algn="ctr" marL="0" indent="0" lvl="0">
              <a:lnSpc>
                <a:spcPts val="13679"/>
              </a:lnSpc>
              <a:spcBef>
                <a:spcPct val="0"/>
              </a:spcBef>
            </a:pPr>
            <a:r>
              <a:rPr lang="en-US" b="true" sz="12000" spc="-864">
                <a:solidFill>
                  <a:srgbClr val="000000"/>
                </a:solidFill>
                <a:latin typeface="Open Sauce Medium"/>
                <a:ea typeface="Open Sauce Medium"/>
                <a:cs typeface="Open Sauce Medium"/>
                <a:sym typeface="Open Sauce Medium"/>
              </a:rPr>
              <a:t>Campaign Ads</a:t>
            </a:r>
          </a:p>
        </p:txBody>
      </p:sp>
      <p:sp>
        <p:nvSpPr>
          <p:cNvPr name="Freeform 4" id="4"/>
          <p:cNvSpPr/>
          <p:nvPr/>
        </p:nvSpPr>
        <p:spPr>
          <a:xfrm flipH="false" flipV="false" rot="0">
            <a:off x="-1530074" y="-986168"/>
            <a:ext cx="4940408" cy="4967503"/>
          </a:xfrm>
          <a:custGeom>
            <a:avLst/>
            <a:gdLst/>
            <a:ahLst/>
            <a:cxnLst/>
            <a:rect r="r" b="b" t="t" l="l"/>
            <a:pathLst>
              <a:path h="4967503" w="4940408">
                <a:moveTo>
                  <a:pt x="0" y="0"/>
                </a:moveTo>
                <a:lnTo>
                  <a:pt x="4940408" y="0"/>
                </a:lnTo>
                <a:lnTo>
                  <a:pt x="4940408" y="4967504"/>
                </a:lnTo>
                <a:lnTo>
                  <a:pt x="0" y="496750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3641859">
            <a:off x="15026755" y="-1809037"/>
            <a:ext cx="6736363" cy="6368925"/>
          </a:xfrm>
          <a:custGeom>
            <a:avLst/>
            <a:gdLst/>
            <a:ahLst/>
            <a:cxnLst/>
            <a:rect r="r" b="b" t="t" l="l"/>
            <a:pathLst>
              <a:path h="6368925" w="6736363">
                <a:moveTo>
                  <a:pt x="0" y="0"/>
                </a:moveTo>
                <a:lnTo>
                  <a:pt x="6736363" y="0"/>
                </a:lnTo>
                <a:lnTo>
                  <a:pt x="6736363" y="6368926"/>
                </a:lnTo>
                <a:lnTo>
                  <a:pt x="0" y="636892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4484869" y="3664352"/>
            <a:ext cx="973090" cy="1013636"/>
          </a:xfrm>
          <a:custGeom>
            <a:avLst/>
            <a:gdLst/>
            <a:ahLst/>
            <a:cxnLst/>
            <a:rect r="r" b="b" t="t" l="l"/>
            <a:pathLst>
              <a:path h="1013636" w="973090">
                <a:moveTo>
                  <a:pt x="0" y="0"/>
                </a:moveTo>
                <a:lnTo>
                  <a:pt x="973090" y="0"/>
                </a:lnTo>
                <a:lnTo>
                  <a:pt x="973090" y="1013636"/>
                </a:lnTo>
                <a:lnTo>
                  <a:pt x="0" y="101363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7" id="7"/>
          <p:cNvSpPr txBox="true"/>
          <p:nvPr/>
        </p:nvSpPr>
        <p:spPr>
          <a:xfrm rot="0">
            <a:off x="10109898" y="3905254"/>
            <a:ext cx="4284780" cy="905565"/>
          </a:xfrm>
          <a:prstGeom prst="rect">
            <a:avLst/>
          </a:prstGeom>
        </p:spPr>
        <p:txBody>
          <a:bodyPr anchor="t" rtlCol="false" tIns="0" lIns="0" bIns="0" rIns="0">
            <a:spAutoFit/>
          </a:bodyPr>
          <a:lstStyle/>
          <a:p>
            <a:pPr algn="l" marL="0" indent="0" lvl="0">
              <a:lnSpc>
                <a:spcPts val="7084"/>
              </a:lnSpc>
            </a:pPr>
            <a:r>
              <a:rPr lang="en-US" sz="6214" i="true" spc="-447">
                <a:solidFill>
                  <a:srgbClr val="9D121B"/>
                </a:solidFill>
                <a:latin typeface="Libre Baskerville Italics"/>
                <a:ea typeface="Libre Baskerville Italics"/>
                <a:cs typeface="Libre Baskerville Italics"/>
                <a:sym typeface="Libre Baskerville Italics"/>
              </a:rPr>
              <a:t>By Coca-cola</a:t>
            </a:r>
          </a:p>
        </p:txBody>
      </p:sp>
      <p:sp>
        <p:nvSpPr>
          <p:cNvPr name="TextBox 8" id="8"/>
          <p:cNvSpPr txBox="true"/>
          <p:nvPr/>
        </p:nvSpPr>
        <p:spPr>
          <a:xfrm rot="0">
            <a:off x="644915" y="5544230"/>
            <a:ext cx="4223332" cy="288659"/>
          </a:xfrm>
          <a:prstGeom prst="rect">
            <a:avLst/>
          </a:prstGeom>
        </p:spPr>
        <p:txBody>
          <a:bodyPr anchor="t" rtlCol="false" tIns="0" lIns="0" bIns="0" rIns="0">
            <a:spAutoFit/>
          </a:bodyPr>
          <a:lstStyle/>
          <a:p>
            <a:pPr algn="l">
              <a:lnSpc>
                <a:spcPts val="2304"/>
              </a:lnSpc>
            </a:pPr>
            <a:r>
              <a:rPr lang="en-US" sz="2114" b="true">
                <a:solidFill>
                  <a:srgbClr val="000000"/>
                </a:solidFill>
                <a:latin typeface="Open Sauce Medium"/>
                <a:ea typeface="Open Sauce Medium"/>
                <a:cs typeface="Open Sauce Medium"/>
                <a:sym typeface="Open Sauce Medium"/>
              </a:rPr>
              <a:t>'HOLIDAYS ARE COMING' (1995)</a:t>
            </a:r>
          </a:p>
        </p:txBody>
      </p:sp>
      <p:sp>
        <p:nvSpPr>
          <p:cNvPr name="TextBox 9" id="9"/>
          <p:cNvSpPr txBox="true"/>
          <p:nvPr/>
        </p:nvSpPr>
        <p:spPr>
          <a:xfrm rot="0">
            <a:off x="644915" y="6404848"/>
            <a:ext cx="3393695" cy="288659"/>
          </a:xfrm>
          <a:prstGeom prst="rect">
            <a:avLst/>
          </a:prstGeom>
        </p:spPr>
        <p:txBody>
          <a:bodyPr anchor="t" rtlCol="false" tIns="0" lIns="0" bIns="0" rIns="0">
            <a:spAutoFit/>
          </a:bodyPr>
          <a:lstStyle/>
          <a:p>
            <a:pPr algn="l">
              <a:lnSpc>
                <a:spcPts val="2304"/>
              </a:lnSpc>
            </a:pPr>
            <a:r>
              <a:rPr lang="en-US" sz="2114" b="true">
                <a:solidFill>
                  <a:srgbClr val="000000"/>
                </a:solidFill>
                <a:latin typeface="Open Sauce Medium"/>
                <a:ea typeface="Open Sauce Medium"/>
                <a:cs typeface="Open Sauce Medium"/>
                <a:sym typeface="Open Sauce Medium"/>
              </a:rPr>
              <a:t>THE POLAR BOWL (2012)</a:t>
            </a:r>
          </a:p>
        </p:txBody>
      </p:sp>
      <p:sp>
        <p:nvSpPr>
          <p:cNvPr name="TextBox 10" id="10"/>
          <p:cNvSpPr txBox="true"/>
          <p:nvPr/>
        </p:nvSpPr>
        <p:spPr>
          <a:xfrm rot="0">
            <a:off x="644915" y="7265467"/>
            <a:ext cx="3072544" cy="288659"/>
          </a:xfrm>
          <a:prstGeom prst="rect">
            <a:avLst/>
          </a:prstGeom>
        </p:spPr>
        <p:txBody>
          <a:bodyPr anchor="t" rtlCol="false" tIns="0" lIns="0" bIns="0" rIns="0">
            <a:spAutoFit/>
          </a:bodyPr>
          <a:lstStyle/>
          <a:p>
            <a:pPr algn="l">
              <a:lnSpc>
                <a:spcPts val="2304"/>
              </a:lnSpc>
            </a:pPr>
            <a:r>
              <a:rPr lang="en-US" sz="2114" b="true">
                <a:solidFill>
                  <a:srgbClr val="000000"/>
                </a:solidFill>
                <a:latin typeface="Open Sauce Medium"/>
                <a:ea typeface="Open Sauce Medium"/>
                <a:cs typeface="Open Sauce Medium"/>
                <a:sym typeface="Open Sauce Medium"/>
              </a:rPr>
              <a:t>'UPLIFTED ALEX' (2017)</a:t>
            </a:r>
          </a:p>
        </p:txBody>
      </p:sp>
      <p:sp>
        <p:nvSpPr>
          <p:cNvPr name="TextBox 11" id="11"/>
          <p:cNvSpPr txBox="true"/>
          <p:nvPr/>
        </p:nvSpPr>
        <p:spPr>
          <a:xfrm rot="0">
            <a:off x="644915" y="8101286"/>
            <a:ext cx="3273263" cy="288659"/>
          </a:xfrm>
          <a:prstGeom prst="rect">
            <a:avLst/>
          </a:prstGeom>
        </p:spPr>
        <p:txBody>
          <a:bodyPr anchor="t" rtlCol="false" tIns="0" lIns="0" bIns="0" rIns="0">
            <a:spAutoFit/>
          </a:bodyPr>
          <a:lstStyle/>
          <a:p>
            <a:pPr algn="l">
              <a:lnSpc>
                <a:spcPts val="2304"/>
              </a:lnSpc>
            </a:pPr>
            <a:r>
              <a:rPr lang="en-US" sz="2114" b="true">
                <a:solidFill>
                  <a:srgbClr val="000000"/>
                </a:solidFill>
                <a:latin typeface="Open Sauce Medium"/>
                <a:ea typeface="Open Sauce Medium"/>
                <a:cs typeface="Open Sauce Medium"/>
                <a:sym typeface="Open Sauce Medium"/>
              </a:rPr>
              <a:t>‘COKE FACTORY’ (2006)</a:t>
            </a:r>
          </a:p>
        </p:txBody>
      </p:sp>
      <p:grpSp>
        <p:nvGrpSpPr>
          <p:cNvPr name="Group 12" id="12"/>
          <p:cNvGrpSpPr/>
          <p:nvPr/>
        </p:nvGrpSpPr>
        <p:grpSpPr>
          <a:xfrm rot="-441132">
            <a:off x="223049" y="5481661"/>
            <a:ext cx="385221" cy="385221"/>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8"/>
              <a:stretch>
                <a:fillRect l="0" t="0" r="0" b="0"/>
              </a:stretch>
            </a:blipFill>
            <a:ln w="28575" cap="sq">
              <a:solidFill>
                <a:srgbClr val="000000"/>
              </a:solidFill>
              <a:prstDash val="sysDot"/>
              <a:miter/>
            </a:ln>
          </p:spPr>
        </p:sp>
      </p:grpSp>
      <p:grpSp>
        <p:nvGrpSpPr>
          <p:cNvPr name="Group 14" id="14"/>
          <p:cNvGrpSpPr/>
          <p:nvPr/>
        </p:nvGrpSpPr>
        <p:grpSpPr>
          <a:xfrm rot="-441132">
            <a:off x="223049" y="6342280"/>
            <a:ext cx="385221" cy="385221"/>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8"/>
              <a:stretch>
                <a:fillRect l="0" t="0" r="0" b="0"/>
              </a:stretch>
            </a:blipFill>
            <a:ln w="28575" cap="sq">
              <a:solidFill>
                <a:srgbClr val="000000"/>
              </a:solidFill>
              <a:prstDash val="sysDot"/>
              <a:miter/>
            </a:ln>
          </p:spPr>
        </p:sp>
      </p:grpSp>
      <p:grpSp>
        <p:nvGrpSpPr>
          <p:cNvPr name="Group 16" id="16"/>
          <p:cNvGrpSpPr/>
          <p:nvPr/>
        </p:nvGrpSpPr>
        <p:grpSpPr>
          <a:xfrm rot="-441132">
            <a:off x="223049" y="7202898"/>
            <a:ext cx="385221" cy="385221"/>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8"/>
              <a:stretch>
                <a:fillRect l="0" t="0" r="0" b="0"/>
              </a:stretch>
            </a:blipFill>
            <a:ln w="28575" cap="sq">
              <a:solidFill>
                <a:srgbClr val="000000"/>
              </a:solidFill>
              <a:prstDash val="sysDot"/>
              <a:miter/>
            </a:ln>
          </p:spPr>
        </p:sp>
      </p:grpSp>
      <p:grpSp>
        <p:nvGrpSpPr>
          <p:cNvPr name="Group 18" id="18"/>
          <p:cNvGrpSpPr/>
          <p:nvPr/>
        </p:nvGrpSpPr>
        <p:grpSpPr>
          <a:xfrm rot="-441132">
            <a:off x="223049" y="8038717"/>
            <a:ext cx="385221" cy="385221"/>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8"/>
              <a:stretch>
                <a:fillRect l="0" t="0" r="0" b="0"/>
              </a:stretch>
            </a:blipFill>
            <a:ln w="28575" cap="sq">
              <a:solidFill>
                <a:srgbClr val="000000"/>
              </a:solidFill>
              <a:prstDash val="sysDot"/>
              <a:miter/>
            </a:ln>
          </p:spPr>
        </p:sp>
      </p:grpSp>
      <p:grpSp>
        <p:nvGrpSpPr>
          <p:cNvPr name="Group 20" id="20"/>
          <p:cNvGrpSpPr/>
          <p:nvPr/>
        </p:nvGrpSpPr>
        <p:grpSpPr>
          <a:xfrm rot="-441132">
            <a:off x="223049" y="8899336"/>
            <a:ext cx="385221" cy="385221"/>
            <a:chOff x="0" y="0"/>
            <a:chExt cx="812800" cy="812800"/>
          </a:xfrm>
        </p:grpSpPr>
        <p:sp>
          <p:nvSpPr>
            <p:cNvPr name="Freeform 21" id="2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8"/>
              <a:stretch>
                <a:fillRect l="0" t="0" r="0" b="0"/>
              </a:stretch>
            </a:blipFill>
            <a:ln w="28575" cap="sq">
              <a:solidFill>
                <a:srgbClr val="000000"/>
              </a:solidFill>
              <a:prstDash val="sysDot"/>
              <a:miter/>
            </a:ln>
          </p:spPr>
        </p:sp>
      </p:grpSp>
      <p:sp>
        <p:nvSpPr>
          <p:cNvPr name="TextBox 22" id="22"/>
          <p:cNvSpPr txBox="true"/>
          <p:nvPr/>
        </p:nvSpPr>
        <p:spPr>
          <a:xfrm rot="0">
            <a:off x="644915" y="8961904"/>
            <a:ext cx="4624562" cy="288659"/>
          </a:xfrm>
          <a:prstGeom prst="rect">
            <a:avLst/>
          </a:prstGeom>
        </p:spPr>
        <p:txBody>
          <a:bodyPr anchor="t" rtlCol="false" tIns="0" lIns="0" bIns="0" rIns="0">
            <a:spAutoFit/>
          </a:bodyPr>
          <a:lstStyle/>
          <a:p>
            <a:pPr algn="l">
              <a:lnSpc>
                <a:spcPts val="2304"/>
              </a:lnSpc>
            </a:pPr>
            <a:r>
              <a:rPr lang="en-US" sz="2114" b="true">
                <a:solidFill>
                  <a:srgbClr val="000000"/>
                </a:solidFill>
                <a:latin typeface="Open Sauce Medium"/>
                <a:ea typeface="Open Sauce Medium"/>
                <a:cs typeface="Open Sauce Medium"/>
                <a:sym typeface="Open Sauce Medium"/>
              </a:rPr>
              <a:t>'HISTORY OF CELEBRATION' (2010) </a:t>
            </a:r>
          </a:p>
        </p:txBody>
      </p:sp>
      <p:sp>
        <p:nvSpPr>
          <p:cNvPr name="TextBox 23" id="23"/>
          <p:cNvSpPr txBox="true"/>
          <p:nvPr/>
        </p:nvSpPr>
        <p:spPr>
          <a:xfrm rot="0">
            <a:off x="5283059" y="8870522"/>
            <a:ext cx="12595331" cy="461899"/>
          </a:xfrm>
          <a:prstGeom prst="rect">
            <a:avLst/>
          </a:prstGeom>
        </p:spPr>
        <p:txBody>
          <a:bodyPr anchor="t" rtlCol="false" tIns="0" lIns="0" bIns="0" rIns="0">
            <a:spAutoFit/>
          </a:bodyPr>
          <a:lstStyle/>
          <a:p>
            <a:pPr algn="l">
              <a:lnSpc>
                <a:spcPts val="1853"/>
              </a:lnSpc>
            </a:pPr>
            <a:r>
              <a:rPr lang="en-US" sz="1700">
                <a:solidFill>
                  <a:srgbClr val="000000"/>
                </a:solidFill>
                <a:latin typeface="Open Sauce"/>
                <a:ea typeface="Open Sauce"/>
                <a:cs typeface="Open Sauce"/>
                <a:sym typeface="Open Sauce"/>
              </a:rPr>
              <a:t>- combination of the World Cup track 'Wavin Flag' with footage of footballers after scoring a goal for their national team conveyed the brand's message of unity and friendship. </a:t>
            </a:r>
          </a:p>
        </p:txBody>
      </p:sp>
      <p:sp>
        <p:nvSpPr>
          <p:cNvPr name="TextBox 24" id="24"/>
          <p:cNvSpPr txBox="true"/>
          <p:nvPr/>
        </p:nvSpPr>
        <p:spPr>
          <a:xfrm rot="0">
            <a:off x="3931760" y="8124203"/>
            <a:ext cx="14156256" cy="233299"/>
          </a:xfrm>
          <a:prstGeom prst="rect">
            <a:avLst/>
          </a:prstGeom>
        </p:spPr>
        <p:txBody>
          <a:bodyPr anchor="t" rtlCol="false" tIns="0" lIns="0" bIns="0" rIns="0">
            <a:spAutoFit/>
          </a:bodyPr>
          <a:lstStyle/>
          <a:p>
            <a:pPr algn="l">
              <a:lnSpc>
                <a:spcPts val="1853"/>
              </a:lnSpc>
            </a:pPr>
            <a:r>
              <a:rPr lang="en-US" sz="1700">
                <a:solidFill>
                  <a:srgbClr val="000000"/>
                </a:solidFill>
                <a:latin typeface="Open Sauce"/>
                <a:ea typeface="Open Sauce"/>
                <a:cs typeface="Open Sauce"/>
                <a:sym typeface="Open Sauce"/>
              </a:rPr>
              <a:t> - the brand to explored its more creative side, imagining the inner workings of a vending machine after the consumer's coin is inserted. </a:t>
            </a:r>
          </a:p>
        </p:txBody>
      </p:sp>
      <p:sp>
        <p:nvSpPr>
          <p:cNvPr name="TextBox 25" id="25"/>
          <p:cNvSpPr txBox="true"/>
          <p:nvPr/>
        </p:nvSpPr>
        <p:spPr>
          <a:xfrm rot="0">
            <a:off x="3731041" y="7288384"/>
            <a:ext cx="12043035" cy="233299"/>
          </a:xfrm>
          <a:prstGeom prst="rect">
            <a:avLst/>
          </a:prstGeom>
        </p:spPr>
        <p:txBody>
          <a:bodyPr anchor="t" rtlCol="false" tIns="0" lIns="0" bIns="0" rIns="0">
            <a:spAutoFit/>
          </a:bodyPr>
          <a:lstStyle/>
          <a:p>
            <a:pPr algn="l">
              <a:lnSpc>
                <a:spcPts val="1853"/>
              </a:lnSpc>
            </a:pPr>
            <a:r>
              <a:rPr lang="en-US" sz="1700">
                <a:solidFill>
                  <a:srgbClr val="000000"/>
                </a:solidFill>
                <a:latin typeface="Open Sauce"/>
                <a:ea typeface="Open Sauce"/>
                <a:cs typeface="Open Sauce"/>
                <a:sym typeface="Open Sauce"/>
              </a:rPr>
              <a:t> - this partnership with the Fifa game helped to demonstrate the possibilities of video games as a marketing space.</a:t>
            </a:r>
          </a:p>
        </p:txBody>
      </p:sp>
      <p:sp>
        <p:nvSpPr>
          <p:cNvPr name="TextBox 26" id="26"/>
          <p:cNvSpPr txBox="true"/>
          <p:nvPr/>
        </p:nvSpPr>
        <p:spPr>
          <a:xfrm rot="0">
            <a:off x="4052191" y="6313466"/>
            <a:ext cx="13822630" cy="461899"/>
          </a:xfrm>
          <a:prstGeom prst="rect">
            <a:avLst/>
          </a:prstGeom>
        </p:spPr>
        <p:txBody>
          <a:bodyPr anchor="t" rtlCol="false" tIns="0" lIns="0" bIns="0" rIns="0">
            <a:spAutoFit/>
          </a:bodyPr>
          <a:lstStyle/>
          <a:p>
            <a:pPr algn="l">
              <a:lnSpc>
                <a:spcPts val="1853"/>
              </a:lnSpc>
            </a:pPr>
            <a:r>
              <a:rPr lang="en-US" sz="1700">
                <a:solidFill>
                  <a:srgbClr val="000000"/>
                </a:solidFill>
                <a:latin typeface="Open Sauce"/>
                <a:ea typeface="Open Sauce"/>
                <a:cs typeface="Open Sauce"/>
                <a:sym typeface="Open Sauce"/>
              </a:rPr>
              <a:t> -  this ad focused on a group of polar bears watching the game and taking part in their own version of football. Viewers were also encouraged to visit a website where they could watch the polar bears react and interact with the game in real time.</a:t>
            </a:r>
          </a:p>
        </p:txBody>
      </p:sp>
      <p:sp>
        <p:nvSpPr>
          <p:cNvPr name="TextBox 27" id="27"/>
          <p:cNvSpPr txBox="true"/>
          <p:nvPr/>
        </p:nvSpPr>
        <p:spPr>
          <a:xfrm rot="0">
            <a:off x="4881829" y="5567147"/>
            <a:ext cx="8101161" cy="233299"/>
          </a:xfrm>
          <a:prstGeom prst="rect">
            <a:avLst/>
          </a:prstGeom>
        </p:spPr>
        <p:txBody>
          <a:bodyPr anchor="t" rtlCol="false" tIns="0" lIns="0" bIns="0" rIns="0">
            <a:spAutoFit/>
          </a:bodyPr>
          <a:lstStyle/>
          <a:p>
            <a:pPr algn="l">
              <a:lnSpc>
                <a:spcPts val="1853"/>
              </a:lnSpc>
            </a:pPr>
            <a:r>
              <a:rPr lang="en-US" sz="1700">
                <a:solidFill>
                  <a:srgbClr val="000000"/>
                </a:solidFill>
                <a:latin typeface="Open Sauce"/>
                <a:ea typeface="Open Sauce"/>
                <a:cs typeface="Open Sauce"/>
                <a:sym typeface="Open Sauce"/>
              </a:rPr>
              <a:t> - this ad successfully forged a connection between the brand and Christmas.</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8F6F1"/>
        </a:solidFill>
      </p:bgPr>
    </p:bg>
    <p:spTree>
      <p:nvGrpSpPr>
        <p:cNvPr id="1" name=""/>
        <p:cNvGrpSpPr/>
        <p:nvPr/>
      </p:nvGrpSpPr>
      <p:grpSpPr>
        <a:xfrm>
          <a:off x="0" y="0"/>
          <a:ext cx="0" cy="0"/>
          <a:chOff x="0" y="0"/>
          <a:chExt cx="0" cy="0"/>
        </a:xfrm>
      </p:grpSpPr>
      <p:sp>
        <p:nvSpPr>
          <p:cNvPr name="Freeform 2" id="2"/>
          <p:cNvSpPr/>
          <p:nvPr/>
        </p:nvSpPr>
        <p:spPr>
          <a:xfrm flipH="false" flipV="false" rot="0">
            <a:off x="13311323" y="7254243"/>
            <a:ext cx="6246740" cy="6281000"/>
          </a:xfrm>
          <a:custGeom>
            <a:avLst/>
            <a:gdLst/>
            <a:ahLst/>
            <a:cxnLst/>
            <a:rect r="r" b="b" t="t" l="l"/>
            <a:pathLst>
              <a:path h="6281000" w="6246740">
                <a:moveTo>
                  <a:pt x="0" y="0"/>
                </a:moveTo>
                <a:lnTo>
                  <a:pt x="6246739" y="0"/>
                </a:lnTo>
                <a:lnTo>
                  <a:pt x="6246739" y="6281000"/>
                </a:lnTo>
                <a:lnTo>
                  <a:pt x="0" y="6281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3062665" y="7254243"/>
            <a:ext cx="7365874" cy="7365874"/>
          </a:xfrm>
          <a:custGeom>
            <a:avLst/>
            <a:gdLst/>
            <a:ahLst/>
            <a:cxnLst/>
            <a:rect r="r" b="b" t="t" l="l"/>
            <a:pathLst>
              <a:path h="7365874" w="7365874">
                <a:moveTo>
                  <a:pt x="0" y="0"/>
                </a:moveTo>
                <a:lnTo>
                  <a:pt x="7365875" y="0"/>
                </a:lnTo>
                <a:lnTo>
                  <a:pt x="7365875" y="7365874"/>
                </a:lnTo>
                <a:lnTo>
                  <a:pt x="0" y="736587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2518440" y="-3114742"/>
            <a:ext cx="5968153" cy="6000885"/>
          </a:xfrm>
          <a:custGeom>
            <a:avLst/>
            <a:gdLst/>
            <a:ahLst/>
            <a:cxnLst/>
            <a:rect r="r" b="b" t="t" l="l"/>
            <a:pathLst>
              <a:path h="6000885" w="5968153">
                <a:moveTo>
                  <a:pt x="0" y="0"/>
                </a:moveTo>
                <a:lnTo>
                  <a:pt x="5968153" y="0"/>
                </a:lnTo>
                <a:lnTo>
                  <a:pt x="5968153" y="6000884"/>
                </a:lnTo>
                <a:lnTo>
                  <a:pt x="0" y="600088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3641859">
            <a:off x="14582144" y="-2536717"/>
            <a:ext cx="6736363" cy="6368925"/>
          </a:xfrm>
          <a:custGeom>
            <a:avLst/>
            <a:gdLst/>
            <a:ahLst/>
            <a:cxnLst/>
            <a:rect r="r" b="b" t="t" l="l"/>
            <a:pathLst>
              <a:path h="6368925" w="6736363">
                <a:moveTo>
                  <a:pt x="0" y="0"/>
                </a:moveTo>
                <a:lnTo>
                  <a:pt x="6736363" y="0"/>
                </a:lnTo>
                <a:lnTo>
                  <a:pt x="6736363" y="6368926"/>
                </a:lnTo>
                <a:lnTo>
                  <a:pt x="0" y="636892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8055379" y="1416597"/>
            <a:ext cx="2177241" cy="2484741"/>
          </a:xfrm>
          <a:custGeom>
            <a:avLst/>
            <a:gdLst/>
            <a:ahLst/>
            <a:cxnLst/>
            <a:rect r="r" b="b" t="t" l="l"/>
            <a:pathLst>
              <a:path h="2484741" w="2177241">
                <a:moveTo>
                  <a:pt x="0" y="0"/>
                </a:moveTo>
                <a:lnTo>
                  <a:pt x="2177242" y="0"/>
                </a:lnTo>
                <a:lnTo>
                  <a:pt x="2177242" y="2484741"/>
                </a:lnTo>
                <a:lnTo>
                  <a:pt x="0" y="2484741"/>
                </a:lnTo>
                <a:lnTo>
                  <a:pt x="0" y="0"/>
                </a:lnTo>
                <a:close/>
              </a:path>
            </a:pathLst>
          </a:custGeom>
          <a:blipFill>
            <a:blip r:embed="rId10"/>
            <a:stretch>
              <a:fillRect l="0" t="0" r="0" b="0"/>
            </a:stretch>
          </a:blipFill>
        </p:spPr>
      </p:sp>
      <p:sp>
        <p:nvSpPr>
          <p:cNvPr name="TextBox 7" id="7"/>
          <p:cNvSpPr txBox="true"/>
          <p:nvPr/>
        </p:nvSpPr>
        <p:spPr>
          <a:xfrm rot="0">
            <a:off x="2183643" y="5266488"/>
            <a:ext cx="13920714" cy="972559"/>
          </a:xfrm>
          <a:prstGeom prst="rect">
            <a:avLst/>
          </a:prstGeom>
        </p:spPr>
        <p:txBody>
          <a:bodyPr anchor="t" rtlCol="false" tIns="0" lIns="0" bIns="0" rIns="0">
            <a:spAutoFit/>
          </a:bodyPr>
          <a:lstStyle/>
          <a:p>
            <a:pPr algn="ctr" marL="0" indent="0" lvl="0">
              <a:lnSpc>
                <a:spcPts val="7516"/>
              </a:lnSpc>
            </a:pPr>
            <a:r>
              <a:rPr lang="en-US" sz="6593" i="true" spc="-474">
                <a:solidFill>
                  <a:srgbClr val="F5459F"/>
                </a:solidFill>
                <a:latin typeface="Libre Baskerville Italics"/>
                <a:ea typeface="Libre Baskerville Italics"/>
                <a:cs typeface="Libre Baskerville Italics"/>
                <a:sym typeface="Libre Baskerville Italics"/>
              </a:rPr>
              <a:t>Victoria Secret’s “Perfect Body” Campaign </a:t>
            </a:r>
          </a:p>
        </p:txBody>
      </p:sp>
      <p:sp>
        <p:nvSpPr>
          <p:cNvPr name="TextBox 8" id="8"/>
          <p:cNvSpPr txBox="true"/>
          <p:nvPr/>
        </p:nvSpPr>
        <p:spPr>
          <a:xfrm rot="0">
            <a:off x="1885040" y="3939438"/>
            <a:ext cx="14517920" cy="1175384"/>
          </a:xfrm>
          <a:prstGeom prst="rect">
            <a:avLst/>
          </a:prstGeom>
        </p:spPr>
        <p:txBody>
          <a:bodyPr anchor="t" rtlCol="false" tIns="0" lIns="0" bIns="0" rIns="0">
            <a:spAutoFit/>
          </a:bodyPr>
          <a:lstStyle/>
          <a:p>
            <a:pPr algn="ctr" marL="0" indent="0" lvl="0">
              <a:lnSpc>
                <a:spcPts val="9119"/>
              </a:lnSpc>
            </a:pPr>
            <a:r>
              <a:rPr lang="en-US" b="true" sz="7999" spc="-575">
                <a:solidFill>
                  <a:srgbClr val="000000"/>
                </a:solidFill>
                <a:latin typeface="Open Sauce Bold"/>
                <a:ea typeface="Open Sauce Bold"/>
                <a:cs typeface="Open Sauce Bold"/>
                <a:sym typeface="Open Sauce Bold"/>
              </a:rPr>
              <a:t>Non durable product - Ineffective </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8F6F1"/>
        </a:solidFill>
      </p:bgPr>
    </p:bg>
    <p:spTree>
      <p:nvGrpSpPr>
        <p:cNvPr id="1" name=""/>
        <p:cNvGrpSpPr/>
        <p:nvPr/>
      </p:nvGrpSpPr>
      <p:grpSpPr>
        <a:xfrm>
          <a:off x="0" y="0"/>
          <a:ext cx="0" cy="0"/>
          <a:chOff x="0" y="0"/>
          <a:chExt cx="0" cy="0"/>
        </a:xfrm>
      </p:grpSpPr>
      <p:sp>
        <p:nvSpPr>
          <p:cNvPr name="Freeform 2" id="2"/>
          <p:cNvSpPr/>
          <p:nvPr/>
        </p:nvSpPr>
        <p:spPr>
          <a:xfrm flipH="false" flipV="false" rot="0">
            <a:off x="-4408880" y="633468"/>
            <a:ext cx="9521871" cy="9574094"/>
          </a:xfrm>
          <a:custGeom>
            <a:avLst/>
            <a:gdLst/>
            <a:ahLst/>
            <a:cxnLst/>
            <a:rect r="r" b="b" t="t" l="l"/>
            <a:pathLst>
              <a:path h="9574094" w="9521871">
                <a:moveTo>
                  <a:pt x="0" y="0"/>
                </a:moveTo>
                <a:lnTo>
                  <a:pt x="9521872" y="0"/>
                </a:lnTo>
                <a:lnTo>
                  <a:pt x="9521872" y="9574093"/>
                </a:lnTo>
                <a:lnTo>
                  <a:pt x="0" y="957409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6076944" y="7712713"/>
            <a:ext cx="11182356" cy="826135"/>
          </a:xfrm>
          <a:prstGeom prst="rect">
            <a:avLst/>
          </a:prstGeom>
        </p:spPr>
        <p:txBody>
          <a:bodyPr anchor="t" rtlCol="false" tIns="0" lIns="0" bIns="0" rIns="0">
            <a:spAutoFit/>
          </a:bodyPr>
          <a:lstStyle/>
          <a:p>
            <a:pPr algn="l" marL="0" indent="0" lvl="0">
              <a:lnSpc>
                <a:spcPts val="2239"/>
              </a:lnSpc>
              <a:spcBef>
                <a:spcPct val="0"/>
              </a:spcBef>
            </a:pPr>
            <a:r>
              <a:rPr lang="en-US" sz="1599">
                <a:solidFill>
                  <a:srgbClr val="000000"/>
                </a:solidFill>
                <a:latin typeface="Open Sauce Light"/>
                <a:ea typeface="Open Sauce Light"/>
                <a:cs typeface="Open Sauce Light"/>
                <a:sym typeface="Open Sauce Light"/>
              </a:rPr>
              <a:t>Victoria Secret caused controversy when they used the words “The Perfect Body” in an ad for their Body by Victoria lingerie. Accompanied by the slogan, featured a photo with 10 models, several of which had visible ribs. The ad launched a Change.org petition which sparked a social media outrage.</a:t>
            </a:r>
          </a:p>
        </p:txBody>
      </p:sp>
      <p:sp>
        <p:nvSpPr>
          <p:cNvPr name="TextBox 4" id="4"/>
          <p:cNvSpPr txBox="true"/>
          <p:nvPr/>
        </p:nvSpPr>
        <p:spPr>
          <a:xfrm rot="0">
            <a:off x="6076944" y="7264276"/>
            <a:ext cx="11182356" cy="296037"/>
          </a:xfrm>
          <a:prstGeom prst="rect">
            <a:avLst/>
          </a:prstGeom>
        </p:spPr>
        <p:txBody>
          <a:bodyPr anchor="t" rtlCol="false" tIns="0" lIns="0" bIns="0" rIns="0">
            <a:spAutoFit/>
          </a:bodyPr>
          <a:lstStyle/>
          <a:p>
            <a:pPr algn="l">
              <a:lnSpc>
                <a:spcPts val="2289"/>
              </a:lnSpc>
            </a:pPr>
            <a:r>
              <a:rPr lang="en-US" sz="2100" b="true">
                <a:solidFill>
                  <a:srgbClr val="000000"/>
                </a:solidFill>
                <a:latin typeface="Open Sauce Medium"/>
                <a:ea typeface="Open Sauce Medium"/>
                <a:cs typeface="Open Sauce Medium"/>
                <a:sym typeface="Open Sauce Medium"/>
              </a:rPr>
              <a:t>THE PERFECT BODY AD CAMPAIGN</a:t>
            </a:r>
          </a:p>
        </p:txBody>
      </p:sp>
      <p:sp>
        <p:nvSpPr>
          <p:cNvPr name="TextBox 5" id="5"/>
          <p:cNvSpPr txBox="true"/>
          <p:nvPr/>
        </p:nvSpPr>
        <p:spPr>
          <a:xfrm rot="0">
            <a:off x="6076944" y="719193"/>
            <a:ext cx="11182356" cy="2350770"/>
          </a:xfrm>
          <a:prstGeom prst="rect">
            <a:avLst/>
          </a:prstGeom>
        </p:spPr>
        <p:txBody>
          <a:bodyPr anchor="t" rtlCol="false" tIns="0" lIns="0" bIns="0" rIns="0">
            <a:spAutoFit/>
          </a:bodyPr>
          <a:lstStyle/>
          <a:p>
            <a:pPr algn="l" marL="0" indent="0" lvl="0">
              <a:lnSpc>
                <a:spcPts val="18239"/>
              </a:lnSpc>
              <a:spcBef>
                <a:spcPct val="0"/>
              </a:spcBef>
            </a:pPr>
            <a:r>
              <a:rPr lang="en-US" sz="15999" spc="-1151">
                <a:solidFill>
                  <a:srgbClr val="000000"/>
                </a:solidFill>
                <a:latin typeface="Open Sauce Light"/>
                <a:ea typeface="Open Sauce Light"/>
                <a:cs typeface="Open Sauce Light"/>
                <a:sym typeface="Open Sauce Light"/>
              </a:rPr>
              <a:t>Background</a:t>
            </a:r>
          </a:p>
        </p:txBody>
      </p:sp>
      <p:sp>
        <p:nvSpPr>
          <p:cNvPr name="TextBox 6" id="6"/>
          <p:cNvSpPr txBox="true"/>
          <p:nvPr/>
        </p:nvSpPr>
        <p:spPr>
          <a:xfrm rot="0">
            <a:off x="6076944" y="2792780"/>
            <a:ext cx="11182356" cy="2350770"/>
          </a:xfrm>
          <a:prstGeom prst="rect">
            <a:avLst/>
          </a:prstGeom>
        </p:spPr>
        <p:txBody>
          <a:bodyPr anchor="t" rtlCol="false" tIns="0" lIns="0" bIns="0" rIns="0">
            <a:spAutoFit/>
          </a:bodyPr>
          <a:lstStyle/>
          <a:p>
            <a:pPr algn="l" marL="0" indent="0" lvl="0">
              <a:lnSpc>
                <a:spcPts val="18239"/>
              </a:lnSpc>
              <a:spcBef>
                <a:spcPct val="0"/>
              </a:spcBef>
            </a:pPr>
            <a:r>
              <a:rPr lang="en-US" b="true" sz="15999" spc="-1151">
                <a:solidFill>
                  <a:srgbClr val="F5459F"/>
                </a:solidFill>
                <a:latin typeface="Open Sauce Medium"/>
                <a:ea typeface="Open Sauce Medium"/>
                <a:cs typeface="Open Sauce Medium"/>
                <a:sym typeface="Open Sauce Medium"/>
              </a:rPr>
              <a:t>Information</a:t>
            </a:r>
          </a:p>
        </p:txBody>
      </p:sp>
      <p:sp>
        <p:nvSpPr>
          <p:cNvPr name="TextBox 7" id="7"/>
          <p:cNvSpPr txBox="true"/>
          <p:nvPr/>
        </p:nvSpPr>
        <p:spPr>
          <a:xfrm rot="0">
            <a:off x="6076944" y="5386412"/>
            <a:ext cx="11182356" cy="296037"/>
          </a:xfrm>
          <a:prstGeom prst="rect">
            <a:avLst/>
          </a:prstGeom>
        </p:spPr>
        <p:txBody>
          <a:bodyPr anchor="t" rtlCol="false" tIns="0" lIns="0" bIns="0" rIns="0">
            <a:spAutoFit/>
          </a:bodyPr>
          <a:lstStyle/>
          <a:p>
            <a:pPr algn="l">
              <a:lnSpc>
                <a:spcPts val="2289"/>
              </a:lnSpc>
            </a:pPr>
            <a:r>
              <a:rPr lang="en-US" sz="2100" b="true">
                <a:solidFill>
                  <a:srgbClr val="000000"/>
                </a:solidFill>
                <a:latin typeface="Open Sauce Medium"/>
                <a:ea typeface="Open Sauce Medium"/>
                <a:cs typeface="Open Sauce Medium"/>
                <a:sym typeface="Open Sauce Medium"/>
              </a:rPr>
              <a:t>THE ORIGIN OF VICTORIA SECRET</a:t>
            </a:r>
          </a:p>
        </p:txBody>
      </p:sp>
      <p:sp>
        <p:nvSpPr>
          <p:cNvPr name="TextBox 8" id="8"/>
          <p:cNvSpPr txBox="true"/>
          <p:nvPr/>
        </p:nvSpPr>
        <p:spPr>
          <a:xfrm rot="0">
            <a:off x="6076944" y="5831503"/>
            <a:ext cx="11182356" cy="826135"/>
          </a:xfrm>
          <a:prstGeom prst="rect">
            <a:avLst/>
          </a:prstGeom>
        </p:spPr>
        <p:txBody>
          <a:bodyPr anchor="t" rtlCol="false" tIns="0" lIns="0" bIns="0" rIns="0">
            <a:spAutoFit/>
          </a:bodyPr>
          <a:lstStyle/>
          <a:p>
            <a:pPr algn="l" marL="0" indent="0" lvl="0">
              <a:lnSpc>
                <a:spcPts val="2239"/>
              </a:lnSpc>
              <a:spcBef>
                <a:spcPct val="0"/>
              </a:spcBef>
            </a:pPr>
            <a:r>
              <a:rPr lang="en-US" sz="1599">
                <a:solidFill>
                  <a:srgbClr val="000000"/>
                </a:solidFill>
                <a:latin typeface="Open Sauce Light"/>
                <a:ea typeface="Open Sauce Light"/>
                <a:cs typeface="Open Sauce Light"/>
                <a:sym typeface="Open Sauce Light"/>
              </a:rPr>
              <a:t>Victoria’s Secret was founded in 1977 by Roy Raymond, who was an American businessman. His decision to create Victoria Secret was inspired by his uncomfortable experience at a department store to buy underwear for his wife. He then set out to create a place where men would feel very comfortable shopping for lingerie.</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8F6F1"/>
        </a:solidFill>
      </p:bgPr>
    </p:bg>
    <p:spTree>
      <p:nvGrpSpPr>
        <p:cNvPr id="1" name=""/>
        <p:cNvGrpSpPr/>
        <p:nvPr/>
      </p:nvGrpSpPr>
      <p:grpSpPr>
        <a:xfrm>
          <a:off x="0" y="0"/>
          <a:ext cx="0" cy="0"/>
          <a:chOff x="0" y="0"/>
          <a:chExt cx="0" cy="0"/>
        </a:xfrm>
      </p:grpSpPr>
      <p:sp>
        <p:nvSpPr>
          <p:cNvPr name="Freeform 2" id="2"/>
          <p:cNvSpPr/>
          <p:nvPr/>
        </p:nvSpPr>
        <p:spPr>
          <a:xfrm flipH="false" flipV="false" rot="0">
            <a:off x="4244491" y="3142626"/>
            <a:ext cx="9799017" cy="7144374"/>
          </a:xfrm>
          <a:custGeom>
            <a:avLst/>
            <a:gdLst/>
            <a:ahLst/>
            <a:cxnLst/>
            <a:rect r="r" b="b" t="t" l="l"/>
            <a:pathLst>
              <a:path h="7144374" w="9799017">
                <a:moveTo>
                  <a:pt x="0" y="0"/>
                </a:moveTo>
                <a:lnTo>
                  <a:pt x="9799018" y="0"/>
                </a:lnTo>
                <a:lnTo>
                  <a:pt x="9799018" y="7144374"/>
                </a:lnTo>
                <a:lnTo>
                  <a:pt x="0" y="714437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532484" y="4058980"/>
            <a:ext cx="7223031" cy="3669300"/>
          </a:xfrm>
          <a:custGeom>
            <a:avLst/>
            <a:gdLst/>
            <a:ahLst/>
            <a:cxnLst/>
            <a:rect r="r" b="b" t="t" l="l"/>
            <a:pathLst>
              <a:path h="3669300" w="7223031">
                <a:moveTo>
                  <a:pt x="0" y="0"/>
                </a:moveTo>
                <a:lnTo>
                  <a:pt x="7223032" y="0"/>
                </a:lnTo>
                <a:lnTo>
                  <a:pt x="7223032" y="3669300"/>
                </a:lnTo>
                <a:lnTo>
                  <a:pt x="0" y="3669300"/>
                </a:lnTo>
                <a:lnTo>
                  <a:pt x="0" y="0"/>
                </a:lnTo>
                <a:close/>
              </a:path>
            </a:pathLst>
          </a:custGeom>
          <a:blipFill>
            <a:blip r:embed="rId4"/>
            <a:stretch>
              <a:fillRect l="0" t="0" r="0" b="0"/>
            </a:stretch>
          </a:blipFill>
        </p:spPr>
      </p:sp>
      <p:sp>
        <p:nvSpPr>
          <p:cNvPr name="TextBox 4" id="4"/>
          <p:cNvSpPr txBox="true"/>
          <p:nvPr/>
        </p:nvSpPr>
        <p:spPr>
          <a:xfrm rot="0">
            <a:off x="3889860" y="311604"/>
            <a:ext cx="10508279" cy="1678306"/>
          </a:xfrm>
          <a:prstGeom prst="rect">
            <a:avLst/>
          </a:prstGeom>
        </p:spPr>
        <p:txBody>
          <a:bodyPr anchor="t" rtlCol="false" tIns="0" lIns="0" bIns="0" rIns="0">
            <a:spAutoFit/>
          </a:bodyPr>
          <a:lstStyle/>
          <a:p>
            <a:pPr algn="ctr" marL="0" indent="0" lvl="0">
              <a:lnSpc>
                <a:spcPts val="13110"/>
              </a:lnSpc>
              <a:spcBef>
                <a:spcPct val="0"/>
              </a:spcBef>
            </a:pPr>
            <a:r>
              <a:rPr lang="en-US" sz="11500" spc="-828">
                <a:solidFill>
                  <a:srgbClr val="000000"/>
                </a:solidFill>
                <a:latin typeface="Open Sauce Light"/>
                <a:ea typeface="Open Sauce Light"/>
                <a:cs typeface="Open Sauce Light"/>
                <a:sym typeface="Open Sauce Light"/>
              </a:rPr>
              <a:t>The Perfect Body</a:t>
            </a:r>
          </a:p>
        </p:txBody>
      </p:sp>
      <p:sp>
        <p:nvSpPr>
          <p:cNvPr name="TextBox 5" id="5"/>
          <p:cNvSpPr txBox="true"/>
          <p:nvPr/>
        </p:nvSpPr>
        <p:spPr>
          <a:xfrm rot="0">
            <a:off x="4571794" y="1809602"/>
            <a:ext cx="9144413" cy="1135762"/>
          </a:xfrm>
          <a:prstGeom prst="rect">
            <a:avLst/>
          </a:prstGeom>
        </p:spPr>
        <p:txBody>
          <a:bodyPr anchor="t" rtlCol="false" tIns="0" lIns="0" bIns="0" rIns="0">
            <a:spAutoFit/>
          </a:bodyPr>
          <a:lstStyle/>
          <a:p>
            <a:pPr algn="ctr" marL="0" indent="0" lvl="0">
              <a:lnSpc>
                <a:spcPts val="8892"/>
              </a:lnSpc>
              <a:spcBef>
                <a:spcPct val="0"/>
              </a:spcBef>
            </a:pPr>
            <a:r>
              <a:rPr lang="en-US" sz="7800" i="true" spc="-561">
                <a:solidFill>
                  <a:srgbClr val="F5459F"/>
                </a:solidFill>
                <a:latin typeface="Libre Baskerville Italics"/>
                <a:ea typeface="Libre Baskerville Italics"/>
                <a:cs typeface="Libre Baskerville Italics"/>
                <a:sym typeface="Libre Baskerville Italics"/>
              </a:rPr>
              <a:t> Campaign</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8F6F1"/>
        </a:solidFill>
      </p:bgPr>
    </p:bg>
    <p:spTree>
      <p:nvGrpSpPr>
        <p:cNvPr id="1" name=""/>
        <p:cNvGrpSpPr/>
        <p:nvPr/>
      </p:nvGrpSpPr>
      <p:grpSpPr>
        <a:xfrm>
          <a:off x="0" y="0"/>
          <a:ext cx="0" cy="0"/>
          <a:chOff x="0" y="0"/>
          <a:chExt cx="0" cy="0"/>
        </a:xfrm>
      </p:grpSpPr>
      <p:sp>
        <p:nvSpPr>
          <p:cNvPr name="Freeform 2" id="2"/>
          <p:cNvSpPr/>
          <p:nvPr/>
        </p:nvSpPr>
        <p:spPr>
          <a:xfrm flipH="false" flipV="false" rot="0">
            <a:off x="-112013" y="6919387"/>
            <a:ext cx="3733622" cy="3733622"/>
          </a:xfrm>
          <a:custGeom>
            <a:avLst/>
            <a:gdLst/>
            <a:ahLst/>
            <a:cxnLst/>
            <a:rect r="r" b="b" t="t" l="l"/>
            <a:pathLst>
              <a:path h="3733622" w="3733622">
                <a:moveTo>
                  <a:pt x="0" y="0"/>
                </a:moveTo>
                <a:lnTo>
                  <a:pt x="3733622" y="0"/>
                </a:lnTo>
                <a:lnTo>
                  <a:pt x="3733622" y="3733622"/>
                </a:lnTo>
                <a:lnTo>
                  <a:pt x="0" y="373362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34053" y="444731"/>
            <a:ext cx="8137414" cy="1366266"/>
          </a:xfrm>
          <a:prstGeom prst="rect">
            <a:avLst/>
          </a:prstGeom>
        </p:spPr>
        <p:txBody>
          <a:bodyPr anchor="t" rtlCol="false" tIns="0" lIns="0" bIns="0" rIns="0">
            <a:spAutoFit/>
          </a:bodyPr>
          <a:lstStyle/>
          <a:p>
            <a:pPr algn="ctr" marL="0" indent="0" lvl="0">
              <a:lnSpc>
                <a:spcPts val="10602"/>
              </a:lnSpc>
              <a:spcBef>
                <a:spcPct val="0"/>
              </a:spcBef>
            </a:pPr>
            <a:r>
              <a:rPr lang="en-US" b="true" sz="9300" spc="-669">
                <a:solidFill>
                  <a:srgbClr val="F5459F"/>
                </a:solidFill>
                <a:latin typeface="Open Sauce Bold"/>
                <a:ea typeface="Open Sauce Bold"/>
                <a:cs typeface="Open Sauce Bold"/>
                <a:sym typeface="Open Sauce Bold"/>
              </a:rPr>
              <a:t>Media</a:t>
            </a:r>
            <a:r>
              <a:rPr lang="en-US" sz="9300" spc="-669">
                <a:solidFill>
                  <a:srgbClr val="000000"/>
                </a:solidFill>
                <a:latin typeface="Open Sauce Light"/>
                <a:ea typeface="Open Sauce Light"/>
                <a:cs typeface="Open Sauce Light"/>
                <a:sym typeface="Open Sauce Light"/>
              </a:rPr>
              <a:t> </a:t>
            </a:r>
            <a:r>
              <a:rPr lang="en-US" b="true" sz="9300" spc="-669">
                <a:solidFill>
                  <a:srgbClr val="000000"/>
                </a:solidFill>
                <a:latin typeface="Open Sauce Bold"/>
                <a:ea typeface="Open Sauce Bold"/>
                <a:cs typeface="Open Sauce Bold"/>
                <a:sym typeface="Open Sauce Bold"/>
              </a:rPr>
              <a:t>Strategy</a:t>
            </a:r>
          </a:p>
        </p:txBody>
      </p:sp>
      <p:sp>
        <p:nvSpPr>
          <p:cNvPr name="TextBox 4" id="4"/>
          <p:cNvSpPr txBox="true"/>
          <p:nvPr/>
        </p:nvSpPr>
        <p:spPr>
          <a:xfrm rot="0">
            <a:off x="8756236" y="5698123"/>
            <a:ext cx="9365263" cy="1426791"/>
          </a:xfrm>
          <a:prstGeom prst="rect">
            <a:avLst/>
          </a:prstGeom>
        </p:spPr>
        <p:txBody>
          <a:bodyPr anchor="t" rtlCol="false" tIns="0" lIns="0" bIns="0" rIns="0">
            <a:spAutoFit/>
          </a:bodyPr>
          <a:lstStyle/>
          <a:p>
            <a:pPr algn="ctr" marL="0" indent="0" lvl="0">
              <a:lnSpc>
                <a:spcPts val="11106"/>
              </a:lnSpc>
              <a:spcBef>
                <a:spcPct val="0"/>
              </a:spcBef>
            </a:pPr>
            <a:r>
              <a:rPr lang="en-US" b="true" sz="9742" spc="-701">
                <a:solidFill>
                  <a:srgbClr val="000000"/>
                </a:solidFill>
                <a:latin typeface="Open Sauce Medium"/>
                <a:ea typeface="Open Sauce Medium"/>
                <a:cs typeface="Open Sauce Medium"/>
                <a:sym typeface="Open Sauce Medium"/>
              </a:rPr>
              <a:t>Target </a:t>
            </a:r>
            <a:r>
              <a:rPr lang="en-US" b="true" sz="9742" spc="-701">
                <a:solidFill>
                  <a:srgbClr val="F5459F"/>
                </a:solidFill>
                <a:latin typeface="Open Sauce Medium"/>
                <a:ea typeface="Open Sauce Medium"/>
                <a:cs typeface="Open Sauce Medium"/>
                <a:sym typeface="Open Sauce Medium"/>
              </a:rPr>
              <a:t>Audience</a:t>
            </a:r>
          </a:p>
        </p:txBody>
      </p:sp>
      <p:sp>
        <p:nvSpPr>
          <p:cNvPr name="TextBox 5" id="5"/>
          <p:cNvSpPr txBox="true"/>
          <p:nvPr/>
        </p:nvSpPr>
        <p:spPr>
          <a:xfrm rot="0">
            <a:off x="641366" y="2709902"/>
            <a:ext cx="4236433" cy="296037"/>
          </a:xfrm>
          <a:prstGeom prst="rect">
            <a:avLst/>
          </a:prstGeom>
        </p:spPr>
        <p:txBody>
          <a:bodyPr anchor="t" rtlCol="false" tIns="0" lIns="0" bIns="0" rIns="0">
            <a:spAutoFit/>
          </a:bodyPr>
          <a:lstStyle/>
          <a:p>
            <a:pPr algn="l">
              <a:lnSpc>
                <a:spcPts val="2289"/>
              </a:lnSpc>
            </a:pPr>
            <a:r>
              <a:rPr lang="en-US" sz="2100" b="true">
                <a:solidFill>
                  <a:srgbClr val="000000"/>
                </a:solidFill>
                <a:latin typeface="Open Sauce Medium"/>
                <a:ea typeface="Open Sauce Medium"/>
                <a:cs typeface="Open Sauce Medium"/>
                <a:sym typeface="Open Sauce Medium"/>
              </a:rPr>
              <a:t>SOCIAL MEDIA ENGAGEMENT</a:t>
            </a:r>
          </a:p>
        </p:txBody>
      </p:sp>
      <p:sp>
        <p:nvSpPr>
          <p:cNvPr name="TextBox 6" id="6"/>
          <p:cNvSpPr txBox="true"/>
          <p:nvPr/>
        </p:nvSpPr>
        <p:spPr>
          <a:xfrm rot="0">
            <a:off x="641366" y="3633605"/>
            <a:ext cx="4236433" cy="296037"/>
          </a:xfrm>
          <a:prstGeom prst="rect">
            <a:avLst/>
          </a:prstGeom>
        </p:spPr>
        <p:txBody>
          <a:bodyPr anchor="t" rtlCol="false" tIns="0" lIns="0" bIns="0" rIns="0">
            <a:spAutoFit/>
          </a:bodyPr>
          <a:lstStyle/>
          <a:p>
            <a:pPr algn="l">
              <a:lnSpc>
                <a:spcPts val="2289"/>
              </a:lnSpc>
            </a:pPr>
            <a:r>
              <a:rPr lang="en-US" sz="2100" b="true">
                <a:solidFill>
                  <a:srgbClr val="000000"/>
                </a:solidFill>
                <a:latin typeface="Open Sauce Medium"/>
                <a:ea typeface="Open Sauce Medium"/>
                <a:cs typeface="Open Sauce Medium"/>
                <a:sym typeface="Open Sauce Medium"/>
              </a:rPr>
              <a:t>PUBLIC RELATIONS</a:t>
            </a:r>
          </a:p>
        </p:txBody>
      </p:sp>
      <p:sp>
        <p:nvSpPr>
          <p:cNvPr name="TextBox 7" id="7"/>
          <p:cNvSpPr txBox="true"/>
          <p:nvPr/>
        </p:nvSpPr>
        <p:spPr>
          <a:xfrm rot="0">
            <a:off x="641366" y="4501142"/>
            <a:ext cx="4525323" cy="296037"/>
          </a:xfrm>
          <a:prstGeom prst="rect">
            <a:avLst/>
          </a:prstGeom>
        </p:spPr>
        <p:txBody>
          <a:bodyPr anchor="t" rtlCol="false" tIns="0" lIns="0" bIns="0" rIns="0">
            <a:spAutoFit/>
          </a:bodyPr>
          <a:lstStyle/>
          <a:p>
            <a:pPr algn="l">
              <a:lnSpc>
                <a:spcPts val="2289"/>
              </a:lnSpc>
            </a:pPr>
            <a:r>
              <a:rPr lang="en-US" sz="2100" b="true">
                <a:solidFill>
                  <a:srgbClr val="000000"/>
                </a:solidFill>
                <a:latin typeface="Open Sauce Medium"/>
                <a:ea typeface="Open Sauce Medium"/>
                <a:cs typeface="Open Sauce Medium"/>
                <a:sym typeface="Open Sauce Medium"/>
              </a:rPr>
              <a:t>INTERACTIVE DIGITAL CAMPAIGN</a:t>
            </a:r>
          </a:p>
        </p:txBody>
      </p:sp>
      <p:sp>
        <p:nvSpPr>
          <p:cNvPr name="TextBox 8" id="8"/>
          <p:cNvSpPr txBox="true"/>
          <p:nvPr/>
        </p:nvSpPr>
        <p:spPr>
          <a:xfrm rot="0">
            <a:off x="3974189" y="7658314"/>
            <a:ext cx="14921608" cy="296037"/>
          </a:xfrm>
          <a:prstGeom prst="rect">
            <a:avLst/>
          </a:prstGeom>
        </p:spPr>
        <p:txBody>
          <a:bodyPr anchor="t" rtlCol="false" tIns="0" lIns="0" bIns="0" rIns="0">
            <a:spAutoFit/>
          </a:bodyPr>
          <a:lstStyle/>
          <a:p>
            <a:pPr algn="l">
              <a:lnSpc>
                <a:spcPts val="2289"/>
              </a:lnSpc>
            </a:pPr>
            <a:r>
              <a:rPr lang="en-US" sz="2100" b="true">
                <a:solidFill>
                  <a:srgbClr val="000000"/>
                </a:solidFill>
                <a:latin typeface="Open Sauce Bold"/>
                <a:ea typeface="Open Sauce Bold"/>
                <a:cs typeface="Open Sauce Bold"/>
                <a:sym typeface="Open Sauce Bold"/>
              </a:rPr>
              <a:t>THE PRIMARY TARGET AUDIENCE OF THIS CAMPAIGN WAS WOMEN OF ALL SIZES</a:t>
            </a:r>
          </a:p>
        </p:txBody>
      </p:sp>
      <p:sp>
        <p:nvSpPr>
          <p:cNvPr name="TextBox 9" id="9"/>
          <p:cNvSpPr txBox="true"/>
          <p:nvPr/>
        </p:nvSpPr>
        <p:spPr>
          <a:xfrm rot="0">
            <a:off x="3967297" y="8259151"/>
            <a:ext cx="11983820" cy="296037"/>
          </a:xfrm>
          <a:prstGeom prst="rect">
            <a:avLst/>
          </a:prstGeom>
        </p:spPr>
        <p:txBody>
          <a:bodyPr anchor="t" rtlCol="false" tIns="0" lIns="0" bIns="0" rIns="0">
            <a:spAutoFit/>
          </a:bodyPr>
          <a:lstStyle/>
          <a:p>
            <a:pPr algn="l">
              <a:lnSpc>
                <a:spcPts val="2289"/>
              </a:lnSpc>
            </a:pPr>
            <a:r>
              <a:rPr lang="en-US" sz="2100" b="true">
                <a:solidFill>
                  <a:srgbClr val="000000"/>
                </a:solidFill>
                <a:latin typeface="Open Sauce Bold"/>
                <a:ea typeface="Open Sauce Bold"/>
                <a:cs typeface="Open Sauce Bold"/>
                <a:sym typeface="Open Sauce Bold"/>
              </a:rPr>
              <a:t>THE SECONDARY TARGET AUDIENCE OF THE CAMPAIGN WAS YOUNG-ADULT WOMEN</a:t>
            </a:r>
          </a:p>
        </p:txBody>
      </p:sp>
      <p:sp>
        <p:nvSpPr>
          <p:cNvPr name="TextBox 10" id="10"/>
          <p:cNvSpPr txBox="true"/>
          <p:nvPr/>
        </p:nvSpPr>
        <p:spPr>
          <a:xfrm rot="0">
            <a:off x="4586265" y="2762257"/>
            <a:ext cx="11631077" cy="222377"/>
          </a:xfrm>
          <a:prstGeom prst="rect">
            <a:avLst/>
          </a:prstGeom>
        </p:spPr>
        <p:txBody>
          <a:bodyPr anchor="t" rtlCol="false" tIns="0" lIns="0" bIns="0" rIns="0">
            <a:spAutoFit/>
          </a:bodyPr>
          <a:lstStyle/>
          <a:p>
            <a:pPr algn="l" marL="345443" indent="-172721" lvl="1">
              <a:lnSpc>
                <a:spcPts val="1744"/>
              </a:lnSpc>
              <a:buFont typeface="Arial"/>
              <a:buChar char="•"/>
            </a:pPr>
            <a:r>
              <a:rPr lang="en-US" b="true" sz="1600" i="true">
                <a:solidFill>
                  <a:srgbClr val="000000"/>
                </a:solidFill>
                <a:latin typeface="Open Sauce Bold Italics"/>
                <a:ea typeface="Open Sauce Bold Italics"/>
                <a:cs typeface="Open Sauce Bold Italics"/>
                <a:sym typeface="Open Sauce Bold Italics"/>
              </a:rPr>
              <a:t>The ad was supposed to be inspiring for women, however it did not turn out that way</a:t>
            </a:r>
          </a:p>
        </p:txBody>
      </p:sp>
      <p:sp>
        <p:nvSpPr>
          <p:cNvPr name="TextBox 11" id="11"/>
          <p:cNvSpPr txBox="true"/>
          <p:nvPr/>
        </p:nvSpPr>
        <p:spPr>
          <a:xfrm rot="0">
            <a:off x="3312390" y="3652272"/>
            <a:ext cx="11498170" cy="222377"/>
          </a:xfrm>
          <a:prstGeom prst="rect">
            <a:avLst/>
          </a:prstGeom>
        </p:spPr>
        <p:txBody>
          <a:bodyPr anchor="t" rtlCol="false" tIns="0" lIns="0" bIns="0" rIns="0">
            <a:spAutoFit/>
          </a:bodyPr>
          <a:lstStyle/>
          <a:p>
            <a:pPr algn="l" marL="345443" indent="-172721" lvl="1">
              <a:lnSpc>
                <a:spcPts val="1744"/>
              </a:lnSpc>
              <a:buFont typeface="Arial"/>
              <a:buChar char="•"/>
            </a:pPr>
            <a:r>
              <a:rPr lang="en-US" b="true" sz="1600" i="true">
                <a:solidFill>
                  <a:srgbClr val="000000"/>
                </a:solidFill>
                <a:latin typeface="Open Sauce Bold Italics"/>
                <a:ea typeface="Open Sauce Bold Italics"/>
                <a:cs typeface="Open Sauce Bold Italics"/>
                <a:sym typeface="Open Sauce Bold Italics"/>
              </a:rPr>
              <a:t>Their goal was to partner with the outside media but when the ad did not go as plan media outlets declined</a:t>
            </a:r>
          </a:p>
        </p:txBody>
      </p:sp>
      <p:sp>
        <p:nvSpPr>
          <p:cNvPr name="TextBox 12" id="12"/>
          <p:cNvSpPr txBox="true"/>
          <p:nvPr/>
        </p:nvSpPr>
        <p:spPr>
          <a:xfrm rot="0">
            <a:off x="5048749" y="4537972"/>
            <a:ext cx="13072751" cy="222377"/>
          </a:xfrm>
          <a:prstGeom prst="rect">
            <a:avLst/>
          </a:prstGeom>
        </p:spPr>
        <p:txBody>
          <a:bodyPr anchor="t" rtlCol="false" tIns="0" lIns="0" bIns="0" rIns="0">
            <a:spAutoFit/>
          </a:bodyPr>
          <a:lstStyle/>
          <a:p>
            <a:pPr algn="l" marL="345443" indent="-172721" lvl="1">
              <a:lnSpc>
                <a:spcPts val="1744"/>
              </a:lnSpc>
              <a:buFont typeface="Arial"/>
              <a:buChar char="•"/>
            </a:pPr>
            <a:r>
              <a:rPr lang="en-US" b="true" sz="1600" i="true">
                <a:solidFill>
                  <a:srgbClr val="000000"/>
                </a:solidFill>
                <a:latin typeface="Open Sauce Bold Italics"/>
                <a:ea typeface="Open Sauce Bold Italics"/>
                <a:cs typeface="Open Sauce Bold Italics"/>
                <a:sym typeface="Open Sauce Bold Italics"/>
              </a:rPr>
              <a:t>Their website would be the landing page for the Perfect Body campaign which would drive buyers to the campaign.</a:t>
            </a:r>
          </a:p>
        </p:txBody>
      </p:sp>
      <p:sp>
        <p:nvSpPr>
          <p:cNvPr name="Freeform 13" id="13"/>
          <p:cNvSpPr/>
          <p:nvPr/>
        </p:nvSpPr>
        <p:spPr>
          <a:xfrm flipH="false" flipV="false" rot="0">
            <a:off x="208253" y="2633750"/>
            <a:ext cx="376163" cy="429290"/>
          </a:xfrm>
          <a:custGeom>
            <a:avLst/>
            <a:gdLst/>
            <a:ahLst/>
            <a:cxnLst/>
            <a:rect r="r" b="b" t="t" l="l"/>
            <a:pathLst>
              <a:path h="429290" w="376163">
                <a:moveTo>
                  <a:pt x="0" y="0"/>
                </a:moveTo>
                <a:lnTo>
                  <a:pt x="376163" y="0"/>
                </a:lnTo>
                <a:lnTo>
                  <a:pt x="376163" y="429291"/>
                </a:lnTo>
                <a:lnTo>
                  <a:pt x="0" y="429291"/>
                </a:lnTo>
                <a:lnTo>
                  <a:pt x="0" y="0"/>
                </a:lnTo>
                <a:close/>
              </a:path>
            </a:pathLst>
          </a:custGeom>
          <a:blipFill>
            <a:blip r:embed="rId4"/>
            <a:stretch>
              <a:fillRect l="0" t="0" r="0" b="0"/>
            </a:stretch>
          </a:blipFill>
        </p:spPr>
      </p:sp>
      <p:sp>
        <p:nvSpPr>
          <p:cNvPr name="Freeform 14" id="14"/>
          <p:cNvSpPr/>
          <p:nvPr/>
        </p:nvSpPr>
        <p:spPr>
          <a:xfrm flipH="false" flipV="false" rot="0">
            <a:off x="208253" y="3539291"/>
            <a:ext cx="376163" cy="429290"/>
          </a:xfrm>
          <a:custGeom>
            <a:avLst/>
            <a:gdLst/>
            <a:ahLst/>
            <a:cxnLst/>
            <a:rect r="r" b="b" t="t" l="l"/>
            <a:pathLst>
              <a:path h="429290" w="376163">
                <a:moveTo>
                  <a:pt x="0" y="0"/>
                </a:moveTo>
                <a:lnTo>
                  <a:pt x="376163" y="0"/>
                </a:lnTo>
                <a:lnTo>
                  <a:pt x="376163" y="429290"/>
                </a:lnTo>
                <a:lnTo>
                  <a:pt x="0" y="429290"/>
                </a:lnTo>
                <a:lnTo>
                  <a:pt x="0" y="0"/>
                </a:lnTo>
                <a:close/>
              </a:path>
            </a:pathLst>
          </a:custGeom>
          <a:blipFill>
            <a:blip r:embed="rId4"/>
            <a:stretch>
              <a:fillRect l="0" t="0" r="0" b="0"/>
            </a:stretch>
          </a:blipFill>
        </p:spPr>
      </p:sp>
      <p:sp>
        <p:nvSpPr>
          <p:cNvPr name="Freeform 15" id="15"/>
          <p:cNvSpPr/>
          <p:nvPr/>
        </p:nvSpPr>
        <p:spPr>
          <a:xfrm flipH="false" flipV="false" rot="0">
            <a:off x="208253" y="4388929"/>
            <a:ext cx="376163" cy="429290"/>
          </a:xfrm>
          <a:custGeom>
            <a:avLst/>
            <a:gdLst/>
            <a:ahLst/>
            <a:cxnLst/>
            <a:rect r="r" b="b" t="t" l="l"/>
            <a:pathLst>
              <a:path h="429290" w="376163">
                <a:moveTo>
                  <a:pt x="0" y="0"/>
                </a:moveTo>
                <a:lnTo>
                  <a:pt x="376163" y="0"/>
                </a:lnTo>
                <a:lnTo>
                  <a:pt x="376163" y="429291"/>
                </a:lnTo>
                <a:lnTo>
                  <a:pt x="0" y="429291"/>
                </a:lnTo>
                <a:lnTo>
                  <a:pt x="0" y="0"/>
                </a:lnTo>
                <a:close/>
              </a:path>
            </a:pathLst>
          </a:custGeom>
          <a:blipFill>
            <a:blip r:embed="rId4"/>
            <a:stretch>
              <a:fillRect l="0" t="0" r="0" b="0"/>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8F6F1"/>
        </a:solidFill>
      </p:bgPr>
    </p:bg>
    <p:spTree>
      <p:nvGrpSpPr>
        <p:cNvPr id="1" name=""/>
        <p:cNvGrpSpPr/>
        <p:nvPr/>
      </p:nvGrpSpPr>
      <p:grpSpPr>
        <a:xfrm>
          <a:off x="0" y="0"/>
          <a:ext cx="0" cy="0"/>
          <a:chOff x="0" y="0"/>
          <a:chExt cx="0" cy="0"/>
        </a:xfrm>
      </p:grpSpPr>
      <p:sp>
        <p:nvSpPr>
          <p:cNvPr name="TextBox 2" id="2"/>
          <p:cNvSpPr txBox="true"/>
          <p:nvPr/>
        </p:nvSpPr>
        <p:spPr>
          <a:xfrm rot="0">
            <a:off x="8277143" y="2569845"/>
            <a:ext cx="7990603" cy="2049780"/>
          </a:xfrm>
          <a:prstGeom prst="rect">
            <a:avLst/>
          </a:prstGeom>
        </p:spPr>
        <p:txBody>
          <a:bodyPr anchor="t" rtlCol="false" tIns="0" lIns="0" bIns="0" rIns="0">
            <a:spAutoFit/>
          </a:bodyPr>
          <a:lstStyle/>
          <a:p>
            <a:pPr algn="ctr" marL="0" indent="0" lvl="0">
              <a:lnSpc>
                <a:spcPts val="15960"/>
              </a:lnSpc>
              <a:spcBef>
                <a:spcPct val="0"/>
              </a:spcBef>
            </a:pPr>
            <a:r>
              <a:rPr lang="en-US" sz="14000" i="true" spc="-1008">
                <a:solidFill>
                  <a:srgbClr val="F5459F"/>
                </a:solidFill>
                <a:latin typeface="Libre Baskerville Italics"/>
                <a:ea typeface="Libre Baskerville Italics"/>
                <a:cs typeface="Libre Baskerville Italics"/>
                <a:sym typeface="Libre Baskerville Italics"/>
              </a:rPr>
              <a:t>Ineffective?</a:t>
            </a:r>
          </a:p>
        </p:txBody>
      </p:sp>
      <p:sp>
        <p:nvSpPr>
          <p:cNvPr name="Freeform 3" id="3"/>
          <p:cNvSpPr/>
          <p:nvPr/>
        </p:nvSpPr>
        <p:spPr>
          <a:xfrm flipH="false" flipV="false" rot="0">
            <a:off x="908789" y="1883613"/>
            <a:ext cx="3125670" cy="7863321"/>
          </a:xfrm>
          <a:custGeom>
            <a:avLst/>
            <a:gdLst/>
            <a:ahLst/>
            <a:cxnLst/>
            <a:rect r="r" b="b" t="t" l="l"/>
            <a:pathLst>
              <a:path h="7863321" w="3125670">
                <a:moveTo>
                  <a:pt x="0" y="0"/>
                </a:moveTo>
                <a:lnTo>
                  <a:pt x="3125670" y="0"/>
                </a:lnTo>
                <a:lnTo>
                  <a:pt x="3125670" y="7863321"/>
                </a:lnTo>
                <a:lnTo>
                  <a:pt x="0" y="78633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8522028" y="85725"/>
            <a:ext cx="7500833" cy="2350770"/>
          </a:xfrm>
          <a:prstGeom prst="rect">
            <a:avLst/>
          </a:prstGeom>
        </p:spPr>
        <p:txBody>
          <a:bodyPr anchor="t" rtlCol="false" tIns="0" lIns="0" bIns="0" rIns="0">
            <a:spAutoFit/>
          </a:bodyPr>
          <a:lstStyle/>
          <a:p>
            <a:pPr algn="ctr" marL="0" indent="0" lvl="0">
              <a:lnSpc>
                <a:spcPts val="18239"/>
              </a:lnSpc>
              <a:spcBef>
                <a:spcPct val="0"/>
              </a:spcBef>
            </a:pPr>
            <a:r>
              <a:rPr lang="en-US" b="true" sz="15999" spc="-1151">
                <a:solidFill>
                  <a:srgbClr val="000000"/>
                </a:solidFill>
                <a:latin typeface="Open Sauce Bold"/>
                <a:ea typeface="Open Sauce Bold"/>
                <a:cs typeface="Open Sauce Bold"/>
                <a:sym typeface="Open Sauce Bold"/>
              </a:rPr>
              <a:t>Why is it</a:t>
            </a:r>
          </a:p>
        </p:txBody>
      </p:sp>
      <p:sp>
        <p:nvSpPr>
          <p:cNvPr name="TextBox 5" id="5"/>
          <p:cNvSpPr txBox="true"/>
          <p:nvPr/>
        </p:nvSpPr>
        <p:spPr>
          <a:xfrm rot="0">
            <a:off x="5508799" y="5682241"/>
            <a:ext cx="10405278" cy="285115"/>
          </a:xfrm>
          <a:prstGeom prst="rect">
            <a:avLst/>
          </a:prstGeom>
        </p:spPr>
        <p:txBody>
          <a:bodyPr anchor="t" rtlCol="false" tIns="0" lIns="0" bIns="0" rIns="0">
            <a:spAutoFit/>
          </a:bodyPr>
          <a:lstStyle/>
          <a:p>
            <a:pPr algn="just">
              <a:lnSpc>
                <a:spcPts val="2180"/>
              </a:lnSpc>
            </a:pPr>
            <a:r>
              <a:rPr lang="en-US" b="true" sz="2000">
                <a:solidFill>
                  <a:srgbClr val="000000"/>
                </a:solidFill>
                <a:latin typeface="Open Sauce Bold"/>
                <a:ea typeface="Open Sauce Bold"/>
                <a:cs typeface="Open Sauce Bold"/>
                <a:sym typeface="Open Sauce Bold"/>
              </a:rPr>
              <a:t>THE MESSAGE WAS INSENSITIVE AND RUBBED PEOPLE THE WRONG WAY</a:t>
            </a:r>
          </a:p>
        </p:txBody>
      </p:sp>
      <p:sp>
        <p:nvSpPr>
          <p:cNvPr name="TextBox 6" id="6"/>
          <p:cNvSpPr txBox="true"/>
          <p:nvPr/>
        </p:nvSpPr>
        <p:spPr>
          <a:xfrm rot="0">
            <a:off x="5508799" y="6278219"/>
            <a:ext cx="12276783" cy="561340"/>
          </a:xfrm>
          <a:prstGeom prst="rect">
            <a:avLst/>
          </a:prstGeom>
        </p:spPr>
        <p:txBody>
          <a:bodyPr anchor="t" rtlCol="false" tIns="0" lIns="0" bIns="0" rIns="0">
            <a:spAutoFit/>
          </a:bodyPr>
          <a:lstStyle/>
          <a:p>
            <a:pPr algn="just">
              <a:lnSpc>
                <a:spcPts val="2180"/>
              </a:lnSpc>
            </a:pPr>
            <a:r>
              <a:rPr lang="en-US" b="true" sz="2000">
                <a:solidFill>
                  <a:srgbClr val="000000"/>
                </a:solidFill>
                <a:latin typeface="Open Sauce Bold"/>
                <a:ea typeface="Open Sauce Bold"/>
                <a:cs typeface="Open Sauce Bold"/>
                <a:sym typeface="Open Sauce Bold"/>
              </a:rPr>
              <a:t>THE TIMING OF THE AD CAME AT A BAD TIME AS DIVERSITY &amp; INCLUSION WERE HUGE IN THE FASHION INDUSTRY</a:t>
            </a:r>
          </a:p>
        </p:txBody>
      </p:sp>
      <p:sp>
        <p:nvSpPr>
          <p:cNvPr name="TextBox 7" id="7"/>
          <p:cNvSpPr txBox="true"/>
          <p:nvPr/>
        </p:nvSpPr>
        <p:spPr>
          <a:xfrm rot="0">
            <a:off x="5508799" y="7281967"/>
            <a:ext cx="12276783" cy="285115"/>
          </a:xfrm>
          <a:prstGeom prst="rect">
            <a:avLst/>
          </a:prstGeom>
        </p:spPr>
        <p:txBody>
          <a:bodyPr anchor="t" rtlCol="false" tIns="0" lIns="0" bIns="0" rIns="0">
            <a:spAutoFit/>
          </a:bodyPr>
          <a:lstStyle/>
          <a:p>
            <a:pPr algn="just">
              <a:lnSpc>
                <a:spcPts val="2180"/>
              </a:lnSpc>
              <a:spcBef>
                <a:spcPct val="0"/>
              </a:spcBef>
            </a:pPr>
            <a:r>
              <a:rPr lang="en-US" b="true" sz="2000">
                <a:solidFill>
                  <a:srgbClr val="000000"/>
                </a:solidFill>
                <a:latin typeface="Open Sauce Bold"/>
                <a:ea typeface="Open Sauce Bold"/>
                <a:cs typeface="Open Sauce Bold"/>
                <a:sym typeface="Open Sauce Bold"/>
              </a:rPr>
              <a:t>THEY RECIEVED A LOT OF CRITICISM BECAUSE EVERYONE WAS OFFENDED, RIGHTFULLY SO</a:t>
            </a:r>
          </a:p>
        </p:txBody>
      </p:sp>
      <p:sp>
        <p:nvSpPr>
          <p:cNvPr name="TextBox 8" id="8"/>
          <p:cNvSpPr txBox="true"/>
          <p:nvPr/>
        </p:nvSpPr>
        <p:spPr>
          <a:xfrm rot="0">
            <a:off x="5508799" y="8116470"/>
            <a:ext cx="12514078" cy="285115"/>
          </a:xfrm>
          <a:prstGeom prst="rect">
            <a:avLst/>
          </a:prstGeom>
        </p:spPr>
        <p:txBody>
          <a:bodyPr anchor="t" rtlCol="false" tIns="0" lIns="0" bIns="0" rIns="0">
            <a:spAutoFit/>
          </a:bodyPr>
          <a:lstStyle/>
          <a:p>
            <a:pPr algn="just">
              <a:lnSpc>
                <a:spcPts val="2180"/>
              </a:lnSpc>
              <a:spcBef>
                <a:spcPct val="0"/>
              </a:spcBef>
            </a:pPr>
            <a:r>
              <a:rPr lang="en-US" b="true" sz="2000">
                <a:solidFill>
                  <a:srgbClr val="000000"/>
                </a:solidFill>
                <a:latin typeface="Open Sauce Bold"/>
                <a:ea typeface="Open Sauce Bold"/>
                <a:cs typeface="Open Sauce Bold"/>
                <a:sym typeface="Open Sauce Bold"/>
              </a:rPr>
              <a:t>THEY HAD A MISSED OPPORTUNITY TO ENCOURAGE WOMEN EMPOWERMENT</a:t>
            </a:r>
          </a:p>
        </p:txBody>
      </p:sp>
      <p:sp>
        <p:nvSpPr>
          <p:cNvPr name="TextBox 9" id="9"/>
          <p:cNvSpPr txBox="true"/>
          <p:nvPr/>
        </p:nvSpPr>
        <p:spPr>
          <a:xfrm rot="0">
            <a:off x="5508799" y="9007666"/>
            <a:ext cx="12514078" cy="561340"/>
          </a:xfrm>
          <a:prstGeom prst="rect">
            <a:avLst/>
          </a:prstGeom>
        </p:spPr>
        <p:txBody>
          <a:bodyPr anchor="t" rtlCol="false" tIns="0" lIns="0" bIns="0" rIns="0">
            <a:spAutoFit/>
          </a:bodyPr>
          <a:lstStyle/>
          <a:p>
            <a:pPr algn="just">
              <a:lnSpc>
                <a:spcPts val="2180"/>
              </a:lnSpc>
              <a:spcBef>
                <a:spcPct val="0"/>
              </a:spcBef>
            </a:pPr>
            <a:r>
              <a:rPr lang="en-US" b="true" sz="2000">
                <a:solidFill>
                  <a:srgbClr val="000000"/>
                </a:solidFill>
                <a:latin typeface="Open Sauce Bold"/>
                <a:ea typeface="Open Sauce Bold"/>
                <a:cs typeface="Open Sauce Bold"/>
                <a:sym typeface="Open Sauce Bold"/>
              </a:rPr>
              <a:t>THE CAMPAIGN WAS CRITICIZED FOR LACKING AUTHENTICITY. BUYERS WANT BRANDS AND COMPANIES TO BE VERY AUTHENTIC</a:t>
            </a:r>
          </a:p>
        </p:txBody>
      </p:sp>
      <p:sp>
        <p:nvSpPr>
          <p:cNvPr name="TextBox 10" id="10"/>
          <p:cNvSpPr txBox="true"/>
          <p:nvPr/>
        </p:nvSpPr>
        <p:spPr>
          <a:xfrm rot="0">
            <a:off x="5508799" y="4950226"/>
            <a:ext cx="8598166" cy="285115"/>
          </a:xfrm>
          <a:prstGeom prst="rect">
            <a:avLst/>
          </a:prstGeom>
        </p:spPr>
        <p:txBody>
          <a:bodyPr anchor="t" rtlCol="false" tIns="0" lIns="0" bIns="0" rIns="0">
            <a:spAutoFit/>
          </a:bodyPr>
          <a:lstStyle/>
          <a:p>
            <a:pPr algn="just">
              <a:lnSpc>
                <a:spcPts val="2180"/>
              </a:lnSpc>
              <a:spcBef>
                <a:spcPct val="0"/>
              </a:spcBef>
            </a:pPr>
            <a:r>
              <a:rPr lang="en-US" b="true" sz="2000">
                <a:solidFill>
                  <a:srgbClr val="000000"/>
                </a:solidFill>
                <a:latin typeface="Open Sauce Bold"/>
                <a:ea typeface="Open Sauce Bold"/>
                <a:cs typeface="Open Sauce Bold"/>
                <a:sym typeface="Open Sauce Bold"/>
              </a:rPr>
              <a:t>THE CAMPAIGN LACKED DIVERSITY IN SIZING OF WOMEN</a:t>
            </a:r>
          </a:p>
        </p:txBody>
      </p:sp>
      <p:sp>
        <p:nvSpPr>
          <p:cNvPr name="Freeform 11" id="11"/>
          <p:cNvSpPr/>
          <p:nvPr/>
        </p:nvSpPr>
        <p:spPr>
          <a:xfrm flipH="false" flipV="false" rot="0">
            <a:off x="4927984" y="4868613"/>
            <a:ext cx="376163" cy="429290"/>
          </a:xfrm>
          <a:custGeom>
            <a:avLst/>
            <a:gdLst/>
            <a:ahLst/>
            <a:cxnLst/>
            <a:rect r="r" b="b" t="t" l="l"/>
            <a:pathLst>
              <a:path h="429290" w="376163">
                <a:moveTo>
                  <a:pt x="0" y="0"/>
                </a:moveTo>
                <a:lnTo>
                  <a:pt x="376163" y="0"/>
                </a:lnTo>
                <a:lnTo>
                  <a:pt x="376163" y="429291"/>
                </a:lnTo>
                <a:lnTo>
                  <a:pt x="0" y="429291"/>
                </a:lnTo>
                <a:lnTo>
                  <a:pt x="0" y="0"/>
                </a:lnTo>
                <a:close/>
              </a:path>
            </a:pathLst>
          </a:custGeom>
          <a:blipFill>
            <a:blip r:embed="rId4"/>
            <a:stretch>
              <a:fillRect l="0" t="0" r="0" b="0"/>
            </a:stretch>
          </a:blipFill>
        </p:spPr>
      </p:sp>
      <p:sp>
        <p:nvSpPr>
          <p:cNvPr name="Freeform 12" id="12"/>
          <p:cNvSpPr/>
          <p:nvPr/>
        </p:nvSpPr>
        <p:spPr>
          <a:xfrm flipH="false" flipV="false" rot="0">
            <a:off x="4927984" y="5600628"/>
            <a:ext cx="376163" cy="429290"/>
          </a:xfrm>
          <a:custGeom>
            <a:avLst/>
            <a:gdLst/>
            <a:ahLst/>
            <a:cxnLst/>
            <a:rect r="r" b="b" t="t" l="l"/>
            <a:pathLst>
              <a:path h="429290" w="376163">
                <a:moveTo>
                  <a:pt x="0" y="0"/>
                </a:moveTo>
                <a:lnTo>
                  <a:pt x="376163" y="0"/>
                </a:lnTo>
                <a:lnTo>
                  <a:pt x="376163" y="429291"/>
                </a:lnTo>
                <a:lnTo>
                  <a:pt x="0" y="429291"/>
                </a:lnTo>
                <a:lnTo>
                  <a:pt x="0" y="0"/>
                </a:lnTo>
                <a:close/>
              </a:path>
            </a:pathLst>
          </a:custGeom>
          <a:blipFill>
            <a:blip r:embed="rId4"/>
            <a:stretch>
              <a:fillRect l="0" t="0" r="0" b="0"/>
            </a:stretch>
          </a:blipFill>
        </p:spPr>
      </p:sp>
      <p:sp>
        <p:nvSpPr>
          <p:cNvPr name="Freeform 13" id="13"/>
          <p:cNvSpPr/>
          <p:nvPr/>
        </p:nvSpPr>
        <p:spPr>
          <a:xfrm flipH="false" flipV="false" rot="0">
            <a:off x="4927984" y="6334719"/>
            <a:ext cx="376163" cy="429290"/>
          </a:xfrm>
          <a:custGeom>
            <a:avLst/>
            <a:gdLst/>
            <a:ahLst/>
            <a:cxnLst/>
            <a:rect r="r" b="b" t="t" l="l"/>
            <a:pathLst>
              <a:path h="429290" w="376163">
                <a:moveTo>
                  <a:pt x="0" y="0"/>
                </a:moveTo>
                <a:lnTo>
                  <a:pt x="376163" y="0"/>
                </a:lnTo>
                <a:lnTo>
                  <a:pt x="376163" y="429290"/>
                </a:lnTo>
                <a:lnTo>
                  <a:pt x="0" y="429290"/>
                </a:lnTo>
                <a:lnTo>
                  <a:pt x="0" y="0"/>
                </a:lnTo>
                <a:close/>
              </a:path>
            </a:pathLst>
          </a:custGeom>
          <a:blipFill>
            <a:blip r:embed="rId4"/>
            <a:stretch>
              <a:fillRect l="0" t="0" r="0" b="0"/>
            </a:stretch>
          </a:blipFill>
        </p:spPr>
      </p:sp>
      <p:sp>
        <p:nvSpPr>
          <p:cNvPr name="Freeform 14" id="14"/>
          <p:cNvSpPr/>
          <p:nvPr/>
        </p:nvSpPr>
        <p:spPr>
          <a:xfrm flipH="false" flipV="false" rot="0">
            <a:off x="4927984" y="7137792"/>
            <a:ext cx="376163" cy="429290"/>
          </a:xfrm>
          <a:custGeom>
            <a:avLst/>
            <a:gdLst/>
            <a:ahLst/>
            <a:cxnLst/>
            <a:rect r="r" b="b" t="t" l="l"/>
            <a:pathLst>
              <a:path h="429290" w="376163">
                <a:moveTo>
                  <a:pt x="0" y="0"/>
                </a:moveTo>
                <a:lnTo>
                  <a:pt x="376163" y="0"/>
                </a:lnTo>
                <a:lnTo>
                  <a:pt x="376163" y="429290"/>
                </a:lnTo>
                <a:lnTo>
                  <a:pt x="0" y="429290"/>
                </a:lnTo>
                <a:lnTo>
                  <a:pt x="0" y="0"/>
                </a:lnTo>
                <a:close/>
              </a:path>
            </a:pathLst>
          </a:custGeom>
          <a:blipFill>
            <a:blip r:embed="rId4"/>
            <a:stretch>
              <a:fillRect l="0" t="0" r="0" b="0"/>
            </a:stretch>
          </a:blipFill>
        </p:spPr>
      </p:sp>
      <p:sp>
        <p:nvSpPr>
          <p:cNvPr name="Freeform 15" id="15"/>
          <p:cNvSpPr/>
          <p:nvPr/>
        </p:nvSpPr>
        <p:spPr>
          <a:xfrm flipH="false" flipV="false" rot="0">
            <a:off x="4927984" y="8034857"/>
            <a:ext cx="376163" cy="429290"/>
          </a:xfrm>
          <a:custGeom>
            <a:avLst/>
            <a:gdLst/>
            <a:ahLst/>
            <a:cxnLst/>
            <a:rect r="r" b="b" t="t" l="l"/>
            <a:pathLst>
              <a:path h="429290" w="376163">
                <a:moveTo>
                  <a:pt x="0" y="0"/>
                </a:moveTo>
                <a:lnTo>
                  <a:pt x="376163" y="0"/>
                </a:lnTo>
                <a:lnTo>
                  <a:pt x="376163" y="429290"/>
                </a:lnTo>
                <a:lnTo>
                  <a:pt x="0" y="429290"/>
                </a:lnTo>
                <a:lnTo>
                  <a:pt x="0" y="0"/>
                </a:lnTo>
                <a:close/>
              </a:path>
            </a:pathLst>
          </a:custGeom>
          <a:blipFill>
            <a:blip r:embed="rId4"/>
            <a:stretch>
              <a:fillRect l="0" t="0" r="0" b="0"/>
            </a:stretch>
          </a:blipFill>
        </p:spPr>
      </p:sp>
      <p:sp>
        <p:nvSpPr>
          <p:cNvPr name="Freeform 16" id="16"/>
          <p:cNvSpPr/>
          <p:nvPr/>
        </p:nvSpPr>
        <p:spPr>
          <a:xfrm flipH="false" flipV="false" rot="0">
            <a:off x="4927984" y="9064166"/>
            <a:ext cx="376163" cy="429290"/>
          </a:xfrm>
          <a:custGeom>
            <a:avLst/>
            <a:gdLst/>
            <a:ahLst/>
            <a:cxnLst/>
            <a:rect r="r" b="b" t="t" l="l"/>
            <a:pathLst>
              <a:path h="429290" w="376163">
                <a:moveTo>
                  <a:pt x="0" y="0"/>
                </a:moveTo>
                <a:lnTo>
                  <a:pt x="376163" y="0"/>
                </a:lnTo>
                <a:lnTo>
                  <a:pt x="376163" y="429290"/>
                </a:lnTo>
                <a:lnTo>
                  <a:pt x="0" y="429290"/>
                </a:lnTo>
                <a:lnTo>
                  <a:pt x="0" y="0"/>
                </a:lnTo>
                <a:close/>
              </a:path>
            </a:pathLst>
          </a:custGeom>
          <a:blipFill>
            <a:blip r:embed="rId4"/>
            <a:stretch>
              <a:fillRect l="0" t="0" r="0" b="0"/>
            </a:stretch>
          </a:blipFill>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8F6F1"/>
        </a:solidFill>
      </p:bgPr>
    </p:bg>
    <p:spTree>
      <p:nvGrpSpPr>
        <p:cNvPr id="1" name=""/>
        <p:cNvGrpSpPr/>
        <p:nvPr/>
      </p:nvGrpSpPr>
      <p:grpSpPr>
        <a:xfrm>
          <a:off x="0" y="0"/>
          <a:ext cx="0" cy="0"/>
          <a:chOff x="0" y="0"/>
          <a:chExt cx="0" cy="0"/>
        </a:xfrm>
      </p:grpSpPr>
      <p:sp>
        <p:nvSpPr>
          <p:cNvPr name="TextBox 2" id="2"/>
          <p:cNvSpPr txBox="true"/>
          <p:nvPr/>
        </p:nvSpPr>
        <p:spPr>
          <a:xfrm rot="0">
            <a:off x="6639747" y="276242"/>
            <a:ext cx="4126045" cy="1908810"/>
          </a:xfrm>
          <a:prstGeom prst="rect">
            <a:avLst/>
          </a:prstGeom>
        </p:spPr>
        <p:txBody>
          <a:bodyPr anchor="t" rtlCol="false" tIns="0" lIns="0" bIns="0" rIns="0">
            <a:spAutoFit/>
          </a:bodyPr>
          <a:lstStyle/>
          <a:p>
            <a:pPr algn="ctr" marL="0" indent="0" lvl="0">
              <a:lnSpc>
                <a:spcPts val="14819"/>
              </a:lnSpc>
              <a:spcBef>
                <a:spcPct val="0"/>
              </a:spcBef>
            </a:pPr>
            <a:r>
              <a:rPr lang="en-US" sz="12999" spc="-935">
                <a:solidFill>
                  <a:srgbClr val="000000"/>
                </a:solidFill>
                <a:latin typeface="Open Sauce Light"/>
                <a:ea typeface="Open Sauce Light"/>
                <a:cs typeface="Open Sauce Light"/>
                <a:sym typeface="Open Sauce Light"/>
              </a:rPr>
              <a:t>Other</a:t>
            </a:r>
          </a:p>
        </p:txBody>
      </p:sp>
      <p:sp>
        <p:nvSpPr>
          <p:cNvPr name="TextBox 3" id="3"/>
          <p:cNvSpPr txBox="true"/>
          <p:nvPr/>
        </p:nvSpPr>
        <p:spPr>
          <a:xfrm rot="0">
            <a:off x="3893323" y="1980513"/>
            <a:ext cx="10229853" cy="1758315"/>
          </a:xfrm>
          <a:prstGeom prst="rect">
            <a:avLst/>
          </a:prstGeom>
        </p:spPr>
        <p:txBody>
          <a:bodyPr anchor="t" rtlCol="false" tIns="0" lIns="0" bIns="0" rIns="0">
            <a:spAutoFit/>
          </a:bodyPr>
          <a:lstStyle/>
          <a:p>
            <a:pPr algn="ctr" marL="0" indent="0" lvl="0">
              <a:lnSpc>
                <a:spcPts val="13679"/>
              </a:lnSpc>
              <a:spcBef>
                <a:spcPct val="0"/>
              </a:spcBef>
            </a:pPr>
            <a:r>
              <a:rPr lang="en-US" b="true" sz="12000" spc="-864">
                <a:solidFill>
                  <a:srgbClr val="000000"/>
                </a:solidFill>
                <a:latin typeface="Open Sauce Medium"/>
                <a:ea typeface="Open Sauce Medium"/>
                <a:cs typeface="Open Sauce Medium"/>
                <a:sym typeface="Open Sauce Medium"/>
              </a:rPr>
              <a:t>Campaign Ads</a:t>
            </a:r>
          </a:p>
        </p:txBody>
      </p:sp>
      <p:sp>
        <p:nvSpPr>
          <p:cNvPr name="Freeform 4" id="4"/>
          <p:cNvSpPr/>
          <p:nvPr/>
        </p:nvSpPr>
        <p:spPr>
          <a:xfrm flipH="false" flipV="false" rot="0">
            <a:off x="-1530074" y="-986168"/>
            <a:ext cx="4940408" cy="4967503"/>
          </a:xfrm>
          <a:custGeom>
            <a:avLst/>
            <a:gdLst/>
            <a:ahLst/>
            <a:cxnLst/>
            <a:rect r="r" b="b" t="t" l="l"/>
            <a:pathLst>
              <a:path h="4967503" w="4940408">
                <a:moveTo>
                  <a:pt x="0" y="0"/>
                </a:moveTo>
                <a:lnTo>
                  <a:pt x="4940408" y="0"/>
                </a:lnTo>
                <a:lnTo>
                  <a:pt x="4940408" y="4967504"/>
                </a:lnTo>
                <a:lnTo>
                  <a:pt x="0" y="496750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3641859">
            <a:off x="15026755" y="-1809037"/>
            <a:ext cx="6736363" cy="6368925"/>
          </a:xfrm>
          <a:custGeom>
            <a:avLst/>
            <a:gdLst/>
            <a:ahLst/>
            <a:cxnLst/>
            <a:rect r="r" b="b" t="t" l="l"/>
            <a:pathLst>
              <a:path h="6368925" w="6736363">
                <a:moveTo>
                  <a:pt x="0" y="0"/>
                </a:moveTo>
                <a:lnTo>
                  <a:pt x="6736363" y="0"/>
                </a:lnTo>
                <a:lnTo>
                  <a:pt x="6736363" y="6368926"/>
                </a:lnTo>
                <a:lnTo>
                  <a:pt x="0" y="636892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6" id="6"/>
          <p:cNvSpPr txBox="true"/>
          <p:nvPr/>
        </p:nvSpPr>
        <p:spPr>
          <a:xfrm rot="0">
            <a:off x="6311911" y="4019436"/>
            <a:ext cx="5664178" cy="904605"/>
          </a:xfrm>
          <a:prstGeom prst="rect">
            <a:avLst/>
          </a:prstGeom>
        </p:spPr>
        <p:txBody>
          <a:bodyPr anchor="t" rtlCol="false" tIns="0" lIns="0" bIns="0" rIns="0">
            <a:spAutoFit/>
          </a:bodyPr>
          <a:lstStyle/>
          <a:p>
            <a:pPr algn="ctr" marL="0" indent="0" lvl="0">
              <a:lnSpc>
                <a:spcPts val="7084"/>
              </a:lnSpc>
            </a:pPr>
            <a:r>
              <a:rPr lang="en-US" sz="6214" i="true" spc="-447">
                <a:solidFill>
                  <a:srgbClr val="F5459F"/>
                </a:solidFill>
                <a:latin typeface="Libre Baskerville Italics"/>
                <a:ea typeface="Libre Baskerville Italics"/>
                <a:cs typeface="Libre Baskerville Italics"/>
                <a:sym typeface="Libre Baskerville Italics"/>
              </a:rPr>
              <a:t>By Victoria Secret</a:t>
            </a:r>
          </a:p>
        </p:txBody>
      </p:sp>
      <p:sp>
        <p:nvSpPr>
          <p:cNvPr name="TextBox 7" id="7"/>
          <p:cNvSpPr txBox="true"/>
          <p:nvPr/>
        </p:nvSpPr>
        <p:spPr>
          <a:xfrm rot="0">
            <a:off x="934632" y="5671969"/>
            <a:ext cx="4793347" cy="286712"/>
          </a:xfrm>
          <a:prstGeom prst="rect">
            <a:avLst/>
          </a:prstGeom>
        </p:spPr>
        <p:txBody>
          <a:bodyPr anchor="t" rtlCol="false" tIns="0" lIns="0" bIns="0" rIns="0">
            <a:spAutoFit/>
          </a:bodyPr>
          <a:lstStyle/>
          <a:p>
            <a:pPr algn="l">
              <a:lnSpc>
                <a:spcPts val="2304"/>
              </a:lnSpc>
            </a:pPr>
            <a:r>
              <a:rPr lang="en-US" sz="2114" b="true">
                <a:solidFill>
                  <a:srgbClr val="000000"/>
                </a:solidFill>
                <a:latin typeface="Open Sauce Bold"/>
                <a:ea typeface="Open Sauce Bold"/>
                <a:cs typeface="Open Sauce Bold"/>
                <a:sym typeface="Open Sauce Bold"/>
              </a:rPr>
              <a:t>VICTORIA SECRET FASHION SHOW</a:t>
            </a:r>
          </a:p>
        </p:txBody>
      </p:sp>
      <p:sp>
        <p:nvSpPr>
          <p:cNvPr name="TextBox 8" id="8"/>
          <p:cNvSpPr txBox="true"/>
          <p:nvPr/>
        </p:nvSpPr>
        <p:spPr>
          <a:xfrm rot="0">
            <a:off x="934632" y="6532587"/>
            <a:ext cx="3393695" cy="286712"/>
          </a:xfrm>
          <a:prstGeom prst="rect">
            <a:avLst/>
          </a:prstGeom>
        </p:spPr>
        <p:txBody>
          <a:bodyPr anchor="t" rtlCol="false" tIns="0" lIns="0" bIns="0" rIns="0">
            <a:spAutoFit/>
          </a:bodyPr>
          <a:lstStyle/>
          <a:p>
            <a:pPr algn="l">
              <a:lnSpc>
                <a:spcPts val="2304"/>
              </a:lnSpc>
            </a:pPr>
            <a:r>
              <a:rPr lang="en-US" sz="2114" b="true">
                <a:solidFill>
                  <a:srgbClr val="000000"/>
                </a:solidFill>
                <a:latin typeface="Open Sauce Bold"/>
                <a:ea typeface="Open Sauce Bold"/>
                <a:cs typeface="Open Sauce Bold"/>
                <a:sym typeface="Open Sauce Bold"/>
              </a:rPr>
              <a:t>BODY BY VICTORIA</a:t>
            </a:r>
          </a:p>
        </p:txBody>
      </p:sp>
      <p:sp>
        <p:nvSpPr>
          <p:cNvPr name="TextBox 9" id="9"/>
          <p:cNvSpPr txBox="true"/>
          <p:nvPr/>
        </p:nvSpPr>
        <p:spPr>
          <a:xfrm rot="0">
            <a:off x="934632" y="7393206"/>
            <a:ext cx="3072544" cy="286712"/>
          </a:xfrm>
          <a:prstGeom prst="rect">
            <a:avLst/>
          </a:prstGeom>
        </p:spPr>
        <p:txBody>
          <a:bodyPr anchor="t" rtlCol="false" tIns="0" lIns="0" bIns="0" rIns="0">
            <a:spAutoFit/>
          </a:bodyPr>
          <a:lstStyle/>
          <a:p>
            <a:pPr algn="l">
              <a:lnSpc>
                <a:spcPts val="2304"/>
              </a:lnSpc>
            </a:pPr>
            <a:r>
              <a:rPr lang="en-US" sz="2114" b="true">
                <a:solidFill>
                  <a:srgbClr val="000000"/>
                </a:solidFill>
                <a:latin typeface="Open Sauce Bold"/>
                <a:ea typeface="Open Sauce Bold"/>
                <a:cs typeface="Open Sauce Bold"/>
                <a:sym typeface="Open Sauce Bold"/>
              </a:rPr>
              <a:t>ANGELS CAMPAIGN</a:t>
            </a:r>
          </a:p>
        </p:txBody>
      </p:sp>
      <p:sp>
        <p:nvSpPr>
          <p:cNvPr name="TextBox 10" id="10"/>
          <p:cNvSpPr txBox="true"/>
          <p:nvPr/>
        </p:nvSpPr>
        <p:spPr>
          <a:xfrm rot="0">
            <a:off x="934632" y="8229025"/>
            <a:ext cx="5994832" cy="286712"/>
          </a:xfrm>
          <a:prstGeom prst="rect">
            <a:avLst/>
          </a:prstGeom>
        </p:spPr>
        <p:txBody>
          <a:bodyPr anchor="t" rtlCol="false" tIns="0" lIns="0" bIns="0" rIns="0">
            <a:spAutoFit/>
          </a:bodyPr>
          <a:lstStyle/>
          <a:p>
            <a:pPr algn="l">
              <a:lnSpc>
                <a:spcPts val="2304"/>
              </a:lnSpc>
            </a:pPr>
            <a:r>
              <a:rPr lang="en-US" sz="2114" b="true">
                <a:solidFill>
                  <a:srgbClr val="000000"/>
                </a:solidFill>
                <a:latin typeface="Open Sauce Bold"/>
                <a:ea typeface="Open Sauce Bold"/>
                <a:cs typeface="Open Sauce Bold"/>
                <a:sym typeface="Open Sauce Bold"/>
              </a:rPr>
              <a:t>BODY BY VICTORIA FRAGRANCE CAMPAIGN</a:t>
            </a:r>
          </a:p>
        </p:txBody>
      </p:sp>
      <p:sp>
        <p:nvSpPr>
          <p:cNvPr name="TextBox 11" id="11"/>
          <p:cNvSpPr txBox="true"/>
          <p:nvPr/>
        </p:nvSpPr>
        <p:spPr>
          <a:xfrm rot="0">
            <a:off x="934632" y="9089643"/>
            <a:ext cx="4624562" cy="286712"/>
          </a:xfrm>
          <a:prstGeom prst="rect">
            <a:avLst/>
          </a:prstGeom>
        </p:spPr>
        <p:txBody>
          <a:bodyPr anchor="t" rtlCol="false" tIns="0" lIns="0" bIns="0" rIns="0">
            <a:spAutoFit/>
          </a:bodyPr>
          <a:lstStyle/>
          <a:p>
            <a:pPr algn="l">
              <a:lnSpc>
                <a:spcPts val="2304"/>
              </a:lnSpc>
            </a:pPr>
            <a:r>
              <a:rPr lang="en-US" sz="2114" b="true">
                <a:solidFill>
                  <a:srgbClr val="000000"/>
                </a:solidFill>
                <a:latin typeface="Open Sauce Bold"/>
                <a:ea typeface="Open Sauce Bold"/>
                <a:cs typeface="Open Sauce Bold"/>
                <a:sym typeface="Open Sauce Bold"/>
              </a:rPr>
              <a:t>HOLIDAY CAMPAIGN</a:t>
            </a:r>
          </a:p>
        </p:txBody>
      </p:sp>
      <p:sp>
        <p:nvSpPr>
          <p:cNvPr name="TextBox 12" id="12"/>
          <p:cNvSpPr txBox="true"/>
          <p:nvPr/>
        </p:nvSpPr>
        <p:spPr>
          <a:xfrm rot="0">
            <a:off x="3932049" y="9134862"/>
            <a:ext cx="12595331" cy="233299"/>
          </a:xfrm>
          <a:prstGeom prst="rect">
            <a:avLst/>
          </a:prstGeom>
        </p:spPr>
        <p:txBody>
          <a:bodyPr anchor="t" rtlCol="false" tIns="0" lIns="0" bIns="0" rIns="0">
            <a:spAutoFit/>
          </a:bodyPr>
          <a:lstStyle/>
          <a:p>
            <a:pPr algn="l" marL="367031" indent="-183515" lvl="1">
              <a:lnSpc>
                <a:spcPts val="1853"/>
              </a:lnSpc>
              <a:buFont typeface="Arial"/>
              <a:buChar char="•"/>
            </a:pPr>
            <a:r>
              <a:rPr lang="en-US" b="true" sz="1700">
                <a:solidFill>
                  <a:srgbClr val="000000"/>
                </a:solidFill>
                <a:latin typeface="Open Sauce Bold"/>
                <a:ea typeface="Open Sauce Bold"/>
                <a:cs typeface="Open Sauce Bold"/>
                <a:sym typeface="Open Sauce Bold"/>
              </a:rPr>
              <a:t>Victoria Secret holiday campaign has always been a good one, and one that buyers wait for all year long</a:t>
            </a:r>
          </a:p>
        </p:txBody>
      </p:sp>
      <p:sp>
        <p:nvSpPr>
          <p:cNvPr name="TextBox 13" id="13"/>
          <p:cNvSpPr txBox="true"/>
          <p:nvPr/>
        </p:nvSpPr>
        <p:spPr>
          <a:xfrm rot="0">
            <a:off x="6929465" y="8251942"/>
            <a:ext cx="14156256" cy="233299"/>
          </a:xfrm>
          <a:prstGeom prst="rect">
            <a:avLst/>
          </a:prstGeom>
        </p:spPr>
        <p:txBody>
          <a:bodyPr anchor="t" rtlCol="false" tIns="0" lIns="0" bIns="0" rIns="0">
            <a:spAutoFit/>
          </a:bodyPr>
          <a:lstStyle/>
          <a:p>
            <a:pPr algn="l" marL="367031" indent="-183515" lvl="1">
              <a:lnSpc>
                <a:spcPts val="1853"/>
              </a:lnSpc>
              <a:buFont typeface="Arial"/>
              <a:buChar char="•"/>
            </a:pPr>
            <a:r>
              <a:rPr lang="en-US" b="true" sz="1700">
                <a:solidFill>
                  <a:srgbClr val="000000"/>
                </a:solidFill>
                <a:latin typeface="Open Sauce Bold"/>
                <a:ea typeface="Open Sauce Bold"/>
                <a:cs typeface="Open Sauce Bold"/>
                <a:sym typeface="Open Sauce Bold"/>
              </a:rPr>
              <a:t>Victoria Secret successfully marketed their fragrance line that blew off shelves</a:t>
            </a:r>
          </a:p>
        </p:txBody>
      </p:sp>
      <p:sp>
        <p:nvSpPr>
          <p:cNvPr name="TextBox 14" id="14"/>
          <p:cNvSpPr txBox="true"/>
          <p:nvPr/>
        </p:nvSpPr>
        <p:spPr>
          <a:xfrm rot="0">
            <a:off x="3801557" y="7416123"/>
            <a:ext cx="12043035" cy="233299"/>
          </a:xfrm>
          <a:prstGeom prst="rect">
            <a:avLst/>
          </a:prstGeom>
        </p:spPr>
        <p:txBody>
          <a:bodyPr anchor="t" rtlCol="false" tIns="0" lIns="0" bIns="0" rIns="0">
            <a:spAutoFit/>
          </a:bodyPr>
          <a:lstStyle/>
          <a:p>
            <a:pPr algn="l" marL="367031" indent="-183515" lvl="1">
              <a:lnSpc>
                <a:spcPts val="1853"/>
              </a:lnSpc>
              <a:buFont typeface="Arial"/>
              <a:buChar char="•"/>
            </a:pPr>
            <a:r>
              <a:rPr lang="en-US" b="true" sz="1700">
                <a:solidFill>
                  <a:srgbClr val="000000"/>
                </a:solidFill>
                <a:latin typeface="Open Sauce Bold"/>
                <a:ea typeface="Open Sauce Bold"/>
                <a:cs typeface="Open Sauce Bold"/>
                <a:sym typeface="Open Sauce Bold"/>
              </a:rPr>
              <a:t>This campaign showcases the Victoria Secret Angels have always been a fan favorite</a:t>
            </a:r>
          </a:p>
        </p:txBody>
      </p:sp>
      <p:sp>
        <p:nvSpPr>
          <p:cNvPr name="TextBox 15" id="15"/>
          <p:cNvSpPr txBox="true"/>
          <p:nvPr/>
        </p:nvSpPr>
        <p:spPr>
          <a:xfrm rot="0">
            <a:off x="3546764" y="6559832"/>
            <a:ext cx="13822630" cy="233299"/>
          </a:xfrm>
          <a:prstGeom prst="rect">
            <a:avLst/>
          </a:prstGeom>
        </p:spPr>
        <p:txBody>
          <a:bodyPr anchor="t" rtlCol="false" tIns="0" lIns="0" bIns="0" rIns="0">
            <a:spAutoFit/>
          </a:bodyPr>
          <a:lstStyle/>
          <a:p>
            <a:pPr algn="l" marL="367031" indent="-183515" lvl="1">
              <a:lnSpc>
                <a:spcPts val="1853"/>
              </a:lnSpc>
              <a:buFont typeface="Arial"/>
              <a:buChar char="•"/>
            </a:pPr>
            <a:r>
              <a:rPr lang="en-US" b="true" sz="1700">
                <a:solidFill>
                  <a:srgbClr val="000000"/>
                </a:solidFill>
                <a:latin typeface="Open Sauce Bold"/>
                <a:ea typeface="Open Sauce Bold"/>
                <a:cs typeface="Open Sauce Bold"/>
                <a:sym typeface="Open Sauce Bold"/>
              </a:rPr>
              <a:t>This campaign emphasized comfort fit, and everyday wearability items</a:t>
            </a:r>
          </a:p>
        </p:txBody>
      </p:sp>
      <p:sp>
        <p:nvSpPr>
          <p:cNvPr name="TextBox 16" id="16"/>
          <p:cNvSpPr txBox="true"/>
          <p:nvPr/>
        </p:nvSpPr>
        <p:spPr>
          <a:xfrm rot="0">
            <a:off x="5727979" y="5694886"/>
            <a:ext cx="9460199" cy="233299"/>
          </a:xfrm>
          <a:prstGeom prst="rect">
            <a:avLst/>
          </a:prstGeom>
        </p:spPr>
        <p:txBody>
          <a:bodyPr anchor="t" rtlCol="false" tIns="0" lIns="0" bIns="0" rIns="0">
            <a:spAutoFit/>
          </a:bodyPr>
          <a:lstStyle/>
          <a:p>
            <a:pPr algn="l" marL="367031" indent="-183515" lvl="1">
              <a:lnSpc>
                <a:spcPts val="1853"/>
              </a:lnSpc>
              <a:buFont typeface="Arial"/>
              <a:buChar char="•"/>
            </a:pPr>
            <a:r>
              <a:rPr lang="en-US" b="true" sz="1700">
                <a:solidFill>
                  <a:srgbClr val="000000"/>
                </a:solidFill>
                <a:latin typeface="Open Sauce Bold"/>
                <a:ea typeface="Open Sauce Bold"/>
                <a:cs typeface="Open Sauce Bold"/>
                <a:sym typeface="Open Sauce Bold"/>
              </a:rPr>
              <a:t> The annual Victoria Secret Fashion show is always a hit for the brand</a:t>
            </a:r>
          </a:p>
        </p:txBody>
      </p:sp>
      <p:sp>
        <p:nvSpPr>
          <p:cNvPr name="Freeform 17" id="17"/>
          <p:cNvSpPr/>
          <p:nvPr/>
        </p:nvSpPr>
        <p:spPr>
          <a:xfrm flipH="false" flipV="false" rot="0">
            <a:off x="445865" y="5587366"/>
            <a:ext cx="376163" cy="429290"/>
          </a:xfrm>
          <a:custGeom>
            <a:avLst/>
            <a:gdLst/>
            <a:ahLst/>
            <a:cxnLst/>
            <a:rect r="r" b="b" t="t" l="l"/>
            <a:pathLst>
              <a:path h="429290" w="376163">
                <a:moveTo>
                  <a:pt x="0" y="0"/>
                </a:moveTo>
                <a:lnTo>
                  <a:pt x="376163" y="0"/>
                </a:lnTo>
                <a:lnTo>
                  <a:pt x="376163" y="429290"/>
                </a:lnTo>
                <a:lnTo>
                  <a:pt x="0" y="429290"/>
                </a:lnTo>
                <a:lnTo>
                  <a:pt x="0" y="0"/>
                </a:lnTo>
                <a:close/>
              </a:path>
            </a:pathLst>
          </a:custGeom>
          <a:blipFill>
            <a:blip r:embed="rId6"/>
            <a:stretch>
              <a:fillRect l="0" t="0" r="0" b="0"/>
            </a:stretch>
          </a:blipFill>
        </p:spPr>
      </p:sp>
      <p:sp>
        <p:nvSpPr>
          <p:cNvPr name="Freeform 18" id="18"/>
          <p:cNvSpPr/>
          <p:nvPr/>
        </p:nvSpPr>
        <p:spPr>
          <a:xfrm flipH="false" flipV="false" rot="0">
            <a:off x="445865" y="6447984"/>
            <a:ext cx="376163" cy="429290"/>
          </a:xfrm>
          <a:custGeom>
            <a:avLst/>
            <a:gdLst/>
            <a:ahLst/>
            <a:cxnLst/>
            <a:rect r="r" b="b" t="t" l="l"/>
            <a:pathLst>
              <a:path h="429290" w="376163">
                <a:moveTo>
                  <a:pt x="0" y="0"/>
                </a:moveTo>
                <a:lnTo>
                  <a:pt x="376163" y="0"/>
                </a:lnTo>
                <a:lnTo>
                  <a:pt x="376163" y="429291"/>
                </a:lnTo>
                <a:lnTo>
                  <a:pt x="0" y="429291"/>
                </a:lnTo>
                <a:lnTo>
                  <a:pt x="0" y="0"/>
                </a:lnTo>
                <a:close/>
              </a:path>
            </a:pathLst>
          </a:custGeom>
          <a:blipFill>
            <a:blip r:embed="rId6"/>
            <a:stretch>
              <a:fillRect l="0" t="0" r="0" b="0"/>
            </a:stretch>
          </a:blipFill>
        </p:spPr>
      </p:sp>
      <p:sp>
        <p:nvSpPr>
          <p:cNvPr name="Freeform 19" id="19"/>
          <p:cNvSpPr/>
          <p:nvPr/>
        </p:nvSpPr>
        <p:spPr>
          <a:xfrm flipH="false" flipV="false" rot="0">
            <a:off x="445865" y="7308603"/>
            <a:ext cx="376163" cy="429290"/>
          </a:xfrm>
          <a:custGeom>
            <a:avLst/>
            <a:gdLst/>
            <a:ahLst/>
            <a:cxnLst/>
            <a:rect r="r" b="b" t="t" l="l"/>
            <a:pathLst>
              <a:path h="429290" w="376163">
                <a:moveTo>
                  <a:pt x="0" y="0"/>
                </a:moveTo>
                <a:lnTo>
                  <a:pt x="376163" y="0"/>
                </a:lnTo>
                <a:lnTo>
                  <a:pt x="376163" y="429290"/>
                </a:lnTo>
                <a:lnTo>
                  <a:pt x="0" y="429290"/>
                </a:lnTo>
                <a:lnTo>
                  <a:pt x="0" y="0"/>
                </a:lnTo>
                <a:close/>
              </a:path>
            </a:pathLst>
          </a:custGeom>
          <a:blipFill>
            <a:blip r:embed="rId6"/>
            <a:stretch>
              <a:fillRect l="0" t="0" r="0" b="0"/>
            </a:stretch>
          </a:blipFill>
        </p:spPr>
      </p:sp>
      <p:sp>
        <p:nvSpPr>
          <p:cNvPr name="Freeform 20" id="20"/>
          <p:cNvSpPr/>
          <p:nvPr/>
        </p:nvSpPr>
        <p:spPr>
          <a:xfrm flipH="false" flipV="false" rot="0">
            <a:off x="445865" y="8144422"/>
            <a:ext cx="376163" cy="429290"/>
          </a:xfrm>
          <a:custGeom>
            <a:avLst/>
            <a:gdLst/>
            <a:ahLst/>
            <a:cxnLst/>
            <a:rect r="r" b="b" t="t" l="l"/>
            <a:pathLst>
              <a:path h="429290" w="376163">
                <a:moveTo>
                  <a:pt x="0" y="0"/>
                </a:moveTo>
                <a:lnTo>
                  <a:pt x="376163" y="0"/>
                </a:lnTo>
                <a:lnTo>
                  <a:pt x="376163" y="429290"/>
                </a:lnTo>
                <a:lnTo>
                  <a:pt x="0" y="429290"/>
                </a:lnTo>
                <a:lnTo>
                  <a:pt x="0" y="0"/>
                </a:lnTo>
                <a:close/>
              </a:path>
            </a:pathLst>
          </a:custGeom>
          <a:blipFill>
            <a:blip r:embed="rId6"/>
            <a:stretch>
              <a:fillRect l="0" t="0" r="0" b="0"/>
            </a:stretch>
          </a:blipFill>
        </p:spPr>
      </p:sp>
      <p:sp>
        <p:nvSpPr>
          <p:cNvPr name="Freeform 21" id="21"/>
          <p:cNvSpPr/>
          <p:nvPr/>
        </p:nvSpPr>
        <p:spPr>
          <a:xfrm flipH="false" flipV="false" rot="0">
            <a:off x="445865" y="9005040"/>
            <a:ext cx="376163" cy="429290"/>
          </a:xfrm>
          <a:custGeom>
            <a:avLst/>
            <a:gdLst/>
            <a:ahLst/>
            <a:cxnLst/>
            <a:rect r="r" b="b" t="t" l="l"/>
            <a:pathLst>
              <a:path h="429290" w="376163">
                <a:moveTo>
                  <a:pt x="0" y="0"/>
                </a:moveTo>
                <a:lnTo>
                  <a:pt x="376163" y="0"/>
                </a:lnTo>
                <a:lnTo>
                  <a:pt x="376163" y="429291"/>
                </a:lnTo>
                <a:lnTo>
                  <a:pt x="0" y="429291"/>
                </a:lnTo>
                <a:lnTo>
                  <a:pt x="0" y="0"/>
                </a:lnTo>
                <a:close/>
              </a:path>
            </a:pathLst>
          </a:custGeom>
          <a:blipFill>
            <a:blip r:embed="rId6"/>
            <a:stretch>
              <a:fillRect l="0" t="0" r="0" b="0"/>
            </a:stretch>
          </a:blipFill>
        </p:spPr>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231F20"/>
        </a:solidFill>
      </p:bgPr>
    </p:bg>
    <p:spTree>
      <p:nvGrpSpPr>
        <p:cNvPr id="1" name=""/>
        <p:cNvGrpSpPr/>
        <p:nvPr/>
      </p:nvGrpSpPr>
      <p:grpSpPr>
        <a:xfrm>
          <a:off x="0" y="0"/>
          <a:ext cx="0" cy="0"/>
          <a:chOff x="0" y="0"/>
          <a:chExt cx="0" cy="0"/>
        </a:xfrm>
      </p:grpSpPr>
      <p:sp>
        <p:nvSpPr>
          <p:cNvPr name="TextBox 2" id="2"/>
          <p:cNvSpPr txBox="true"/>
          <p:nvPr/>
        </p:nvSpPr>
        <p:spPr>
          <a:xfrm rot="0">
            <a:off x="9675727" y="5181600"/>
            <a:ext cx="7177632" cy="1024893"/>
          </a:xfrm>
          <a:prstGeom prst="rect">
            <a:avLst/>
          </a:prstGeom>
        </p:spPr>
        <p:txBody>
          <a:bodyPr anchor="t" rtlCol="false" tIns="0" lIns="0" bIns="0" rIns="0">
            <a:spAutoFit/>
          </a:bodyPr>
          <a:lstStyle/>
          <a:p>
            <a:pPr algn="l" marL="0" indent="0" lvl="0">
              <a:lnSpc>
                <a:spcPts val="7980"/>
              </a:lnSpc>
            </a:pPr>
            <a:r>
              <a:rPr lang="en-US" sz="7000" i="true" spc="-504">
                <a:solidFill>
                  <a:srgbClr val="0012FF"/>
                </a:solidFill>
                <a:latin typeface="Libre Baskerville Italics"/>
                <a:ea typeface="Libre Baskerville Italics"/>
                <a:cs typeface="Libre Baskerville Italics"/>
                <a:sym typeface="Libre Baskerville Italics"/>
              </a:rPr>
              <a:t>‘s “Do What You Can’t” </a:t>
            </a:r>
          </a:p>
        </p:txBody>
      </p:sp>
      <p:sp>
        <p:nvSpPr>
          <p:cNvPr name="TextBox 3" id="3"/>
          <p:cNvSpPr txBox="true"/>
          <p:nvPr/>
        </p:nvSpPr>
        <p:spPr>
          <a:xfrm rot="0">
            <a:off x="2252433" y="3968116"/>
            <a:ext cx="9554046" cy="1175384"/>
          </a:xfrm>
          <a:prstGeom prst="rect">
            <a:avLst/>
          </a:prstGeom>
        </p:spPr>
        <p:txBody>
          <a:bodyPr anchor="t" rtlCol="false" tIns="0" lIns="0" bIns="0" rIns="0">
            <a:spAutoFit/>
          </a:bodyPr>
          <a:lstStyle/>
          <a:p>
            <a:pPr algn="l" marL="0" indent="0" lvl="0">
              <a:lnSpc>
                <a:spcPts val="9119"/>
              </a:lnSpc>
            </a:pPr>
            <a:r>
              <a:rPr lang="en-US" b="true" sz="7999" spc="-575">
                <a:solidFill>
                  <a:srgbClr val="DBDBDB"/>
                </a:solidFill>
                <a:latin typeface="Open Sauce Bold"/>
                <a:ea typeface="Open Sauce Bold"/>
                <a:cs typeface="Open Sauce Bold"/>
                <a:sym typeface="Open Sauce Bold"/>
              </a:rPr>
              <a:t>Durable product - Effective </a:t>
            </a:r>
          </a:p>
        </p:txBody>
      </p:sp>
      <p:sp>
        <p:nvSpPr>
          <p:cNvPr name="Freeform 4" id="4"/>
          <p:cNvSpPr/>
          <p:nvPr/>
        </p:nvSpPr>
        <p:spPr>
          <a:xfrm flipH="false" flipV="false" rot="0">
            <a:off x="14240440" y="7254243"/>
            <a:ext cx="6246740" cy="6281000"/>
          </a:xfrm>
          <a:custGeom>
            <a:avLst/>
            <a:gdLst/>
            <a:ahLst/>
            <a:cxnLst/>
            <a:rect r="r" b="b" t="t" l="l"/>
            <a:pathLst>
              <a:path h="6281000" w="6246740">
                <a:moveTo>
                  <a:pt x="0" y="0"/>
                </a:moveTo>
                <a:lnTo>
                  <a:pt x="6246740" y="0"/>
                </a:lnTo>
                <a:lnTo>
                  <a:pt x="6246740" y="6281000"/>
                </a:lnTo>
                <a:lnTo>
                  <a:pt x="0" y="6281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5" id="5"/>
          <p:cNvSpPr/>
          <p:nvPr/>
        </p:nvSpPr>
        <p:spPr>
          <a:xfrm flipH="false" flipV="false" rot="0">
            <a:off x="-3062665" y="7254243"/>
            <a:ext cx="7365874" cy="7365874"/>
          </a:xfrm>
          <a:custGeom>
            <a:avLst/>
            <a:gdLst/>
            <a:ahLst/>
            <a:cxnLst/>
            <a:rect r="r" b="b" t="t" l="l"/>
            <a:pathLst>
              <a:path h="7365874" w="7365874">
                <a:moveTo>
                  <a:pt x="0" y="0"/>
                </a:moveTo>
                <a:lnTo>
                  <a:pt x="7365875" y="0"/>
                </a:lnTo>
                <a:lnTo>
                  <a:pt x="7365875" y="7365874"/>
                </a:lnTo>
                <a:lnTo>
                  <a:pt x="0" y="736587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6" id="6"/>
          <p:cNvSpPr/>
          <p:nvPr/>
        </p:nvSpPr>
        <p:spPr>
          <a:xfrm flipH="false" flipV="false" rot="0">
            <a:off x="-2518440" y="-3114742"/>
            <a:ext cx="5968153" cy="6000885"/>
          </a:xfrm>
          <a:custGeom>
            <a:avLst/>
            <a:gdLst/>
            <a:ahLst/>
            <a:cxnLst/>
            <a:rect r="r" b="b" t="t" l="l"/>
            <a:pathLst>
              <a:path h="6000885" w="5968153">
                <a:moveTo>
                  <a:pt x="0" y="0"/>
                </a:moveTo>
                <a:lnTo>
                  <a:pt x="5968153" y="0"/>
                </a:lnTo>
                <a:lnTo>
                  <a:pt x="5968153" y="6000884"/>
                </a:lnTo>
                <a:lnTo>
                  <a:pt x="0" y="600088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7" id="7"/>
          <p:cNvSpPr/>
          <p:nvPr/>
        </p:nvSpPr>
        <p:spPr>
          <a:xfrm flipH="false" flipV="false" rot="-3641859">
            <a:off x="14582144" y="-2536717"/>
            <a:ext cx="6736363" cy="6368925"/>
          </a:xfrm>
          <a:custGeom>
            <a:avLst/>
            <a:gdLst/>
            <a:ahLst/>
            <a:cxnLst/>
            <a:rect r="r" b="b" t="t" l="l"/>
            <a:pathLst>
              <a:path h="6368925" w="6736363">
                <a:moveTo>
                  <a:pt x="0" y="0"/>
                </a:moveTo>
                <a:lnTo>
                  <a:pt x="6736363" y="0"/>
                </a:lnTo>
                <a:lnTo>
                  <a:pt x="6736363" y="6368926"/>
                </a:lnTo>
                <a:lnTo>
                  <a:pt x="0" y="636892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8" id="8"/>
          <p:cNvSpPr/>
          <p:nvPr/>
        </p:nvSpPr>
        <p:spPr>
          <a:xfrm flipH="false" flipV="false" rot="0">
            <a:off x="5377827" y="5275301"/>
            <a:ext cx="4297900" cy="875591"/>
          </a:xfrm>
          <a:custGeom>
            <a:avLst/>
            <a:gdLst/>
            <a:ahLst/>
            <a:cxnLst/>
            <a:rect r="r" b="b" t="t" l="l"/>
            <a:pathLst>
              <a:path h="875591" w="4297900">
                <a:moveTo>
                  <a:pt x="0" y="0"/>
                </a:moveTo>
                <a:lnTo>
                  <a:pt x="4297900" y="0"/>
                </a:lnTo>
                <a:lnTo>
                  <a:pt x="4297900" y="875591"/>
                </a:lnTo>
                <a:lnTo>
                  <a:pt x="0" y="875591"/>
                </a:lnTo>
                <a:lnTo>
                  <a:pt x="0" y="0"/>
                </a:lnTo>
                <a:close/>
              </a:path>
            </a:pathLst>
          </a:custGeom>
          <a:blipFill>
            <a:blip r:embed="rId10"/>
            <a:stretch>
              <a:fillRect l="0" t="0" r="0" b="0"/>
            </a:stretch>
          </a:blipFill>
        </p:spPr>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231F20"/>
        </a:solidFill>
      </p:bgPr>
    </p:bg>
    <p:spTree>
      <p:nvGrpSpPr>
        <p:cNvPr id="1" name=""/>
        <p:cNvGrpSpPr/>
        <p:nvPr/>
      </p:nvGrpSpPr>
      <p:grpSpPr>
        <a:xfrm>
          <a:off x="0" y="0"/>
          <a:ext cx="0" cy="0"/>
          <a:chOff x="0" y="0"/>
          <a:chExt cx="0" cy="0"/>
        </a:xfrm>
      </p:grpSpPr>
      <p:sp>
        <p:nvSpPr>
          <p:cNvPr name="Freeform 2" id="2"/>
          <p:cNvSpPr/>
          <p:nvPr/>
        </p:nvSpPr>
        <p:spPr>
          <a:xfrm flipH="false" flipV="false" rot="0">
            <a:off x="3358261" y="1028700"/>
            <a:ext cx="5564560" cy="1133641"/>
          </a:xfrm>
          <a:custGeom>
            <a:avLst/>
            <a:gdLst/>
            <a:ahLst/>
            <a:cxnLst/>
            <a:rect r="r" b="b" t="t" l="l"/>
            <a:pathLst>
              <a:path h="1133641" w="5564560">
                <a:moveTo>
                  <a:pt x="0" y="0"/>
                </a:moveTo>
                <a:lnTo>
                  <a:pt x="5564560" y="0"/>
                </a:lnTo>
                <a:lnTo>
                  <a:pt x="5564560" y="1133641"/>
                </a:lnTo>
                <a:lnTo>
                  <a:pt x="0" y="1133641"/>
                </a:lnTo>
                <a:lnTo>
                  <a:pt x="0" y="0"/>
                </a:lnTo>
                <a:close/>
              </a:path>
            </a:pathLst>
          </a:custGeom>
          <a:blipFill>
            <a:blip r:embed="rId3"/>
            <a:stretch>
              <a:fillRect l="0" t="0" r="0" b="0"/>
            </a:stretch>
          </a:blipFill>
        </p:spPr>
      </p:sp>
      <p:sp>
        <p:nvSpPr>
          <p:cNvPr name="TextBox 3" id="3"/>
          <p:cNvSpPr txBox="true"/>
          <p:nvPr/>
        </p:nvSpPr>
        <p:spPr>
          <a:xfrm rot="0">
            <a:off x="9360071" y="1066800"/>
            <a:ext cx="5582988" cy="981743"/>
          </a:xfrm>
          <a:prstGeom prst="rect">
            <a:avLst/>
          </a:prstGeom>
        </p:spPr>
        <p:txBody>
          <a:bodyPr anchor="t" rtlCol="false" tIns="0" lIns="0" bIns="0" rIns="0">
            <a:spAutoFit/>
          </a:bodyPr>
          <a:lstStyle/>
          <a:p>
            <a:pPr algn="l" marL="0" indent="0" lvl="0">
              <a:lnSpc>
                <a:spcPts val="7662"/>
              </a:lnSpc>
              <a:spcBef>
                <a:spcPct val="0"/>
              </a:spcBef>
            </a:pPr>
            <a:r>
              <a:rPr lang="en-US" sz="6721" spc="-483">
                <a:solidFill>
                  <a:srgbClr val="DBDBDB"/>
                </a:solidFill>
                <a:latin typeface="Open Sauce Light"/>
                <a:ea typeface="Open Sauce Light"/>
                <a:cs typeface="Open Sauce Light"/>
                <a:sym typeface="Open Sauce Light"/>
              </a:rPr>
              <a:t>#DoWhatYouCan’t</a:t>
            </a:r>
          </a:p>
        </p:txBody>
      </p:sp>
      <p:pic>
        <p:nvPicPr>
          <p:cNvPr name="Picture 4" id="4"/>
          <p:cNvPicPr>
            <a:picLocks noChangeAspect="true"/>
          </p:cNvPicPr>
          <p:nvPr>
            <a:videoFile r:link="rId5"/>
          </p:nvPr>
        </p:nvPicPr>
        <p:blipFill>
          <a:blip r:embed="rId4"/>
          <a:stretch>
            <a:fillRect/>
          </a:stretch>
        </p:blipFill>
        <p:spPr>
          <a:xfrm rot="0">
            <a:off x="3664260" y="2816125"/>
            <a:ext cx="10972800" cy="6172199"/>
          </a:xfrm>
          <a:prstGeom prst="rect">
            <a:avLst/>
          </a:prstGeom>
        </p:spPr>
      </p:pic>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231F20"/>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5004299"/>
            <a:ext cx="431481" cy="554023"/>
          </a:xfrm>
          <a:custGeom>
            <a:avLst/>
            <a:gdLst/>
            <a:ahLst/>
            <a:cxnLst/>
            <a:rect r="r" b="b" t="t" l="l"/>
            <a:pathLst>
              <a:path h="554023" w="431481">
                <a:moveTo>
                  <a:pt x="0" y="0"/>
                </a:moveTo>
                <a:lnTo>
                  <a:pt x="431481" y="0"/>
                </a:lnTo>
                <a:lnTo>
                  <a:pt x="431481" y="554023"/>
                </a:lnTo>
                <a:lnTo>
                  <a:pt x="0" y="55402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028700" y="5868933"/>
            <a:ext cx="431481" cy="554023"/>
          </a:xfrm>
          <a:custGeom>
            <a:avLst/>
            <a:gdLst/>
            <a:ahLst/>
            <a:cxnLst/>
            <a:rect r="r" b="b" t="t" l="l"/>
            <a:pathLst>
              <a:path h="554023" w="431481">
                <a:moveTo>
                  <a:pt x="0" y="0"/>
                </a:moveTo>
                <a:lnTo>
                  <a:pt x="431481" y="0"/>
                </a:lnTo>
                <a:lnTo>
                  <a:pt x="431481" y="554023"/>
                </a:lnTo>
                <a:lnTo>
                  <a:pt x="0" y="55402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028700" y="6733566"/>
            <a:ext cx="431481" cy="554023"/>
          </a:xfrm>
          <a:custGeom>
            <a:avLst/>
            <a:gdLst/>
            <a:ahLst/>
            <a:cxnLst/>
            <a:rect r="r" b="b" t="t" l="l"/>
            <a:pathLst>
              <a:path h="554023" w="431481">
                <a:moveTo>
                  <a:pt x="0" y="0"/>
                </a:moveTo>
                <a:lnTo>
                  <a:pt x="431481" y="0"/>
                </a:lnTo>
                <a:lnTo>
                  <a:pt x="431481" y="554024"/>
                </a:lnTo>
                <a:lnTo>
                  <a:pt x="0" y="55402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9824491" y="6964874"/>
            <a:ext cx="431481" cy="554023"/>
          </a:xfrm>
          <a:custGeom>
            <a:avLst/>
            <a:gdLst/>
            <a:ahLst/>
            <a:cxnLst/>
            <a:rect r="r" b="b" t="t" l="l"/>
            <a:pathLst>
              <a:path h="554023" w="431481">
                <a:moveTo>
                  <a:pt x="0" y="0"/>
                </a:moveTo>
                <a:lnTo>
                  <a:pt x="431481" y="0"/>
                </a:lnTo>
                <a:lnTo>
                  <a:pt x="431481" y="554024"/>
                </a:lnTo>
                <a:lnTo>
                  <a:pt x="0" y="55402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0">
            <a:off x="9824491" y="7829508"/>
            <a:ext cx="431481" cy="554023"/>
          </a:xfrm>
          <a:custGeom>
            <a:avLst/>
            <a:gdLst/>
            <a:ahLst/>
            <a:cxnLst/>
            <a:rect r="r" b="b" t="t" l="l"/>
            <a:pathLst>
              <a:path h="554023" w="431481">
                <a:moveTo>
                  <a:pt x="0" y="0"/>
                </a:moveTo>
                <a:lnTo>
                  <a:pt x="431481" y="0"/>
                </a:lnTo>
                <a:lnTo>
                  <a:pt x="431481" y="554023"/>
                </a:lnTo>
                <a:lnTo>
                  <a:pt x="0" y="55402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9824491" y="8694142"/>
            <a:ext cx="431481" cy="554023"/>
          </a:xfrm>
          <a:custGeom>
            <a:avLst/>
            <a:gdLst/>
            <a:ahLst/>
            <a:cxnLst/>
            <a:rect r="r" b="b" t="t" l="l"/>
            <a:pathLst>
              <a:path h="554023" w="431481">
                <a:moveTo>
                  <a:pt x="0" y="0"/>
                </a:moveTo>
                <a:lnTo>
                  <a:pt x="431481" y="0"/>
                </a:lnTo>
                <a:lnTo>
                  <a:pt x="431481" y="554023"/>
                </a:lnTo>
                <a:lnTo>
                  <a:pt x="0" y="55402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8" id="8"/>
          <p:cNvSpPr txBox="true"/>
          <p:nvPr/>
        </p:nvSpPr>
        <p:spPr>
          <a:xfrm rot="0">
            <a:off x="1028700" y="1298124"/>
            <a:ext cx="8556478" cy="1908810"/>
          </a:xfrm>
          <a:prstGeom prst="rect">
            <a:avLst/>
          </a:prstGeom>
        </p:spPr>
        <p:txBody>
          <a:bodyPr anchor="t" rtlCol="false" tIns="0" lIns="0" bIns="0" rIns="0">
            <a:spAutoFit/>
          </a:bodyPr>
          <a:lstStyle/>
          <a:p>
            <a:pPr algn="l" marL="0" indent="0" lvl="0">
              <a:lnSpc>
                <a:spcPts val="14819"/>
              </a:lnSpc>
              <a:spcBef>
                <a:spcPct val="0"/>
              </a:spcBef>
            </a:pPr>
            <a:r>
              <a:rPr lang="en-US" sz="12999" spc="-935">
                <a:solidFill>
                  <a:srgbClr val="DBDBDB"/>
                </a:solidFill>
                <a:latin typeface="Open Sauce Light"/>
                <a:ea typeface="Open Sauce Light"/>
                <a:cs typeface="Open Sauce Light"/>
                <a:sym typeface="Open Sauce Light"/>
              </a:rPr>
              <a:t>Background</a:t>
            </a:r>
          </a:p>
        </p:txBody>
      </p:sp>
      <p:sp>
        <p:nvSpPr>
          <p:cNvPr name="Freeform 9" id="9"/>
          <p:cNvSpPr/>
          <p:nvPr/>
        </p:nvSpPr>
        <p:spPr>
          <a:xfrm flipH="false" flipV="false" rot="0">
            <a:off x="16103770" y="372447"/>
            <a:ext cx="5835090" cy="5867092"/>
          </a:xfrm>
          <a:custGeom>
            <a:avLst/>
            <a:gdLst/>
            <a:ahLst/>
            <a:cxnLst/>
            <a:rect r="r" b="b" t="t" l="l"/>
            <a:pathLst>
              <a:path h="5867092" w="5835090">
                <a:moveTo>
                  <a:pt x="0" y="0"/>
                </a:moveTo>
                <a:lnTo>
                  <a:pt x="5835089" y="0"/>
                </a:lnTo>
                <a:lnTo>
                  <a:pt x="5835089" y="5867092"/>
                </a:lnTo>
                <a:lnTo>
                  <a:pt x="0" y="586709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0" id="10"/>
          <p:cNvSpPr txBox="true"/>
          <p:nvPr/>
        </p:nvSpPr>
        <p:spPr>
          <a:xfrm rot="0">
            <a:off x="9144000" y="1307649"/>
            <a:ext cx="7181099" cy="1998345"/>
          </a:xfrm>
          <a:prstGeom prst="rect">
            <a:avLst/>
          </a:prstGeom>
        </p:spPr>
        <p:txBody>
          <a:bodyPr anchor="t" rtlCol="false" tIns="0" lIns="0" bIns="0" rIns="0">
            <a:spAutoFit/>
          </a:bodyPr>
          <a:lstStyle/>
          <a:p>
            <a:pPr algn="l" marL="0" indent="0" lvl="0">
              <a:lnSpc>
                <a:spcPts val="15530"/>
              </a:lnSpc>
              <a:spcBef>
                <a:spcPct val="0"/>
              </a:spcBef>
            </a:pPr>
            <a:r>
              <a:rPr lang="en-US" b="true" sz="13623" spc="-980">
                <a:solidFill>
                  <a:srgbClr val="0012FF"/>
                </a:solidFill>
                <a:latin typeface="Open Sauce Medium"/>
                <a:ea typeface="Open Sauce Medium"/>
                <a:cs typeface="Open Sauce Medium"/>
                <a:sym typeface="Open Sauce Medium"/>
              </a:rPr>
              <a:t>Information</a:t>
            </a:r>
          </a:p>
        </p:txBody>
      </p:sp>
      <p:sp>
        <p:nvSpPr>
          <p:cNvPr name="TextBox 11" id="11"/>
          <p:cNvSpPr txBox="true"/>
          <p:nvPr/>
        </p:nvSpPr>
        <p:spPr>
          <a:xfrm rot="0">
            <a:off x="1886300" y="4960109"/>
            <a:ext cx="7698878" cy="925897"/>
          </a:xfrm>
          <a:prstGeom prst="rect">
            <a:avLst/>
          </a:prstGeom>
        </p:spPr>
        <p:txBody>
          <a:bodyPr anchor="t" rtlCol="false" tIns="0" lIns="0" bIns="0" rIns="0">
            <a:spAutoFit/>
          </a:bodyPr>
          <a:lstStyle/>
          <a:p>
            <a:pPr algn="l">
              <a:lnSpc>
                <a:spcPts val="2516"/>
              </a:lnSpc>
            </a:pPr>
            <a:r>
              <a:rPr lang="en-US" sz="1797">
                <a:solidFill>
                  <a:srgbClr val="FFFFFF"/>
                </a:solidFill>
                <a:latin typeface="Canva Sans"/>
                <a:ea typeface="Canva Sans"/>
                <a:cs typeface="Canva Sans"/>
                <a:sym typeface="Canva Sans"/>
              </a:rPr>
              <a:t>Founded March 1st, 1938 in Taegu, South Korea by Lee Byung-Chull as a grocery trading store that traded and exported noodles and other goods to China</a:t>
            </a:r>
          </a:p>
        </p:txBody>
      </p:sp>
      <p:sp>
        <p:nvSpPr>
          <p:cNvPr name="TextBox 12" id="12"/>
          <p:cNvSpPr txBox="true"/>
          <p:nvPr/>
        </p:nvSpPr>
        <p:spPr>
          <a:xfrm rot="0">
            <a:off x="1886300" y="6712010"/>
            <a:ext cx="7049804" cy="297247"/>
          </a:xfrm>
          <a:prstGeom prst="rect">
            <a:avLst/>
          </a:prstGeom>
        </p:spPr>
        <p:txBody>
          <a:bodyPr anchor="t" rtlCol="false" tIns="0" lIns="0" bIns="0" rIns="0">
            <a:spAutoFit/>
          </a:bodyPr>
          <a:lstStyle/>
          <a:p>
            <a:pPr algn="l">
              <a:lnSpc>
                <a:spcPts val="2516"/>
              </a:lnSpc>
            </a:pPr>
            <a:r>
              <a:rPr lang="en-US" sz="1797">
                <a:solidFill>
                  <a:srgbClr val="FFFFFF"/>
                </a:solidFill>
                <a:latin typeface="Canva Sans"/>
                <a:ea typeface="Canva Sans"/>
                <a:cs typeface="Canva Sans"/>
                <a:sym typeface="Canva Sans"/>
              </a:rPr>
              <a:t>One of the world’s largest producers of electronic devices </a:t>
            </a:r>
          </a:p>
        </p:txBody>
      </p:sp>
      <p:sp>
        <p:nvSpPr>
          <p:cNvPr name="TextBox 13" id="13"/>
          <p:cNvSpPr txBox="true"/>
          <p:nvPr/>
        </p:nvSpPr>
        <p:spPr>
          <a:xfrm rot="0">
            <a:off x="1886300" y="5824743"/>
            <a:ext cx="7031270" cy="611572"/>
          </a:xfrm>
          <a:prstGeom prst="rect">
            <a:avLst/>
          </a:prstGeom>
        </p:spPr>
        <p:txBody>
          <a:bodyPr anchor="t" rtlCol="false" tIns="0" lIns="0" bIns="0" rIns="0">
            <a:spAutoFit/>
          </a:bodyPr>
          <a:lstStyle/>
          <a:p>
            <a:pPr algn="l">
              <a:lnSpc>
                <a:spcPts val="2516"/>
              </a:lnSpc>
            </a:pPr>
            <a:r>
              <a:rPr lang="en-US" sz="1797">
                <a:solidFill>
                  <a:srgbClr val="FFFFFF"/>
                </a:solidFill>
                <a:latin typeface="Canva Sans"/>
                <a:ea typeface="Canva Sans"/>
                <a:cs typeface="Canva Sans"/>
                <a:sym typeface="Canva Sans"/>
              </a:rPr>
              <a:t>The largest South Korean Chaebol (a large family-owned business conglomerate) with multiple affiliated brands under the Samsung brand </a:t>
            </a:r>
          </a:p>
        </p:txBody>
      </p:sp>
      <p:sp>
        <p:nvSpPr>
          <p:cNvPr name="TextBox 14" id="14"/>
          <p:cNvSpPr txBox="true"/>
          <p:nvPr/>
        </p:nvSpPr>
        <p:spPr>
          <a:xfrm rot="0">
            <a:off x="1028700" y="3711992"/>
            <a:ext cx="2618338" cy="937814"/>
          </a:xfrm>
          <a:prstGeom prst="rect">
            <a:avLst/>
          </a:prstGeom>
        </p:spPr>
        <p:txBody>
          <a:bodyPr anchor="t" rtlCol="false" tIns="0" lIns="0" bIns="0" rIns="0">
            <a:spAutoFit/>
          </a:bodyPr>
          <a:lstStyle/>
          <a:p>
            <a:pPr algn="ctr">
              <a:lnSpc>
                <a:spcPts val="7746"/>
              </a:lnSpc>
            </a:pPr>
            <a:r>
              <a:rPr lang="en-US" sz="5533" b="true">
                <a:solidFill>
                  <a:srgbClr val="FFFFFF"/>
                </a:solidFill>
                <a:latin typeface="Canva Sans Bold"/>
                <a:ea typeface="Canva Sans Bold"/>
                <a:cs typeface="Canva Sans Bold"/>
                <a:sym typeface="Canva Sans Bold"/>
              </a:rPr>
              <a:t>Samsung</a:t>
            </a:r>
          </a:p>
        </p:txBody>
      </p:sp>
      <p:sp>
        <p:nvSpPr>
          <p:cNvPr name="TextBox 15" id="15"/>
          <p:cNvSpPr txBox="true"/>
          <p:nvPr/>
        </p:nvSpPr>
        <p:spPr>
          <a:xfrm rot="0">
            <a:off x="10700195" y="8674650"/>
            <a:ext cx="7055703" cy="925897"/>
          </a:xfrm>
          <a:prstGeom prst="rect">
            <a:avLst/>
          </a:prstGeom>
        </p:spPr>
        <p:txBody>
          <a:bodyPr anchor="t" rtlCol="false" tIns="0" lIns="0" bIns="0" rIns="0">
            <a:spAutoFit/>
          </a:bodyPr>
          <a:lstStyle/>
          <a:p>
            <a:pPr algn="l">
              <a:lnSpc>
                <a:spcPts val="2516"/>
              </a:lnSpc>
            </a:pPr>
            <a:r>
              <a:rPr lang="en-US" sz="1797">
                <a:solidFill>
                  <a:srgbClr val="FFFFFF"/>
                </a:solidFill>
                <a:latin typeface="Canva Sans"/>
                <a:ea typeface="Canva Sans"/>
                <a:cs typeface="Canva Sans"/>
                <a:sym typeface="Canva Sans"/>
              </a:rPr>
              <a:t>Concept originated with Samsung’s 2016 Olympic campaign ‘The chant’ to extend the message into an overarching brand philosophy</a:t>
            </a:r>
          </a:p>
        </p:txBody>
      </p:sp>
      <p:sp>
        <p:nvSpPr>
          <p:cNvPr name="TextBox 16" id="16"/>
          <p:cNvSpPr txBox="true"/>
          <p:nvPr/>
        </p:nvSpPr>
        <p:spPr>
          <a:xfrm rot="0">
            <a:off x="10681646" y="7003034"/>
            <a:ext cx="7055703" cy="611572"/>
          </a:xfrm>
          <a:prstGeom prst="rect">
            <a:avLst/>
          </a:prstGeom>
        </p:spPr>
        <p:txBody>
          <a:bodyPr anchor="t" rtlCol="false" tIns="0" lIns="0" bIns="0" rIns="0">
            <a:spAutoFit/>
          </a:bodyPr>
          <a:lstStyle/>
          <a:p>
            <a:pPr algn="l">
              <a:lnSpc>
                <a:spcPts val="2516"/>
              </a:lnSpc>
            </a:pPr>
            <a:r>
              <a:rPr lang="en-US" sz="1797">
                <a:solidFill>
                  <a:srgbClr val="FFFFFF"/>
                </a:solidFill>
                <a:latin typeface="Canva Sans"/>
                <a:ea typeface="Canva Sans"/>
                <a:cs typeface="Canva Sans"/>
                <a:sym typeface="Canva Sans"/>
              </a:rPr>
              <a:t>First ad (‘The Ostrich’ s8 ad) developed by Leo Burnett Advertising Agency as Samsung’s first commercial dedicated to the Latin American region </a:t>
            </a:r>
          </a:p>
        </p:txBody>
      </p:sp>
      <p:sp>
        <p:nvSpPr>
          <p:cNvPr name="TextBox 17" id="17"/>
          <p:cNvSpPr txBox="true"/>
          <p:nvPr/>
        </p:nvSpPr>
        <p:spPr>
          <a:xfrm rot="0">
            <a:off x="10700195" y="7943609"/>
            <a:ext cx="7037154" cy="611572"/>
          </a:xfrm>
          <a:prstGeom prst="rect">
            <a:avLst/>
          </a:prstGeom>
        </p:spPr>
        <p:txBody>
          <a:bodyPr anchor="t" rtlCol="false" tIns="0" lIns="0" bIns="0" rIns="0">
            <a:spAutoFit/>
          </a:bodyPr>
          <a:lstStyle/>
          <a:p>
            <a:pPr algn="l">
              <a:lnSpc>
                <a:spcPts val="2516"/>
              </a:lnSpc>
            </a:pPr>
            <a:r>
              <a:rPr lang="en-US" sz="1797">
                <a:solidFill>
                  <a:srgbClr val="FFFFFF"/>
                </a:solidFill>
                <a:latin typeface="Canva Sans"/>
                <a:ea typeface="Canva Sans"/>
                <a:cs typeface="Canva Sans"/>
                <a:sym typeface="Canva Sans"/>
              </a:rPr>
              <a:t>Part of the ‘Do What You Can’t’ global campaign, directed by Tal Zagreba </a:t>
            </a:r>
          </a:p>
        </p:txBody>
      </p:sp>
      <p:sp>
        <p:nvSpPr>
          <p:cNvPr name="TextBox 18" id="18"/>
          <p:cNvSpPr txBox="true"/>
          <p:nvPr/>
        </p:nvSpPr>
        <p:spPr>
          <a:xfrm rot="0">
            <a:off x="9824491" y="5723007"/>
            <a:ext cx="5393454" cy="937814"/>
          </a:xfrm>
          <a:prstGeom prst="rect">
            <a:avLst/>
          </a:prstGeom>
        </p:spPr>
        <p:txBody>
          <a:bodyPr anchor="t" rtlCol="false" tIns="0" lIns="0" bIns="0" rIns="0">
            <a:spAutoFit/>
          </a:bodyPr>
          <a:lstStyle/>
          <a:p>
            <a:pPr algn="l">
              <a:lnSpc>
                <a:spcPts val="7746"/>
              </a:lnSpc>
            </a:pPr>
            <a:r>
              <a:rPr lang="en-US" sz="5533" b="true">
                <a:solidFill>
                  <a:srgbClr val="FFFFFF"/>
                </a:solidFill>
                <a:latin typeface="Canva Sans Bold"/>
                <a:ea typeface="Canva Sans Bold"/>
                <a:cs typeface="Canva Sans Bold"/>
                <a:sym typeface="Canva Sans Bold"/>
              </a:rPr>
              <a:t>#DoWhatYouCant </a:t>
            </a:r>
          </a:p>
        </p:txBody>
      </p:sp>
      <p:sp>
        <p:nvSpPr>
          <p:cNvPr name="Freeform 19" id="19"/>
          <p:cNvSpPr/>
          <p:nvPr/>
        </p:nvSpPr>
        <p:spPr>
          <a:xfrm flipH="false" flipV="false" rot="0">
            <a:off x="-4280725" y="5004299"/>
            <a:ext cx="6341998" cy="6376780"/>
          </a:xfrm>
          <a:custGeom>
            <a:avLst/>
            <a:gdLst/>
            <a:ahLst/>
            <a:cxnLst/>
            <a:rect r="r" b="b" t="t" l="l"/>
            <a:pathLst>
              <a:path h="6376780" w="6341998">
                <a:moveTo>
                  <a:pt x="0" y="0"/>
                </a:moveTo>
                <a:lnTo>
                  <a:pt x="6341998" y="0"/>
                </a:lnTo>
                <a:lnTo>
                  <a:pt x="6341998" y="6376781"/>
                </a:lnTo>
                <a:lnTo>
                  <a:pt x="0" y="637678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231F20"/>
        </a:solidFill>
      </p:bgPr>
    </p:bg>
    <p:spTree>
      <p:nvGrpSpPr>
        <p:cNvPr id="1" name=""/>
        <p:cNvGrpSpPr/>
        <p:nvPr/>
      </p:nvGrpSpPr>
      <p:grpSpPr>
        <a:xfrm>
          <a:off x="0" y="0"/>
          <a:ext cx="0" cy="0"/>
          <a:chOff x="0" y="0"/>
          <a:chExt cx="0" cy="0"/>
        </a:xfrm>
      </p:grpSpPr>
      <p:sp>
        <p:nvSpPr>
          <p:cNvPr name="Freeform 2" id="2"/>
          <p:cNvSpPr/>
          <p:nvPr/>
        </p:nvSpPr>
        <p:spPr>
          <a:xfrm flipH="false" flipV="false" rot="0">
            <a:off x="1048847" y="5495033"/>
            <a:ext cx="431481" cy="554023"/>
          </a:xfrm>
          <a:custGeom>
            <a:avLst/>
            <a:gdLst/>
            <a:ahLst/>
            <a:cxnLst/>
            <a:rect r="r" b="b" t="t" l="l"/>
            <a:pathLst>
              <a:path h="554023" w="431481">
                <a:moveTo>
                  <a:pt x="0" y="0"/>
                </a:moveTo>
                <a:lnTo>
                  <a:pt x="431481" y="0"/>
                </a:lnTo>
                <a:lnTo>
                  <a:pt x="431481" y="554023"/>
                </a:lnTo>
                <a:lnTo>
                  <a:pt x="0" y="55402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048847" y="6420822"/>
            <a:ext cx="431481" cy="554023"/>
          </a:xfrm>
          <a:custGeom>
            <a:avLst/>
            <a:gdLst/>
            <a:ahLst/>
            <a:cxnLst/>
            <a:rect r="r" b="b" t="t" l="l"/>
            <a:pathLst>
              <a:path h="554023" w="431481">
                <a:moveTo>
                  <a:pt x="0" y="0"/>
                </a:moveTo>
                <a:lnTo>
                  <a:pt x="431481" y="0"/>
                </a:lnTo>
                <a:lnTo>
                  <a:pt x="431481" y="554023"/>
                </a:lnTo>
                <a:lnTo>
                  <a:pt x="0" y="55402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048847" y="7501516"/>
            <a:ext cx="431481" cy="554023"/>
          </a:xfrm>
          <a:custGeom>
            <a:avLst/>
            <a:gdLst/>
            <a:ahLst/>
            <a:cxnLst/>
            <a:rect r="r" b="b" t="t" l="l"/>
            <a:pathLst>
              <a:path h="554023" w="431481">
                <a:moveTo>
                  <a:pt x="0" y="0"/>
                </a:moveTo>
                <a:lnTo>
                  <a:pt x="431481" y="0"/>
                </a:lnTo>
                <a:lnTo>
                  <a:pt x="431481" y="554023"/>
                </a:lnTo>
                <a:lnTo>
                  <a:pt x="0" y="55402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048847" y="8602038"/>
            <a:ext cx="431481" cy="554023"/>
          </a:xfrm>
          <a:custGeom>
            <a:avLst/>
            <a:gdLst/>
            <a:ahLst/>
            <a:cxnLst/>
            <a:rect r="r" b="b" t="t" l="l"/>
            <a:pathLst>
              <a:path h="554023" w="431481">
                <a:moveTo>
                  <a:pt x="0" y="0"/>
                </a:moveTo>
                <a:lnTo>
                  <a:pt x="431481" y="0"/>
                </a:lnTo>
                <a:lnTo>
                  <a:pt x="431481" y="554023"/>
                </a:lnTo>
                <a:lnTo>
                  <a:pt x="0" y="55402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0">
            <a:off x="11399797" y="1607436"/>
            <a:ext cx="5505506" cy="6881883"/>
          </a:xfrm>
          <a:custGeom>
            <a:avLst/>
            <a:gdLst/>
            <a:ahLst/>
            <a:cxnLst/>
            <a:rect r="r" b="b" t="t" l="l"/>
            <a:pathLst>
              <a:path h="6881883" w="5505506">
                <a:moveTo>
                  <a:pt x="0" y="0"/>
                </a:moveTo>
                <a:lnTo>
                  <a:pt x="5505506" y="0"/>
                </a:lnTo>
                <a:lnTo>
                  <a:pt x="5505506" y="6881883"/>
                </a:lnTo>
                <a:lnTo>
                  <a:pt x="0" y="6881883"/>
                </a:lnTo>
                <a:lnTo>
                  <a:pt x="0" y="0"/>
                </a:lnTo>
                <a:close/>
              </a:path>
            </a:pathLst>
          </a:custGeom>
          <a:blipFill>
            <a:blip r:embed="rId5"/>
            <a:stretch>
              <a:fillRect l="0" t="0" r="0" b="0"/>
            </a:stretch>
          </a:blipFill>
        </p:spPr>
      </p:sp>
      <p:sp>
        <p:nvSpPr>
          <p:cNvPr name="Freeform 7" id="7"/>
          <p:cNvSpPr/>
          <p:nvPr/>
        </p:nvSpPr>
        <p:spPr>
          <a:xfrm flipH="false" flipV="false" rot="0">
            <a:off x="15573219" y="1372203"/>
            <a:ext cx="1686081" cy="1686081"/>
          </a:xfrm>
          <a:custGeom>
            <a:avLst/>
            <a:gdLst/>
            <a:ahLst/>
            <a:cxnLst/>
            <a:rect r="r" b="b" t="t" l="l"/>
            <a:pathLst>
              <a:path h="1686081" w="1686081">
                <a:moveTo>
                  <a:pt x="0" y="0"/>
                </a:moveTo>
                <a:lnTo>
                  <a:pt x="1686081" y="0"/>
                </a:lnTo>
                <a:lnTo>
                  <a:pt x="1686081" y="1686081"/>
                </a:lnTo>
                <a:lnTo>
                  <a:pt x="0" y="168608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12123709" y="6966262"/>
            <a:ext cx="2080960" cy="1948535"/>
          </a:xfrm>
          <a:custGeom>
            <a:avLst/>
            <a:gdLst/>
            <a:ahLst/>
            <a:cxnLst/>
            <a:rect r="r" b="b" t="t" l="l"/>
            <a:pathLst>
              <a:path h="1948535" w="2080960">
                <a:moveTo>
                  <a:pt x="0" y="0"/>
                </a:moveTo>
                <a:lnTo>
                  <a:pt x="2080960" y="0"/>
                </a:lnTo>
                <a:lnTo>
                  <a:pt x="2080960" y="1948535"/>
                </a:lnTo>
                <a:lnTo>
                  <a:pt x="0" y="194853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1748662">
            <a:off x="10773039" y="2393156"/>
            <a:ext cx="1843677" cy="1545337"/>
          </a:xfrm>
          <a:custGeom>
            <a:avLst/>
            <a:gdLst/>
            <a:ahLst/>
            <a:cxnLst/>
            <a:rect r="r" b="b" t="t" l="l"/>
            <a:pathLst>
              <a:path h="1545337" w="1843677">
                <a:moveTo>
                  <a:pt x="0" y="0"/>
                </a:moveTo>
                <a:lnTo>
                  <a:pt x="1843677" y="0"/>
                </a:lnTo>
                <a:lnTo>
                  <a:pt x="1843677" y="1545337"/>
                </a:lnTo>
                <a:lnTo>
                  <a:pt x="0" y="154533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0" id="10"/>
          <p:cNvSpPr txBox="true"/>
          <p:nvPr/>
        </p:nvSpPr>
        <p:spPr>
          <a:xfrm rot="0">
            <a:off x="1048847" y="1114425"/>
            <a:ext cx="6617017" cy="2063680"/>
          </a:xfrm>
          <a:prstGeom prst="rect">
            <a:avLst/>
          </a:prstGeom>
        </p:spPr>
        <p:txBody>
          <a:bodyPr anchor="t" rtlCol="false" tIns="0" lIns="0" bIns="0" rIns="0">
            <a:spAutoFit/>
          </a:bodyPr>
          <a:lstStyle/>
          <a:p>
            <a:pPr algn="l" marL="0" indent="0" lvl="0">
              <a:lnSpc>
                <a:spcPts val="16090"/>
              </a:lnSpc>
              <a:spcBef>
                <a:spcPct val="0"/>
              </a:spcBef>
            </a:pPr>
            <a:r>
              <a:rPr lang="en-US" b="true" sz="14114" spc="-1016">
                <a:solidFill>
                  <a:srgbClr val="DBDBDB"/>
                </a:solidFill>
                <a:latin typeface="Open Sauce Bold"/>
                <a:ea typeface="Open Sauce Bold"/>
                <a:cs typeface="Open Sauce Bold"/>
                <a:sym typeface="Open Sauce Bold"/>
              </a:rPr>
              <a:t>Why is it</a:t>
            </a:r>
          </a:p>
        </p:txBody>
      </p:sp>
      <p:sp>
        <p:nvSpPr>
          <p:cNvPr name="TextBox 11" id="11"/>
          <p:cNvSpPr txBox="true"/>
          <p:nvPr/>
        </p:nvSpPr>
        <p:spPr>
          <a:xfrm rot="0">
            <a:off x="1098558" y="3034008"/>
            <a:ext cx="6077682" cy="1746174"/>
          </a:xfrm>
          <a:prstGeom prst="rect">
            <a:avLst/>
          </a:prstGeom>
        </p:spPr>
        <p:txBody>
          <a:bodyPr anchor="t" rtlCol="false" tIns="0" lIns="0" bIns="0" rIns="0">
            <a:spAutoFit/>
          </a:bodyPr>
          <a:lstStyle/>
          <a:p>
            <a:pPr algn="l" marL="0" indent="0" lvl="0">
              <a:lnSpc>
                <a:spcPts val="13677"/>
              </a:lnSpc>
              <a:spcBef>
                <a:spcPct val="0"/>
              </a:spcBef>
            </a:pPr>
            <a:r>
              <a:rPr lang="en-US" sz="11997" i="true" spc="-863">
                <a:solidFill>
                  <a:srgbClr val="0012FF"/>
                </a:solidFill>
                <a:latin typeface="Libre Baskerville Italics"/>
                <a:ea typeface="Libre Baskerville Italics"/>
                <a:cs typeface="Libre Baskerville Italics"/>
                <a:sym typeface="Libre Baskerville Italics"/>
              </a:rPr>
              <a:t>Effective?</a:t>
            </a:r>
          </a:p>
        </p:txBody>
      </p:sp>
      <p:sp>
        <p:nvSpPr>
          <p:cNvPr name="TextBox 12" id="12"/>
          <p:cNvSpPr txBox="true"/>
          <p:nvPr/>
        </p:nvSpPr>
        <p:spPr>
          <a:xfrm rot="0">
            <a:off x="1948883" y="6458922"/>
            <a:ext cx="9125691" cy="720401"/>
          </a:xfrm>
          <a:prstGeom prst="rect">
            <a:avLst/>
          </a:prstGeom>
        </p:spPr>
        <p:txBody>
          <a:bodyPr anchor="t" rtlCol="false" tIns="0" lIns="0" bIns="0" rIns="0">
            <a:spAutoFit/>
          </a:bodyPr>
          <a:lstStyle/>
          <a:p>
            <a:pPr algn="l">
              <a:lnSpc>
                <a:spcPts val="2849"/>
              </a:lnSpc>
            </a:pPr>
            <a:r>
              <a:rPr lang="en-US" sz="2613" b="true">
                <a:solidFill>
                  <a:srgbClr val="DBDBDB"/>
                </a:solidFill>
                <a:latin typeface="Open Sauce Medium"/>
                <a:ea typeface="Open Sauce Medium"/>
                <a:cs typeface="Open Sauce Medium"/>
                <a:sym typeface="Open Sauce Medium"/>
              </a:rPr>
              <a:t>THE CAMPAIGN APPEALS TO THE EMOTIONS NOT JUST INFORMATION</a:t>
            </a:r>
          </a:p>
        </p:txBody>
      </p:sp>
      <p:sp>
        <p:nvSpPr>
          <p:cNvPr name="TextBox 13" id="13"/>
          <p:cNvSpPr txBox="true"/>
          <p:nvPr/>
        </p:nvSpPr>
        <p:spPr>
          <a:xfrm rot="0">
            <a:off x="1948883" y="7455548"/>
            <a:ext cx="9125691" cy="720401"/>
          </a:xfrm>
          <a:prstGeom prst="rect">
            <a:avLst/>
          </a:prstGeom>
        </p:spPr>
        <p:txBody>
          <a:bodyPr anchor="t" rtlCol="false" tIns="0" lIns="0" bIns="0" rIns="0">
            <a:spAutoFit/>
          </a:bodyPr>
          <a:lstStyle/>
          <a:p>
            <a:pPr algn="l">
              <a:lnSpc>
                <a:spcPts val="2849"/>
              </a:lnSpc>
            </a:pPr>
            <a:r>
              <a:rPr lang="en-US" sz="2613" b="true">
                <a:solidFill>
                  <a:srgbClr val="DBDBDB"/>
                </a:solidFill>
                <a:latin typeface="Open Sauce Medium"/>
                <a:ea typeface="Open Sauce Medium"/>
                <a:cs typeface="Open Sauce Medium"/>
                <a:sym typeface="Open Sauce Medium"/>
              </a:rPr>
              <a:t>THE PHILOSOPHY APPEALS TO THE YOUNGER GENERATION BECAUSE IT WORKS TO INSPIRE</a:t>
            </a:r>
          </a:p>
        </p:txBody>
      </p:sp>
      <p:sp>
        <p:nvSpPr>
          <p:cNvPr name="TextBox 14" id="14"/>
          <p:cNvSpPr txBox="true"/>
          <p:nvPr/>
        </p:nvSpPr>
        <p:spPr>
          <a:xfrm rot="0">
            <a:off x="1948883" y="8537899"/>
            <a:ext cx="9125691" cy="720401"/>
          </a:xfrm>
          <a:prstGeom prst="rect">
            <a:avLst/>
          </a:prstGeom>
        </p:spPr>
        <p:txBody>
          <a:bodyPr anchor="t" rtlCol="false" tIns="0" lIns="0" bIns="0" rIns="0">
            <a:spAutoFit/>
          </a:bodyPr>
          <a:lstStyle/>
          <a:p>
            <a:pPr algn="l">
              <a:lnSpc>
                <a:spcPts val="2849"/>
              </a:lnSpc>
              <a:spcBef>
                <a:spcPct val="0"/>
              </a:spcBef>
            </a:pPr>
            <a:r>
              <a:rPr lang="en-US" b="true" sz="2613">
                <a:solidFill>
                  <a:srgbClr val="DBDBDB"/>
                </a:solidFill>
                <a:latin typeface="Open Sauce Medium"/>
                <a:ea typeface="Open Sauce Medium"/>
                <a:cs typeface="Open Sauce Medium"/>
                <a:sym typeface="Open Sauce Medium"/>
              </a:rPr>
              <a:t>HELPED PIVOT THE BRAND FROM JUST A “TECH BRAND” TO STRIVING TO BE A ‘BELOVED ICONIC BRAND’</a:t>
            </a:r>
          </a:p>
        </p:txBody>
      </p:sp>
      <p:sp>
        <p:nvSpPr>
          <p:cNvPr name="TextBox 15" id="15"/>
          <p:cNvSpPr txBox="true"/>
          <p:nvPr/>
        </p:nvSpPr>
        <p:spPr>
          <a:xfrm rot="0">
            <a:off x="1948883" y="5430894"/>
            <a:ext cx="9125691" cy="720401"/>
          </a:xfrm>
          <a:prstGeom prst="rect">
            <a:avLst/>
          </a:prstGeom>
        </p:spPr>
        <p:txBody>
          <a:bodyPr anchor="t" rtlCol="false" tIns="0" lIns="0" bIns="0" rIns="0">
            <a:spAutoFit/>
          </a:bodyPr>
          <a:lstStyle/>
          <a:p>
            <a:pPr algn="l">
              <a:lnSpc>
                <a:spcPts val="2849"/>
              </a:lnSpc>
              <a:spcBef>
                <a:spcPct val="0"/>
              </a:spcBef>
            </a:pPr>
            <a:r>
              <a:rPr lang="en-US" b="true" sz="2613">
                <a:solidFill>
                  <a:srgbClr val="DBDBDB"/>
                </a:solidFill>
                <a:latin typeface="Open Sauce Medium"/>
                <a:ea typeface="Open Sauce Medium"/>
                <a:cs typeface="Open Sauce Medium"/>
                <a:sym typeface="Open Sauce Medium"/>
              </a:rPr>
              <a:t>POSITIVE CAMPAIGN ABOUT BEING DIFFERENT, DEFYING LIMITATIONS, AND OVERCOMING BARRIERS</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231F20"/>
        </a:solidFill>
      </p:bgPr>
    </p:bg>
    <p:spTree>
      <p:nvGrpSpPr>
        <p:cNvPr id="1" name=""/>
        <p:cNvGrpSpPr/>
        <p:nvPr/>
      </p:nvGrpSpPr>
      <p:grpSpPr>
        <a:xfrm>
          <a:off x="0" y="0"/>
          <a:ext cx="0" cy="0"/>
          <a:chOff x="0" y="0"/>
          <a:chExt cx="0" cy="0"/>
        </a:xfrm>
      </p:grpSpPr>
      <p:sp>
        <p:nvSpPr>
          <p:cNvPr name="TextBox 2" id="2"/>
          <p:cNvSpPr txBox="true"/>
          <p:nvPr/>
        </p:nvSpPr>
        <p:spPr>
          <a:xfrm rot="0">
            <a:off x="1775993" y="1290027"/>
            <a:ext cx="9467349" cy="1625306"/>
          </a:xfrm>
          <a:prstGeom prst="rect">
            <a:avLst/>
          </a:prstGeom>
        </p:spPr>
        <p:txBody>
          <a:bodyPr anchor="t" rtlCol="false" tIns="0" lIns="0" bIns="0" rIns="0">
            <a:spAutoFit/>
          </a:bodyPr>
          <a:lstStyle/>
          <a:p>
            <a:pPr algn="ctr" marL="0" indent="0" lvl="0">
              <a:lnSpc>
                <a:spcPts val="12682"/>
              </a:lnSpc>
              <a:spcBef>
                <a:spcPct val="0"/>
              </a:spcBef>
            </a:pPr>
            <a:r>
              <a:rPr lang="en-US" b="true" sz="11125" spc="-801">
                <a:solidFill>
                  <a:srgbClr val="F8F6F7"/>
                </a:solidFill>
                <a:latin typeface="Open Sauce Medium"/>
                <a:ea typeface="Open Sauce Medium"/>
                <a:cs typeface="Open Sauce Medium"/>
                <a:sym typeface="Open Sauce Medium"/>
              </a:rPr>
              <a:t>#DoWhatYouCan’t  </a:t>
            </a:r>
          </a:p>
        </p:txBody>
      </p:sp>
      <p:sp>
        <p:nvSpPr>
          <p:cNvPr name="TextBox 3" id="3"/>
          <p:cNvSpPr txBox="true"/>
          <p:nvPr/>
        </p:nvSpPr>
        <p:spPr>
          <a:xfrm rot="0">
            <a:off x="1775993" y="2723607"/>
            <a:ext cx="5397835" cy="1161940"/>
          </a:xfrm>
          <a:prstGeom prst="rect">
            <a:avLst/>
          </a:prstGeom>
        </p:spPr>
        <p:txBody>
          <a:bodyPr anchor="t" rtlCol="false" tIns="0" lIns="0" bIns="0" rIns="0">
            <a:spAutoFit/>
          </a:bodyPr>
          <a:lstStyle/>
          <a:p>
            <a:pPr algn="l" marL="0" indent="0" lvl="0">
              <a:lnSpc>
                <a:spcPts val="9097"/>
              </a:lnSpc>
              <a:spcBef>
                <a:spcPct val="0"/>
              </a:spcBef>
            </a:pPr>
            <a:r>
              <a:rPr lang="en-US" sz="7979" i="true" spc="-574">
                <a:solidFill>
                  <a:srgbClr val="0012FF"/>
                </a:solidFill>
                <a:latin typeface="Libre Baskerville Italics"/>
                <a:ea typeface="Libre Baskerville Italics"/>
                <a:cs typeface="Libre Baskerville Italics"/>
                <a:sym typeface="Libre Baskerville Italics"/>
              </a:rPr>
              <a:t>Continued</a:t>
            </a:r>
          </a:p>
        </p:txBody>
      </p:sp>
      <p:pic>
        <p:nvPicPr>
          <p:cNvPr name="Picture 4" id="4"/>
          <p:cNvPicPr>
            <a:picLocks noChangeAspect="true"/>
          </p:cNvPicPr>
          <p:nvPr>
            <a:videoFile r:link="rId3"/>
          </p:nvPr>
        </p:nvPicPr>
        <p:blipFill>
          <a:blip r:embed="rId2"/>
          <a:stretch>
            <a:fillRect/>
          </a:stretch>
        </p:blipFill>
        <p:spPr>
          <a:xfrm rot="0">
            <a:off x="9323411" y="4485885"/>
            <a:ext cx="3564894" cy="2005252"/>
          </a:xfrm>
          <a:prstGeom prst="rect">
            <a:avLst/>
          </a:prstGeom>
        </p:spPr>
      </p:pic>
      <p:pic>
        <p:nvPicPr>
          <p:cNvPr name="Picture 5" id="5"/>
          <p:cNvPicPr>
            <a:picLocks noChangeAspect="true"/>
          </p:cNvPicPr>
          <p:nvPr>
            <a:videoFile r:link="rId4"/>
          </p:nvPr>
        </p:nvPicPr>
        <p:blipFill>
          <a:blip r:embed="rId2"/>
          <a:stretch>
            <a:fillRect/>
          </a:stretch>
        </p:blipFill>
        <p:spPr>
          <a:xfrm rot="0">
            <a:off x="1775993" y="4485885"/>
            <a:ext cx="3564894" cy="2005252"/>
          </a:xfrm>
          <a:prstGeom prst="rect">
            <a:avLst/>
          </a:prstGeom>
        </p:spPr>
      </p:pic>
      <p:pic>
        <p:nvPicPr>
          <p:cNvPr name="Picture 6" id="6"/>
          <p:cNvPicPr>
            <a:picLocks noChangeAspect="true"/>
          </p:cNvPicPr>
          <p:nvPr>
            <a:videoFile r:link="rId5"/>
          </p:nvPr>
        </p:nvPicPr>
        <p:blipFill>
          <a:blip r:embed="rId2"/>
          <a:stretch>
            <a:fillRect/>
          </a:stretch>
        </p:blipFill>
        <p:spPr>
          <a:xfrm rot="0">
            <a:off x="5340886" y="4502425"/>
            <a:ext cx="3982525" cy="2005252"/>
          </a:xfrm>
          <a:prstGeom prst="rect">
            <a:avLst/>
          </a:prstGeom>
        </p:spPr>
      </p:pic>
      <p:pic>
        <p:nvPicPr>
          <p:cNvPr name="Picture 7" id="7"/>
          <p:cNvPicPr>
            <a:picLocks noChangeAspect="true"/>
          </p:cNvPicPr>
          <p:nvPr>
            <a:videoFile r:link="rId6"/>
          </p:nvPr>
        </p:nvPicPr>
        <p:blipFill>
          <a:blip r:embed="rId2"/>
          <a:stretch>
            <a:fillRect/>
          </a:stretch>
        </p:blipFill>
        <p:spPr>
          <a:xfrm rot="0">
            <a:off x="12888305" y="4502425"/>
            <a:ext cx="3535489" cy="1988712"/>
          </a:xfrm>
          <a:prstGeom prst="rect">
            <a:avLst/>
          </a:prstGeom>
        </p:spPr>
      </p:pic>
      <p:sp>
        <p:nvSpPr>
          <p:cNvPr name="TextBox 8" id="8"/>
          <p:cNvSpPr txBox="true"/>
          <p:nvPr/>
        </p:nvSpPr>
        <p:spPr>
          <a:xfrm rot="0">
            <a:off x="12477914" y="7901708"/>
            <a:ext cx="4016008" cy="1161940"/>
          </a:xfrm>
          <a:prstGeom prst="rect">
            <a:avLst/>
          </a:prstGeom>
        </p:spPr>
        <p:txBody>
          <a:bodyPr anchor="t" rtlCol="false" tIns="0" lIns="0" bIns="0" rIns="0">
            <a:spAutoFit/>
          </a:bodyPr>
          <a:lstStyle/>
          <a:p>
            <a:pPr algn="l" marL="0" indent="0" lvl="0">
              <a:lnSpc>
                <a:spcPts val="9097"/>
              </a:lnSpc>
              <a:spcBef>
                <a:spcPct val="0"/>
              </a:spcBef>
            </a:pPr>
            <a:r>
              <a:rPr lang="en-US" sz="7979" i="true" spc="-574">
                <a:solidFill>
                  <a:srgbClr val="0012FF"/>
                </a:solidFill>
                <a:latin typeface="Libre Baskerville Italics"/>
                <a:ea typeface="Libre Baskerville Italics"/>
                <a:cs typeface="Libre Baskerville Italics"/>
                <a:sym typeface="Libre Baskerville Italics"/>
              </a:rPr>
              <a:t>and more...</a:t>
            </a:r>
          </a:p>
        </p:txBody>
      </p:sp>
      <p:pic>
        <p:nvPicPr>
          <p:cNvPr name="Picture 9" id="9"/>
          <p:cNvPicPr>
            <a:picLocks noChangeAspect="true"/>
          </p:cNvPicPr>
          <p:nvPr>
            <a:videoFile r:link="rId7"/>
          </p:nvPr>
        </p:nvPicPr>
        <p:blipFill>
          <a:blip r:embed="rId2"/>
          <a:stretch>
            <a:fillRect/>
          </a:stretch>
        </p:blipFill>
        <p:spPr>
          <a:xfrm rot="0">
            <a:off x="1775993" y="7074935"/>
            <a:ext cx="3949675" cy="1988712"/>
          </a:xfrm>
          <a:prstGeom prst="rect">
            <a:avLst/>
          </a:prstGeom>
        </p:spPr>
      </p:pic>
      <p:pic>
        <p:nvPicPr>
          <p:cNvPr name="Picture 10" id="10"/>
          <p:cNvPicPr>
            <a:picLocks noChangeAspect="true"/>
          </p:cNvPicPr>
          <p:nvPr>
            <a:videoFile r:link="rId8"/>
          </p:nvPr>
        </p:nvPicPr>
        <p:blipFill>
          <a:blip r:embed="rId2"/>
          <a:stretch>
            <a:fillRect/>
          </a:stretch>
        </p:blipFill>
        <p:spPr>
          <a:xfrm rot="0">
            <a:off x="5725668" y="7074935"/>
            <a:ext cx="3535489" cy="1988712"/>
          </a:xfrm>
          <a:prstGeom prst="rect">
            <a:avLst/>
          </a:prstGeom>
        </p:spPr>
      </p:pic>
      <p:sp>
        <p:nvSpPr>
          <p:cNvPr name="Freeform 11" id="11"/>
          <p:cNvSpPr/>
          <p:nvPr/>
        </p:nvSpPr>
        <p:spPr>
          <a:xfrm flipH="false" flipV="false" rot="-3641859">
            <a:off x="15026755" y="-1809037"/>
            <a:ext cx="6736363" cy="6368925"/>
          </a:xfrm>
          <a:custGeom>
            <a:avLst/>
            <a:gdLst/>
            <a:ahLst/>
            <a:cxnLst/>
            <a:rect r="r" b="b" t="t" l="l"/>
            <a:pathLst>
              <a:path h="6368925" w="6736363">
                <a:moveTo>
                  <a:pt x="0" y="0"/>
                </a:moveTo>
                <a:lnTo>
                  <a:pt x="6736363" y="0"/>
                </a:lnTo>
                <a:lnTo>
                  <a:pt x="6736363" y="6368926"/>
                </a:lnTo>
                <a:lnTo>
                  <a:pt x="0" y="6368926"/>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F8F6F1"/>
        </a:solidFill>
      </p:bgPr>
    </p:bg>
    <p:spTree>
      <p:nvGrpSpPr>
        <p:cNvPr id="1" name=""/>
        <p:cNvGrpSpPr/>
        <p:nvPr/>
      </p:nvGrpSpPr>
      <p:grpSpPr>
        <a:xfrm>
          <a:off x="0" y="0"/>
          <a:ext cx="0" cy="0"/>
          <a:chOff x="0" y="0"/>
          <a:chExt cx="0" cy="0"/>
        </a:xfrm>
      </p:grpSpPr>
      <p:sp>
        <p:nvSpPr>
          <p:cNvPr name="Freeform 2" id="2"/>
          <p:cNvSpPr/>
          <p:nvPr/>
        </p:nvSpPr>
        <p:spPr>
          <a:xfrm flipH="false" flipV="false" rot="0">
            <a:off x="13311323" y="7254243"/>
            <a:ext cx="6246740" cy="6281000"/>
          </a:xfrm>
          <a:custGeom>
            <a:avLst/>
            <a:gdLst/>
            <a:ahLst/>
            <a:cxnLst/>
            <a:rect r="r" b="b" t="t" l="l"/>
            <a:pathLst>
              <a:path h="6281000" w="6246740">
                <a:moveTo>
                  <a:pt x="0" y="0"/>
                </a:moveTo>
                <a:lnTo>
                  <a:pt x="6246739" y="0"/>
                </a:lnTo>
                <a:lnTo>
                  <a:pt x="6246739" y="6281000"/>
                </a:lnTo>
                <a:lnTo>
                  <a:pt x="0" y="6281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3062665" y="7254243"/>
            <a:ext cx="7365874" cy="7365874"/>
          </a:xfrm>
          <a:custGeom>
            <a:avLst/>
            <a:gdLst/>
            <a:ahLst/>
            <a:cxnLst/>
            <a:rect r="r" b="b" t="t" l="l"/>
            <a:pathLst>
              <a:path h="7365874" w="7365874">
                <a:moveTo>
                  <a:pt x="0" y="0"/>
                </a:moveTo>
                <a:lnTo>
                  <a:pt x="7365875" y="0"/>
                </a:lnTo>
                <a:lnTo>
                  <a:pt x="7365875" y="7365874"/>
                </a:lnTo>
                <a:lnTo>
                  <a:pt x="0" y="736587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2518440" y="-3114742"/>
            <a:ext cx="5968153" cy="6000885"/>
          </a:xfrm>
          <a:custGeom>
            <a:avLst/>
            <a:gdLst/>
            <a:ahLst/>
            <a:cxnLst/>
            <a:rect r="r" b="b" t="t" l="l"/>
            <a:pathLst>
              <a:path h="6000885" w="5968153">
                <a:moveTo>
                  <a:pt x="0" y="0"/>
                </a:moveTo>
                <a:lnTo>
                  <a:pt x="5968153" y="0"/>
                </a:lnTo>
                <a:lnTo>
                  <a:pt x="5968153" y="6000884"/>
                </a:lnTo>
                <a:lnTo>
                  <a:pt x="0" y="600088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3641859">
            <a:off x="14582144" y="-2536717"/>
            <a:ext cx="6736363" cy="6368925"/>
          </a:xfrm>
          <a:custGeom>
            <a:avLst/>
            <a:gdLst/>
            <a:ahLst/>
            <a:cxnLst/>
            <a:rect r="r" b="b" t="t" l="l"/>
            <a:pathLst>
              <a:path h="6368925" w="6736363">
                <a:moveTo>
                  <a:pt x="0" y="0"/>
                </a:moveTo>
                <a:lnTo>
                  <a:pt x="6736363" y="0"/>
                </a:lnTo>
                <a:lnTo>
                  <a:pt x="6736363" y="6368926"/>
                </a:lnTo>
                <a:lnTo>
                  <a:pt x="0" y="636892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8111397" y="1319831"/>
            <a:ext cx="2065206" cy="2581507"/>
          </a:xfrm>
          <a:custGeom>
            <a:avLst/>
            <a:gdLst/>
            <a:ahLst/>
            <a:cxnLst/>
            <a:rect r="r" b="b" t="t" l="l"/>
            <a:pathLst>
              <a:path h="2581507" w="2065206">
                <a:moveTo>
                  <a:pt x="0" y="0"/>
                </a:moveTo>
                <a:lnTo>
                  <a:pt x="2065206" y="0"/>
                </a:lnTo>
                <a:lnTo>
                  <a:pt x="2065206" y="2581507"/>
                </a:lnTo>
                <a:lnTo>
                  <a:pt x="0" y="258150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7" id="7"/>
          <p:cNvSpPr txBox="true"/>
          <p:nvPr/>
        </p:nvSpPr>
        <p:spPr>
          <a:xfrm rot="0">
            <a:off x="2183643" y="5266488"/>
            <a:ext cx="13920714" cy="972559"/>
          </a:xfrm>
          <a:prstGeom prst="rect">
            <a:avLst/>
          </a:prstGeom>
        </p:spPr>
        <p:txBody>
          <a:bodyPr anchor="t" rtlCol="false" tIns="0" lIns="0" bIns="0" rIns="0">
            <a:spAutoFit/>
          </a:bodyPr>
          <a:lstStyle/>
          <a:p>
            <a:pPr algn="ctr" marL="0" indent="0" lvl="0">
              <a:lnSpc>
                <a:spcPts val="7516"/>
              </a:lnSpc>
            </a:pPr>
            <a:r>
              <a:rPr lang="en-US" sz="6593" i="true" spc="-474">
                <a:solidFill>
                  <a:srgbClr val="00C28D"/>
                </a:solidFill>
                <a:latin typeface="Libre Baskerville Italics"/>
                <a:ea typeface="Libre Baskerville Italics"/>
                <a:cs typeface="Libre Baskerville Italics"/>
                <a:sym typeface="Libre Baskerville Italics"/>
              </a:rPr>
              <a:t>Microsoft's "Bing It On"</a:t>
            </a:r>
          </a:p>
        </p:txBody>
      </p:sp>
      <p:sp>
        <p:nvSpPr>
          <p:cNvPr name="TextBox 8" id="8"/>
          <p:cNvSpPr txBox="true"/>
          <p:nvPr/>
        </p:nvSpPr>
        <p:spPr>
          <a:xfrm rot="0">
            <a:off x="1885040" y="3939438"/>
            <a:ext cx="14517920" cy="1175384"/>
          </a:xfrm>
          <a:prstGeom prst="rect">
            <a:avLst/>
          </a:prstGeom>
        </p:spPr>
        <p:txBody>
          <a:bodyPr anchor="t" rtlCol="false" tIns="0" lIns="0" bIns="0" rIns="0">
            <a:spAutoFit/>
          </a:bodyPr>
          <a:lstStyle/>
          <a:p>
            <a:pPr algn="ctr" marL="0" indent="0" lvl="0">
              <a:lnSpc>
                <a:spcPts val="9119"/>
              </a:lnSpc>
            </a:pPr>
            <a:r>
              <a:rPr lang="en-US" b="true" sz="7999" spc="-575">
                <a:solidFill>
                  <a:srgbClr val="000000"/>
                </a:solidFill>
                <a:latin typeface="Open Sauce Bold"/>
                <a:ea typeface="Open Sauce Bold"/>
                <a:cs typeface="Open Sauce Bold"/>
                <a:sym typeface="Open Sauce Bold"/>
              </a:rPr>
              <a:t>Durable product - Ineffective </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F8F6F1"/>
        </a:solidFill>
      </p:bgPr>
    </p:bg>
    <p:spTree>
      <p:nvGrpSpPr>
        <p:cNvPr id="1" name=""/>
        <p:cNvGrpSpPr/>
        <p:nvPr/>
      </p:nvGrpSpPr>
      <p:grpSpPr>
        <a:xfrm>
          <a:off x="0" y="0"/>
          <a:ext cx="0" cy="0"/>
          <a:chOff x="0" y="0"/>
          <a:chExt cx="0" cy="0"/>
        </a:xfrm>
      </p:grpSpPr>
      <p:sp>
        <p:nvSpPr>
          <p:cNvPr name="Freeform 2" id="2"/>
          <p:cNvSpPr/>
          <p:nvPr/>
        </p:nvSpPr>
        <p:spPr>
          <a:xfrm flipH="false" flipV="false" rot="0">
            <a:off x="-4408880" y="633468"/>
            <a:ext cx="9521871" cy="9574094"/>
          </a:xfrm>
          <a:custGeom>
            <a:avLst/>
            <a:gdLst/>
            <a:ahLst/>
            <a:cxnLst/>
            <a:rect r="r" b="b" t="t" l="l"/>
            <a:pathLst>
              <a:path h="9574094" w="9521871">
                <a:moveTo>
                  <a:pt x="0" y="0"/>
                </a:moveTo>
                <a:lnTo>
                  <a:pt x="9521872" y="0"/>
                </a:lnTo>
                <a:lnTo>
                  <a:pt x="9521872" y="9574093"/>
                </a:lnTo>
                <a:lnTo>
                  <a:pt x="0" y="957409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6076944" y="7712713"/>
            <a:ext cx="11182356" cy="1397000"/>
          </a:xfrm>
          <a:prstGeom prst="rect">
            <a:avLst/>
          </a:prstGeom>
        </p:spPr>
        <p:txBody>
          <a:bodyPr anchor="t" rtlCol="false" tIns="0" lIns="0" bIns="0" rIns="0">
            <a:spAutoFit/>
          </a:bodyPr>
          <a:lstStyle/>
          <a:p>
            <a:pPr algn="l" marL="431797" indent="-215899" lvl="1">
              <a:lnSpc>
                <a:spcPts val="2799"/>
              </a:lnSpc>
              <a:buFont typeface="Arial"/>
              <a:buChar char="•"/>
            </a:pPr>
            <a:r>
              <a:rPr lang="en-US" sz="1999">
                <a:solidFill>
                  <a:srgbClr val="000000"/>
                </a:solidFill>
                <a:latin typeface="Open Sauce Light"/>
                <a:ea typeface="Open Sauce Light"/>
                <a:cs typeface="Open Sauce Light"/>
                <a:sym typeface="Open Sauce Light"/>
              </a:rPr>
              <a:t>Launched in 2012 as a Blind comparison test between Bing and Google search results.</a:t>
            </a:r>
          </a:p>
          <a:p>
            <a:pPr algn="l" marL="431797" indent="-215899" lvl="1">
              <a:lnSpc>
                <a:spcPts val="2799"/>
              </a:lnSpc>
              <a:buFont typeface="Arial"/>
              <a:buChar char="•"/>
            </a:pPr>
            <a:r>
              <a:rPr lang="en-US" sz="1999">
                <a:solidFill>
                  <a:srgbClr val="000000"/>
                </a:solidFill>
                <a:latin typeface="Open Sauce Light"/>
                <a:ea typeface="Open Sauce Light"/>
                <a:cs typeface="Open Sauce Light"/>
                <a:sym typeface="Open Sauce Light"/>
              </a:rPr>
              <a:t>Encouraged users to use both search engines and choose which search results they preferred, not knowing which they were using.</a:t>
            </a:r>
          </a:p>
          <a:p>
            <a:pPr algn="l" marL="431797" indent="-215899" lvl="1">
              <a:lnSpc>
                <a:spcPts val="2799"/>
              </a:lnSpc>
              <a:spcBef>
                <a:spcPct val="0"/>
              </a:spcBef>
              <a:buFont typeface="Arial"/>
              <a:buChar char="•"/>
            </a:pPr>
            <a:r>
              <a:rPr lang="en-US" sz="1999">
                <a:solidFill>
                  <a:srgbClr val="000000"/>
                </a:solidFill>
                <a:latin typeface="Open Sauce Light"/>
                <a:ea typeface="Open Sauce Light"/>
                <a:cs typeface="Open Sauce Light"/>
                <a:sym typeface="Open Sauce Light"/>
              </a:rPr>
              <a:t>Failed to significantly dent Google's dominance in the search engine market.</a:t>
            </a:r>
          </a:p>
        </p:txBody>
      </p:sp>
      <p:sp>
        <p:nvSpPr>
          <p:cNvPr name="TextBox 4" id="4"/>
          <p:cNvSpPr txBox="true"/>
          <p:nvPr/>
        </p:nvSpPr>
        <p:spPr>
          <a:xfrm rot="0">
            <a:off x="6076944" y="7264276"/>
            <a:ext cx="11182356" cy="296037"/>
          </a:xfrm>
          <a:prstGeom prst="rect">
            <a:avLst/>
          </a:prstGeom>
        </p:spPr>
        <p:txBody>
          <a:bodyPr anchor="t" rtlCol="false" tIns="0" lIns="0" bIns="0" rIns="0">
            <a:spAutoFit/>
          </a:bodyPr>
          <a:lstStyle/>
          <a:p>
            <a:pPr algn="l">
              <a:lnSpc>
                <a:spcPts val="2289"/>
              </a:lnSpc>
            </a:pPr>
            <a:r>
              <a:rPr lang="en-US" sz="2100" b="true">
                <a:solidFill>
                  <a:srgbClr val="000000"/>
                </a:solidFill>
                <a:latin typeface="Open Sauce Medium"/>
                <a:ea typeface="Open Sauce Medium"/>
                <a:cs typeface="Open Sauce Medium"/>
                <a:sym typeface="Open Sauce Medium"/>
              </a:rPr>
              <a:t>THE “BING IT ON” CAMPAIGN</a:t>
            </a:r>
          </a:p>
        </p:txBody>
      </p:sp>
      <p:sp>
        <p:nvSpPr>
          <p:cNvPr name="TextBox 5" id="5"/>
          <p:cNvSpPr txBox="true"/>
          <p:nvPr/>
        </p:nvSpPr>
        <p:spPr>
          <a:xfrm rot="0">
            <a:off x="6076944" y="719193"/>
            <a:ext cx="11182356" cy="2350770"/>
          </a:xfrm>
          <a:prstGeom prst="rect">
            <a:avLst/>
          </a:prstGeom>
        </p:spPr>
        <p:txBody>
          <a:bodyPr anchor="t" rtlCol="false" tIns="0" lIns="0" bIns="0" rIns="0">
            <a:spAutoFit/>
          </a:bodyPr>
          <a:lstStyle/>
          <a:p>
            <a:pPr algn="l" marL="0" indent="0" lvl="0">
              <a:lnSpc>
                <a:spcPts val="18239"/>
              </a:lnSpc>
              <a:spcBef>
                <a:spcPct val="0"/>
              </a:spcBef>
            </a:pPr>
            <a:r>
              <a:rPr lang="en-US" sz="15999" spc="-1151">
                <a:solidFill>
                  <a:srgbClr val="000000"/>
                </a:solidFill>
                <a:latin typeface="Open Sauce Light"/>
                <a:ea typeface="Open Sauce Light"/>
                <a:cs typeface="Open Sauce Light"/>
                <a:sym typeface="Open Sauce Light"/>
              </a:rPr>
              <a:t>Background</a:t>
            </a:r>
          </a:p>
        </p:txBody>
      </p:sp>
      <p:sp>
        <p:nvSpPr>
          <p:cNvPr name="TextBox 6" id="6"/>
          <p:cNvSpPr txBox="true"/>
          <p:nvPr/>
        </p:nvSpPr>
        <p:spPr>
          <a:xfrm rot="0">
            <a:off x="6076944" y="2792780"/>
            <a:ext cx="11182356" cy="2350770"/>
          </a:xfrm>
          <a:prstGeom prst="rect">
            <a:avLst/>
          </a:prstGeom>
        </p:spPr>
        <p:txBody>
          <a:bodyPr anchor="t" rtlCol="false" tIns="0" lIns="0" bIns="0" rIns="0">
            <a:spAutoFit/>
          </a:bodyPr>
          <a:lstStyle/>
          <a:p>
            <a:pPr algn="l" marL="0" indent="0" lvl="0">
              <a:lnSpc>
                <a:spcPts val="18239"/>
              </a:lnSpc>
              <a:spcBef>
                <a:spcPct val="0"/>
              </a:spcBef>
            </a:pPr>
            <a:r>
              <a:rPr lang="en-US" b="true" sz="15999" spc="-1151">
                <a:solidFill>
                  <a:srgbClr val="00C28D"/>
                </a:solidFill>
                <a:latin typeface="Open Sauce Medium"/>
                <a:ea typeface="Open Sauce Medium"/>
                <a:cs typeface="Open Sauce Medium"/>
                <a:sym typeface="Open Sauce Medium"/>
              </a:rPr>
              <a:t>Information</a:t>
            </a:r>
          </a:p>
        </p:txBody>
      </p:sp>
      <p:sp>
        <p:nvSpPr>
          <p:cNvPr name="TextBox 7" id="7"/>
          <p:cNvSpPr txBox="true"/>
          <p:nvPr/>
        </p:nvSpPr>
        <p:spPr>
          <a:xfrm rot="0">
            <a:off x="6076944" y="5386412"/>
            <a:ext cx="11182356" cy="296037"/>
          </a:xfrm>
          <a:prstGeom prst="rect">
            <a:avLst/>
          </a:prstGeom>
        </p:spPr>
        <p:txBody>
          <a:bodyPr anchor="t" rtlCol="false" tIns="0" lIns="0" bIns="0" rIns="0">
            <a:spAutoFit/>
          </a:bodyPr>
          <a:lstStyle/>
          <a:p>
            <a:pPr algn="l">
              <a:lnSpc>
                <a:spcPts val="2289"/>
              </a:lnSpc>
            </a:pPr>
            <a:r>
              <a:rPr lang="en-US" sz="2100" b="true">
                <a:solidFill>
                  <a:srgbClr val="000000"/>
                </a:solidFill>
                <a:latin typeface="Open Sauce Medium"/>
                <a:ea typeface="Open Sauce Medium"/>
                <a:cs typeface="Open Sauce Medium"/>
                <a:sym typeface="Open Sauce Medium"/>
              </a:rPr>
              <a:t>THE ORIGIN OF MICROSOFT </a:t>
            </a:r>
          </a:p>
        </p:txBody>
      </p:sp>
      <p:sp>
        <p:nvSpPr>
          <p:cNvPr name="TextBox 8" id="8"/>
          <p:cNvSpPr txBox="true"/>
          <p:nvPr/>
        </p:nvSpPr>
        <p:spPr>
          <a:xfrm rot="0">
            <a:off x="6076944" y="5831503"/>
            <a:ext cx="11182356" cy="1044575"/>
          </a:xfrm>
          <a:prstGeom prst="rect">
            <a:avLst/>
          </a:prstGeom>
        </p:spPr>
        <p:txBody>
          <a:bodyPr anchor="t" rtlCol="false" tIns="0" lIns="0" bIns="0" rIns="0">
            <a:spAutoFit/>
          </a:bodyPr>
          <a:lstStyle/>
          <a:p>
            <a:pPr algn="l" marL="431797" indent="-215899" lvl="1">
              <a:lnSpc>
                <a:spcPts val="2799"/>
              </a:lnSpc>
              <a:buFont typeface="Arial"/>
              <a:buChar char="•"/>
            </a:pPr>
            <a:r>
              <a:rPr lang="en-US" sz="1999">
                <a:solidFill>
                  <a:srgbClr val="100F0D"/>
                </a:solidFill>
                <a:latin typeface="Open Sauce Light"/>
                <a:ea typeface="Open Sauce Light"/>
                <a:cs typeface="Open Sauce Light"/>
                <a:sym typeface="Open Sauce Light"/>
              </a:rPr>
              <a:t>Founded by Bill Gates and Paul Allen on April 4, 1975</a:t>
            </a:r>
          </a:p>
          <a:p>
            <a:pPr algn="l" marL="431797" indent="-215899" lvl="1">
              <a:lnSpc>
                <a:spcPts val="2799"/>
              </a:lnSpc>
              <a:buFont typeface="Arial"/>
              <a:buChar char="•"/>
            </a:pPr>
            <a:r>
              <a:rPr lang="en-US" sz="1999">
                <a:solidFill>
                  <a:srgbClr val="100F0D"/>
                </a:solidFill>
                <a:latin typeface="Open Sauce Light"/>
                <a:ea typeface="Open Sauce Light"/>
                <a:cs typeface="Open Sauce Light"/>
                <a:sym typeface="Open Sauce Light"/>
              </a:rPr>
              <a:t>Bing was Launched in 2009</a:t>
            </a:r>
          </a:p>
          <a:p>
            <a:pPr algn="l" marL="431797" indent="-215899" lvl="1">
              <a:lnSpc>
                <a:spcPts val="2799"/>
              </a:lnSpc>
              <a:buFont typeface="Arial"/>
              <a:buChar char="•"/>
            </a:pPr>
            <a:r>
              <a:rPr lang="en-US" sz="1999">
                <a:solidFill>
                  <a:srgbClr val="100F0D"/>
                </a:solidFill>
                <a:latin typeface="Open Sauce Light"/>
                <a:ea typeface="Open Sauce Light"/>
                <a:cs typeface="Open Sauce Light"/>
                <a:sym typeface="Open Sauce Light"/>
              </a:rPr>
              <a:t>“A more visually appealing and user-friendly search engine compared to predecessors”</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F8F6F1"/>
        </a:solidFill>
      </p:bgPr>
    </p:bg>
    <p:spTree>
      <p:nvGrpSpPr>
        <p:cNvPr id="1" name=""/>
        <p:cNvGrpSpPr/>
        <p:nvPr/>
      </p:nvGrpSpPr>
      <p:grpSpPr>
        <a:xfrm>
          <a:off x="0" y="0"/>
          <a:ext cx="0" cy="0"/>
          <a:chOff x="0" y="0"/>
          <a:chExt cx="0" cy="0"/>
        </a:xfrm>
      </p:grpSpPr>
      <p:sp>
        <p:nvSpPr>
          <p:cNvPr name="Freeform 2" id="2"/>
          <p:cNvSpPr/>
          <p:nvPr/>
        </p:nvSpPr>
        <p:spPr>
          <a:xfrm flipH="false" flipV="false" rot="0">
            <a:off x="4244491" y="3142626"/>
            <a:ext cx="9799017" cy="7144374"/>
          </a:xfrm>
          <a:custGeom>
            <a:avLst/>
            <a:gdLst/>
            <a:ahLst/>
            <a:cxnLst/>
            <a:rect r="r" b="b" t="t" l="l"/>
            <a:pathLst>
              <a:path h="7144374" w="9799017">
                <a:moveTo>
                  <a:pt x="0" y="0"/>
                </a:moveTo>
                <a:lnTo>
                  <a:pt x="9799018" y="0"/>
                </a:lnTo>
                <a:lnTo>
                  <a:pt x="9799018" y="7144374"/>
                </a:lnTo>
                <a:lnTo>
                  <a:pt x="0" y="714437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a:hlinkClick r:id="rId5" tooltip="https://youtu.be/AgeKTTP9_KM?si=raD4dHtoE1cI5Bfe"/>
          </p:cNvPr>
          <p:cNvSpPr/>
          <p:nvPr/>
        </p:nvSpPr>
        <p:spPr>
          <a:xfrm flipH="false" flipV="false" rot="0">
            <a:off x="3578639" y="4235653"/>
            <a:ext cx="11130723" cy="3203622"/>
          </a:xfrm>
          <a:custGeom>
            <a:avLst/>
            <a:gdLst/>
            <a:ahLst/>
            <a:cxnLst/>
            <a:rect r="r" b="b" t="t" l="l"/>
            <a:pathLst>
              <a:path h="3203622" w="11130723">
                <a:moveTo>
                  <a:pt x="0" y="0"/>
                </a:moveTo>
                <a:lnTo>
                  <a:pt x="11130722" y="0"/>
                </a:lnTo>
                <a:lnTo>
                  <a:pt x="11130722" y="3203622"/>
                </a:lnTo>
                <a:lnTo>
                  <a:pt x="0" y="3203622"/>
                </a:lnTo>
                <a:lnTo>
                  <a:pt x="0" y="0"/>
                </a:lnTo>
                <a:close/>
              </a:path>
            </a:pathLst>
          </a:custGeom>
          <a:blipFill>
            <a:blip r:embed="rId4"/>
            <a:stretch>
              <a:fillRect l="0" t="0" r="0" b="0"/>
            </a:stretch>
          </a:blipFill>
        </p:spPr>
      </p:sp>
      <p:sp>
        <p:nvSpPr>
          <p:cNvPr name="TextBox 4" id="4"/>
          <p:cNvSpPr txBox="true"/>
          <p:nvPr/>
        </p:nvSpPr>
        <p:spPr>
          <a:xfrm rot="0">
            <a:off x="3889860" y="311604"/>
            <a:ext cx="10508279" cy="1678306"/>
          </a:xfrm>
          <a:prstGeom prst="rect">
            <a:avLst/>
          </a:prstGeom>
        </p:spPr>
        <p:txBody>
          <a:bodyPr anchor="t" rtlCol="false" tIns="0" lIns="0" bIns="0" rIns="0">
            <a:spAutoFit/>
          </a:bodyPr>
          <a:lstStyle/>
          <a:p>
            <a:pPr algn="ctr" marL="0" indent="0" lvl="0">
              <a:lnSpc>
                <a:spcPts val="13110"/>
              </a:lnSpc>
              <a:spcBef>
                <a:spcPct val="0"/>
              </a:spcBef>
            </a:pPr>
            <a:r>
              <a:rPr lang="en-US" sz="11500" spc="-828">
                <a:solidFill>
                  <a:srgbClr val="000000"/>
                </a:solidFill>
                <a:latin typeface="Open Sauce Light"/>
                <a:ea typeface="Open Sauce Light"/>
                <a:cs typeface="Open Sauce Light"/>
                <a:sym typeface="Open Sauce Light"/>
              </a:rPr>
              <a:t>Bing it On</a:t>
            </a:r>
          </a:p>
        </p:txBody>
      </p:sp>
      <p:sp>
        <p:nvSpPr>
          <p:cNvPr name="TextBox 5" id="5"/>
          <p:cNvSpPr txBox="true"/>
          <p:nvPr/>
        </p:nvSpPr>
        <p:spPr>
          <a:xfrm rot="0">
            <a:off x="4571794" y="1809602"/>
            <a:ext cx="9144413" cy="1135762"/>
          </a:xfrm>
          <a:prstGeom prst="rect">
            <a:avLst/>
          </a:prstGeom>
        </p:spPr>
        <p:txBody>
          <a:bodyPr anchor="t" rtlCol="false" tIns="0" lIns="0" bIns="0" rIns="0">
            <a:spAutoFit/>
          </a:bodyPr>
          <a:lstStyle/>
          <a:p>
            <a:pPr algn="ctr" marL="0" indent="0" lvl="0">
              <a:lnSpc>
                <a:spcPts val="8892"/>
              </a:lnSpc>
              <a:spcBef>
                <a:spcPct val="0"/>
              </a:spcBef>
            </a:pPr>
            <a:r>
              <a:rPr lang="en-US" sz="7800" i="true" spc="-561">
                <a:solidFill>
                  <a:srgbClr val="00C28D"/>
                </a:solidFill>
                <a:latin typeface="Libre Baskerville Italics"/>
                <a:ea typeface="Libre Baskerville Italics"/>
                <a:cs typeface="Libre Baskerville Italics"/>
                <a:sym typeface="Libre Baskerville Italics"/>
              </a:rPr>
              <a:t> Campaign</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F8F6F1"/>
        </a:solidFill>
      </p:bgPr>
    </p:bg>
    <p:spTree>
      <p:nvGrpSpPr>
        <p:cNvPr id="1" name=""/>
        <p:cNvGrpSpPr/>
        <p:nvPr/>
      </p:nvGrpSpPr>
      <p:grpSpPr>
        <a:xfrm>
          <a:off x="0" y="0"/>
          <a:ext cx="0" cy="0"/>
          <a:chOff x="0" y="0"/>
          <a:chExt cx="0" cy="0"/>
        </a:xfrm>
      </p:grpSpPr>
      <p:sp>
        <p:nvSpPr>
          <p:cNvPr name="Freeform 2" id="2"/>
          <p:cNvSpPr/>
          <p:nvPr/>
        </p:nvSpPr>
        <p:spPr>
          <a:xfrm flipH="false" flipV="false" rot="0">
            <a:off x="559693" y="2149692"/>
            <a:ext cx="330793" cy="413491"/>
          </a:xfrm>
          <a:custGeom>
            <a:avLst/>
            <a:gdLst/>
            <a:ahLst/>
            <a:cxnLst/>
            <a:rect r="r" b="b" t="t" l="l"/>
            <a:pathLst>
              <a:path h="413491" w="330793">
                <a:moveTo>
                  <a:pt x="0" y="0"/>
                </a:moveTo>
                <a:lnTo>
                  <a:pt x="330793" y="0"/>
                </a:lnTo>
                <a:lnTo>
                  <a:pt x="330793" y="413491"/>
                </a:lnTo>
                <a:lnTo>
                  <a:pt x="0" y="41349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59693" y="3077533"/>
            <a:ext cx="330793" cy="413491"/>
          </a:xfrm>
          <a:custGeom>
            <a:avLst/>
            <a:gdLst/>
            <a:ahLst/>
            <a:cxnLst/>
            <a:rect r="r" b="b" t="t" l="l"/>
            <a:pathLst>
              <a:path h="413491" w="330793">
                <a:moveTo>
                  <a:pt x="0" y="0"/>
                </a:moveTo>
                <a:lnTo>
                  <a:pt x="330793" y="0"/>
                </a:lnTo>
                <a:lnTo>
                  <a:pt x="330793" y="413492"/>
                </a:lnTo>
                <a:lnTo>
                  <a:pt x="0" y="4134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559693" y="3892302"/>
            <a:ext cx="330793" cy="413491"/>
          </a:xfrm>
          <a:custGeom>
            <a:avLst/>
            <a:gdLst/>
            <a:ahLst/>
            <a:cxnLst/>
            <a:rect r="r" b="b" t="t" l="l"/>
            <a:pathLst>
              <a:path h="413491" w="330793">
                <a:moveTo>
                  <a:pt x="0" y="0"/>
                </a:moveTo>
                <a:lnTo>
                  <a:pt x="330793" y="0"/>
                </a:lnTo>
                <a:lnTo>
                  <a:pt x="330793" y="413491"/>
                </a:lnTo>
                <a:lnTo>
                  <a:pt x="0" y="41349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559693" y="4820143"/>
            <a:ext cx="330793" cy="413491"/>
          </a:xfrm>
          <a:custGeom>
            <a:avLst/>
            <a:gdLst/>
            <a:ahLst/>
            <a:cxnLst/>
            <a:rect r="r" b="b" t="t" l="l"/>
            <a:pathLst>
              <a:path h="413491" w="330793">
                <a:moveTo>
                  <a:pt x="0" y="0"/>
                </a:moveTo>
                <a:lnTo>
                  <a:pt x="330793" y="0"/>
                </a:lnTo>
                <a:lnTo>
                  <a:pt x="330793" y="413491"/>
                </a:lnTo>
                <a:lnTo>
                  <a:pt x="0" y="41349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0" y="7677364"/>
            <a:ext cx="4255669" cy="2545554"/>
          </a:xfrm>
          <a:custGeom>
            <a:avLst/>
            <a:gdLst/>
            <a:ahLst/>
            <a:cxnLst/>
            <a:rect r="r" b="b" t="t" l="l"/>
            <a:pathLst>
              <a:path h="2545554" w="4255669">
                <a:moveTo>
                  <a:pt x="0" y="0"/>
                </a:moveTo>
                <a:lnTo>
                  <a:pt x="4255669" y="0"/>
                </a:lnTo>
                <a:lnTo>
                  <a:pt x="4255669" y="2545553"/>
                </a:lnTo>
                <a:lnTo>
                  <a:pt x="0" y="254555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656742" y="8675671"/>
            <a:ext cx="1042991" cy="756643"/>
          </a:xfrm>
          <a:custGeom>
            <a:avLst/>
            <a:gdLst/>
            <a:ahLst/>
            <a:cxnLst/>
            <a:rect r="r" b="b" t="t" l="l"/>
            <a:pathLst>
              <a:path h="756643" w="1042991">
                <a:moveTo>
                  <a:pt x="0" y="0"/>
                </a:moveTo>
                <a:lnTo>
                  <a:pt x="1042991" y="0"/>
                </a:lnTo>
                <a:lnTo>
                  <a:pt x="1042991" y="756643"/>
                </a:lnTo>
                <a:lnTo>
                  <a:pt x="0" y="75664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134053" y="444731"/>
            <a:ext cx="8137414" cy="1366266"/>
          </a:xfrm>
          <a:prstGeom prst="rect">
            <a:avLst/>
          </a:prstGeom>
        </p:spPr>
        <p:txBody>
          <a:bodyPr anchor="t" rtlCol="false" tIns="0" lIns="0" bIns="0" rIns="0">
            <a:spAutoFit/>
          </a:bodyPr>
          <a:lstStyle/>
          <a:p>
            <a:pPr algn="ctr" marL="0" indent="0" lvl="0">
              <a:lnSpc>
                <a:spcPts val="10602"/>
              </a:lnSpc>
              <a:spcBef>
                <a:spcPct val="0"/>
              </a:spcBef>
            </a:pPr>
            <a:r>
              <a:rPr lang="en-US" b="true" sz="9300" spc="-669">
                <a:solidFill>
                  <a:srgbClr val="00C28D"/>
                </a:solidFill>
                <a:latin typeface="Open Sauce Bold"/>
                <a:ea typeface="Open Sauce Bold"/>
                <a:cs typeface="Open Sauce Bold"/>
                <a:sym typeface="Open Sauce Bold"/>
              </a:rPr>
              <a:t>Media</a:t>
            </a:r>
            <a:r>
              <a:rPr lang="en-US" sz="9300" spc="-669">
                <a:solidFill>
                  <a:srgbClr val="000000"/>
                </a:solidFill>
                <a:latin typeface="Open Sauce Light"/>
                <a:ea typeface="Open Sauce Light"/>
                <a:cs typeface="Open Sauce Light"/>
                <a:sym typeface="Open Sauce Light"/>
              </a:rPr>
              <a:t> </a:t>
            </a:r>
            <a:r>
              <a:rPr lang="en-US" b="true" sz="9300" spc="-669">
                <a:solidFill>
                  <a:srgbClr val="000000"/>
                </a:solidFill>
                <a:latin typeface="Open Sauce Bold"/>
                <a:ea typeface="Open Sauce Bold"/>
                <a:cs typeface="Open Sauce Bold"/>
                <a:sym typeface="Open Sauce Bold"/>
              </a:rPr>
              <a:t>Strategy</a:t>
            </a:r>
          </a:p>
        </p:txBody>
      </p:sp>
      <p:sp>
        <p:nvSpPr>
          <p:cNvPr name="TextBox 9" id="9"/>
          <p:cNvSpPr txBox="true"/>
          <p:nvPr/>
        </p:nvSpPr>
        <p:spPr>
          <a:xfrm rot="0">
            <a:off x="8756236" y="5698123"/>
            <a:ext cx="9365263" cy="1426791"/>
          </a:xfrm>
          <a:prstGeom prst="rect">
            <a:avLst/>
          </a:prstGeom>
        </p:spPr>
        <p:txBody>
          <a:bodyPr anchor="t" rtlCol="false" tIns="0" lIns="0" bIns="0" rIns="0">
            <a:spAutoFit/>
          </a:bodyPr>
          <a:lstStyle/>
          <a:p>
            <a:pPr algn="ctr" marL="0" indent="0" lvl="0">
              <a:lnSpc>
                <a:spcPts val="11106"/>
              </a:lnSpc>
              <a:spcBef>
                <a:spcPct val="0"/>
              </a:spcBef>
            </a:pPr>
            <a:r>
              <a:rPr lang="en-US" b="true" sz="9742" spc="-701">
                <a:solidFill>
                  <a:srgbClr val="000000"/>
                </a:solidFill>
                <a:latin typeface="Open Sauce Medium"/>
                <a:ea typeface="Open Sauce Medium"/>
                <a:cs typeface="Open Sauce Medium"/>
                <a:sym typeface="Open Sauce Medium"/>
              </a:rPr>
              <a:t>Target </a:t>
            </a:r>
            <a:r>
              <a:rPr lang="en-US" b="true" sz="9742" spc="-701">
                <a:solidFill>
                  <a:srgbClr val="00C28D"/>
                </a:solidFill>
                <a:latin typeface="Open Sauce Medium"/>
                <a:ea typeface="Open Sauce Medium"/>
                <a:cs typeface="Open Sauce Medium"/>
                <a:sym typeface="Open Sauce Medium"/>
              </a:rPr>
              <a:t>Audience</a:t>
            </a:r>
          </a:p>
        </p:txBody>
      </p:sp>
      <p:sp>
        <p:nvSpPr>
          <p:cNvPr name="TextBox 10" id="10"/>
          <p:cNvSpPr txBox="true"/>
          <p:nvPr/>
        </p:nvSpPr>
        <p:spPr>
          <a:xfrm rot="0">
            <a:off x="992806" y="2279592"/>
            <a:ext cx="3944899" cy="296037"/>
          </a:xfrm>
          <a:prstGeom prst="rect">
            <a:avLst/>
          </a:prstGeom>
        </p:spPr>
        <p:txBody>
          <a:bodyPr anchor="t" rtlCol="false" tIns="0" lIns="0" bIns="0" rIns="0">
            <a:spAutoFit/>
          </a:bodyPr>
          <a:lstStyle/>
          <a:p>
            <a:pPr algn="l">
              <a:lnSpc>
                <a:spcPts val="2289"/>
              </a:lnSpc>
            </a:pPr>
            <a:r>
              <a:rPr lang="en-US" sz="2100" b="true">
                <a:solidFill>
                  <a:srgbClr val="000000"/>
                </a:solidFill>
                <a:latin typeface="Open Sauce Medium"/>
                <a:ea typeface="Open Sauce Medium"/>
                <a:cs typeface="Open Sauce Medium"/>
                <a:sym typeface="Open Sauce Medium"/>
              </a:rPr>
              <a:t>BLIND COMPARISON TEST</a:t>
            </a:r>
          </a:p>
        </p:txBody>
      </p:sp>
      <p:sp>
        <p:nvSpPr>
          <p:cNvPr name="TextBox 11" id="11"/>
          <p:cNvSpPr txBox="true"/>
          <p:nvPr/>
        </p:nvSpPr>
        <p:spPr>
          <a:xfrm rot="0">
            <a:off x="992806" y="3165404"/>
            <a:ext cx="4525323" cy="296037"/>
          </a:xfrm>
          <a:prstGeom prst="rect">
            <a:avLst/>
          </a:prstGeom>
        </p:spPr>
        <p:txBody>
          <a:bodyPr anchor="t" rtlCol="false" tIns="0" lIns="0" bIns="0" rIns="0">
            <a:spAutoFit/>
          </a:bodyPr>
          <a:lstStyle/>
          <a:p>
            <a:pPr algn="l">
              <a:lnSpc>
                <a:spcPts val="2289"/>
              </a:lnSpc>
            </a:pPr>
            <a:r>
              <a:rPr lang="en-US" sz="2100" b="true">
                <a:solidFill>
                  <a:srgbClr val="000000"/>
                </a:solidFill>
                <a:latin typeface="Open Sauce Medium"/>
                <a:ea typeface="Open Sauce Medium"/>
                <a:cs typeface="Open Sauce Medium"/>
                <a:sym typeface="Open Sauce Medium"/>
              </a:rPr>
              <a:t>ONLINE &amp; OFFLINE ADVERTISING</a:t>
            </a:r>
          </a:p>
        </p:txBody>
      </p:sp>
      <p:sp>
        <p:nvSpPr>
          <p:cNvPr name="TextBox 12" id="12"/>
          <p:cNvSpPr txBox="true"/>
          <p:nvPr/>
        </p:nvSpPr>
        <p:spPr>
          <a:xfrm rot="0">
            <a:off x="992806" y="4051215"/>
            <a:ext cx="4236433" cy="296037"/>
          </a:xfrm>
          <a:prstGeom prst="rect">
            <a:avLst/>
          </a:prstGeom>
        </p:spPr>
        <p:txBody>
          <a:bodyPr anchor="t" rtlCol="false" tIns="0" lIns="0" bIns="0" rIns="0">
            <a:spAutoFit/>
          </a:bodyPr>
          <a:lstStyle/>
          <a:p>
            <a:pPr algn="l">
              <a:lnSpc>
                <a:spcPts val="2289"/>
              </a:lnSpc>
            </a:pPr>
            <a:r>
              <a:rPr lang="en-US" sz="2100" b="true">
                <a:solidFill>
                  <a:srgbClr val="000000"/>
                </a:solidFill>
                <a:latin typeface="Open Sauce Medium"/>
                <a:ea typeface="Open Sauce Medium"/>
                <a:cs typeface="Open Sauce Medium"/>
                <a:sym typeface="Open Sauce Medium"/>
              </a:rPr>
              <a:t>INTERACTIVE WEBSITE</a:t>
            </a:r>
          </a:p>
        </p:txBody>
      </p:sp>
      <p:sp>
        <p:nvSpPr>
          <p:cNvPr name="TextBox 13" id="13"/>
          <p:cNvSpPr txBox="true"/>
          <p:nvPr/>
        </p:nvSpPr>
        <p:spPr>
          <a:xfrm rot="0">
            <a:off x="992806" y="4937026"/>
            <a:ext cx="4525323" cy="296037"/>
          </a:xfrm>
          <a:prstGeom prst="rect">
            <a:avLst/>
          </a:prstGeom>
        </p:spPr>
        <p:txBody>
          <a:bodyPr anchor="t" rtlCol="false" tIns="0" lIns="0" bIns="0" rIns="0">
            <a:spAutoFit/>
          </a:bodyPr>
          <a:lstStyle/>
          <a:p>
            <a:pPr algn="l">
              <a:lnSpc>
                <a:spcPts val="2289"/>
              </a:lnSpc>
            </a:pPr>
            <a:r>
              <a:rPr lang="en-US" sz="2100" b="true">
                <a:solidFill>
                  <a:srgbClr val="000000"/>
                </a:solidFill>
                <a:latin typeface="Open Sauce Medium"/>
                <a:ea typeface="Open Sauce Medium"/>
                <a:cs typeface="Open Sauce Medium"/>
                <a:sym typeface="Open Sauce Medium"/>
              </a:rPr>
              <a:t>PUBLIC RELATIONS</a:t>
            </a:r>
          </a:p>
        </p:txBody>
      </p:sp>
      <p:sp>
        <p:nvSpPr>
          <p:cNvPr name="TextBox 14" id="14"/>
          <p:cNvSpPr txBox="true"/>
          <p:nvPr/>
        </p:nvSpPr>
        <p:spPr>
          <a:xfrm rot="0">
            <a:off x="4593156" y="7696414"/>
            <a:ext cx="14921608" cy="296037"/>
          </a:xfrm>
          <a:prstGeom prst="rect">
            <a:avLst/>
          </a:prstGeom>
        </p:spPr>
        <p:txBody>
          <a:bodyPr anchor="t" rtlCol="false" tIns="0" lIns="0" bIns="0" rIns="0">
            <a:spAutoFit/>
          </a:bodyPr>
          <a:lstStyle/>
          <a:p>
            <a:pPr algn="l">
              <a:lnSpc>
                <a:spcPts val="2289"/>
              </a:lnSpc>
            </a:pPr>
            <a:r>
              <a:rPr lang="en-US" sz="2100" b="true">
                <a:solidFill>
                  <a:srgbClr val="000000"/>
                </a:solidFill>
                <a:latin typeface="Open Sauce Medium"/>
                <a:ea typeface="Open Sauce Medium"/>
                <a:cs typeface="Open Sauce Medium"/>
                <a:sym typeface="Open Sauce Medium"/>
              </a:rPr>
              <a:t>THE PRIMARY TARGET AUDIENCE OF THIS CAMPAIGN WAS GENERAL INTERNET USERS.</a:t>
            </a:r>
          </a:p>
        </p:txBody>
      </p:sp>
      <p:sp>
        <p:nvSpPr>
          <p:cNvPr name="TextBox 15" id="15"/>
          <p:cNvSpPr txBox="true"/>
          <p:nvPr/>
        </p:nvSpPr>
        <p:spPr>
          <a:xfrm rot="0">
            <a:off x="4586265" y="8297251"/>
            <a:ext cx="12528285" cy="296037"/>
          </a:xfrm>
          <a:prstGeom prst="rect">
            <a:avLst/>
          </a:prstGeom>
        </p:spPr>
        <p:txBody>
          <a:bodyPr anchor="t" rtlCol="false" tIns="0" lIns="0" bIns="0" rIns="0">
            <a:spAutoFit/>
          </a:bodyPr>
          <a:lstStyle/>
          <a:p>
            <a:pPr algn="l">
              <a:lnSpc>
                <a:spcPts val="2289"/>
              </a:lnSpc>
            </a:pPr>
            <a:r>
              <a:rPr lang="en-US" sz="2100" b="true">
                <a:solidFill>
                  <a:srgbClr val="000000"/>
                </a:solidFill>
                <a:latin typeface="Open Sauce Medium"/>
                <a:ea typeface="Open Sauce Medium"/>
                <a:cs typeface="Open Sauce Medium"/>
                <a:sym typeface="Open Sauce Medium"/>
              </a:rPr>
              <a:t>THE SECONDARY TARGET AUDIENCE OF THE CAMPAIGN WAS TECH-SAVVY INTERNET USERS.</a:t>
            </a:r>
          </a:p>
        </p:txBody>
      </p:sp>
      <p:sp>
        <p:nvSpPr>
          <p:cNvPr name="TextBox 16" id="16"/>
          <p:cNvSpPr txBox="true"/>
          <p:nvPr/>
        </p:nvSpPr>
        <p:spPr>
          <a:xfrm rot="0">
            <a:off x="4671767" y="2206885"/>
            <a:ext cx="13056540" cy="441452"/>
          </a:xfrm>
          <a:prstGeom prst="rect">
            <a:avLst/>
          </a:prstGeom>
        </p:spPr>
        <p:txBody>
          <a:bodyPr anchor="t" rtlCol="false" tIns="0" lIns="0" bIns="0" rIns="0">
            <a:spAutoFit/>
          </a:bodyPr>
          <a:lstStyle/>
          <a:p>
            <a:pPr algn="l">
              <a:lnSpc>
                <a:spcPts val="1744"/>
              </a:lnSpc>
            </a:pPr>
            <a:r>
              <a:rPr lang="en-US" sz="1600" i="true">
                <a:solidFill>
                  <a:srgbClr val="000000"/>
                </a:solidFill>
                <a:latin typeface="Open Sauce Italics"/>
                <a:ea typeface="Open Sauce Italics"/>
                <a:cs typeface="Open Sauce Italics"/>
                <a:sym typeface="Open Sauce Italics"/>
              </a:rPr>
              <a:t>Used a “Pepsi Challenge” inspired campaign by encouraging users to conduct anonymous searches on Bing or Google and decide which was better.</a:t>
            </a:r>
          </a:p>
        </p:txBody>
      </p:sp>
      <p:sp>
        <p:nvSpPr>
          <p:cNvPr name="TextBox 17" id="17"/>
          <p:cNvSpPr txBox="true"/>
          <p:nvPr/>
        </p:nvSpPr>
        <p:spPr>
          <a:xfrm rot="0">
            <a:off x="5518129" y="3105145"/>
            <a:ext cx="11631077" cy="441452"/>
          </a:xfrm>
          <a:prstGeom prst="rect">
            <a:avLst/>
          </a:prstGeom>
        </p:spPr>
        <p:txBody>
          <a:bodyPr anchor="t" rtlCol="false" tIns="0" lIns="0" bIns="0" rIns="0">
            <a:spAutoFit/>
          </a:bodyPr>
          <a:lstStyle/>
          <a:p>
            <a:pPr algn="l">
              <a:lnSpc>
                <a:spcPts val="1744"/>
              </a:lnSpc>
            </a:pPr>
            <a:r>
              <a:rPr lang="en-US" sz="1600" i="true">
                <a:solidFill>
                  <a:srgbClr val="000000"/>
                </a:solidFill>
                <a:latin typeface="Open Sauce Italics"/>
                <a:ea typeface="Open Sauce Italics"/>
                <a:cs typeface="Open Sauce Italics"/>
                <a:sym typeface="Open Sauce Italics"/>
              </a:rPr>
              <a:t>Used many channels, including social media, email, display ads, television, and print to reach a broad audience and maximize the campaign’s visibility.</a:t>
            </a:r>
          </a:p>
        </p:txBody>
      </p:sp>
      <p:sp>
        <p:nvSpPr>
          <p:cNvPr name="TextBox 18" id="18"/>
          <p:cNvSpPr txBox="true"/>
          <p:nvPr/>
        </p:nvSpPr>
        <p:spPr>
          <a:xfrm rot="0">
            <a:off x="4318738" y="4118098"/>
            <a:ext cx="11498170" cy="222377"/>
          </a:xfrm>
          <a:prstGeom prst="rect">
            <a:avLst/>
          </a:prstGeom>
        </p:spPr>
        <p:txBody>
          <a:bodyPr anchor="t" rtlCol="false" tIns="0" lIns="0" bIns="0" rIns="0">
            <a:spAutoFit/>
          </a:bodyPr>
          <a:lstStyle/>
          <a:p>
            <a:pPr algn="l">
              <a:lnSpc>
                <a:spcPts val="1744"/>
              </a:lnSpc>
            </a:pPr>
            <a:r>
              <a:rPr lang="en-US" sz="1600" i="true">
                <a:solidFill>
                  <a:srgbClr val="000000"/>
                </a:solidFill>
                <a:latin typeface="Open Sauce Italics"/>
                <a:ea typeface="Open Sauce Italics"/>
                <a:cs typeface="Open Sauce Italics"/>
                <a:sym typeface="Open Sauce Italics"/>
              </a:rPr>
              <a:t>Used an interactive website as a central hub for the challenge itself, user testimonials, and resources. </a:t>
            </a:r>
          </a:p>
        </p:txBody>
      </p:sp>
      <p:sp>
        <p:nvSpPr>
          <p:cNvPr name="TextBox 19" id="19"/>
          <p:cNvSpPr txBox="true"/>
          <p:nvPr/>
        </p:nvSpPr>
        <p:spPr>
          <a:xfrm rot="0">
            <a:off x="3774272" y="4860826"/>
            <a:ext cx="13072751" cy="441452"/>
          </a:xfrm>
          <a:prstGeom prst="rect">
            <a:avLst/>
          </a:prstGeom>
        </p:spPr>
        <p:txBody>
          <a:bodyPr anchor="t" rtlCol="false" tIns="0" lIns="0" bIns="0" rIns="0">
            <a:spAutoFit/>
          </a:bodyPr>
          <a:lstStyle/>
          <a:p>
            <a:pPr algn="l">
              <a:lnSpc>
                <a:spcPts val="1744"/>
              </a:lnSpc>
            </a:pPr>
            <a:r>
              <a:rPr lang="en-US" sz="1600" i="true">
                <a:solidFill>
                  <a:srgbClr val="000000"/>
                </a:solidFill>
                <a:latin typeface="Open Sauce Italics"/>
                <a:ea typeface="Open Sauce Italics"/>
                <a:cs typeface="Open Sauce Italics"/>
                <a:sym typeface="Open Sauce Italics"/>
              </a:rPr>
              <a:t>Used public relations strategies to generate buzz and credibility, including doing media outreach to journalists and bloggers like TechCrunch, CNN Business, and ClickThrough.</a:t>
            </a:r>
          </a:p>
        </p:txBody>
      </p:sp>
      <p:sp>
        <p:nvSpPr>
          <p:cNvPr name="TextBox 20" id="20"/>
          <p:cNvSpPr txBox="true"/>
          <p:nvPr/>
        </p:nvSpPr>
        <p:spPr>
          <a:xfrm rot="0">
            <a:off x="373649" y="8011501"/>
            <a:ext cx="2127834" cy="616739"/>
          </a:xfrm>
          <a:prstGeom prst="rect">
            <a:avLst/>
          </a:prstGeom>
        </p:spPr>
        <p:txBody>
          <a:bodyPr anchor="t" rtlCol="false" tIns="0" lIns="0" bIns="0" rIns="0">
            <a:spAutoFit/>
          </a:bodyPr>
          <a:lstStyle/>
          <a:p>
            <a:pPr algn="ctr" marL="0" indent="0" lvl="0">
              <a:lnSpc>
                <a:spcPts val="4767"/>
              </a:lnSpc>
              <a:spcBef>
                <a:spcPct val="0"/>
              </a:spcBef>
            </a:pPr>
            <a:r>
              <a:rPr lang="en-US" b="true" sz="4181" spc="-301">
                <a:solidFill>
                  <a:srgbClr val="000000"/>
                </a:solidFill>
                <a:latin typeface="Open Sauce Bold"/>
                <a:ea typeface="Open Sauce Bold"/>
                <a:cs typeface="Open Sauce Bold"/>
                <a:sym typeface="Open Sauce Bold"/>
              </a:rPr>
              <a:t>Bing it on</a:t>
            </a:r>
          </a:p>
        </p:txBody>
      </p:sp>
      <p:sp>
        <p:nvSpPr>
          <p:cNvPr name="Freeform 21" id="21"/>
          <p:cNvSpPr/>
          <p:nvPr/>
        </p:nvSpPr>
        <p:spPr>
          <a:xfrm flipH="false" flipV="false" rot="0">
            <a:off x="134053" y="9194216"/>
            <a:ext cx="247987" cy="309983"/>
          </a:xfrm>
          <a:custGeom>
            <a:avLst/>
            <a:gdLst/>
            <a:ahLst/>
            <a:cxnLst/>
            <a:rect r="r" b="b" t="t" l="l"/>
            <a:pathLst>
              <a:path h="309983" w="247987">
                <a:moveTo>
                  <a:pt x="0" y="0"/>
                </a:moveTo>
                <a:lnTo>
                  <a:pt x="247987" y="0"/>
                </a:lnTo>
                <a:lnTo>
                  <a:pt x="247987" y="309983"/>
                </a:lnTo>
                <a:lnTo>
                  <a:pt x="0" y="3099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F8F6F1"/>
        </a:solidFill>
      </p:bgPr>
    </p:bg>
    <p:spTree>
      <p:nvGrpSpPr>
        <p:cNvPr id="1" name=""/>
        <p:cNvGrpSpPr/>
        <p:nvPr/>
      </p:nvGrpSpPr>
      <p:grpSpPr>
        <a:xfrm>
          <a:off x="0" y="0"/>
          <a:ext cx="0" cy="0"/>
          <a:chOff x="0" y="0"/>
          <a:chExt cx="0" cy="0"/>
        </a:xfrm>
      </p:grpSpPr>
      <p:sp>
        <p:nvSpPr>
          <p:cNvPr name="Freeform 2" id="2"/>
          <p:cNvSpPr/>
          <p:nvPr/>
        </p:nvSpPr>
        <p:spPr>
          <a:xfrm flipH="false" flipV="false" rot="0">
            <a:off x="4841485" y="5007051"/>
            <a:ext cx="464312" cy="580390"/>
          </a:xfrm>
          <a:custGeom>
            <a:avLst/>
            <a:gdLst/>
            <a:ahLst/>
            <a:cxnLst/>
            <a:rect r="r" b="b" t="t" l="l"/>
            <a:pathLst>
              <a:path h="580390" w="464312">
                <a:moveTo>
                  <a:pt x="0" y="0"/>
                </a:moveTo>
                <a:lnTo>
                  <a:pt x="464312" y="0"/>
                </a:lnTo>
                <a:lnTo>
                  <a:pt x="464312" y="580390"/>
                </a:lnTo>
                <a:lnTo>
                  <a:pt x="0" y="58039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4841485" y="6244883"/>
            <a:ext cx="464312" cy="580390"/>
          </a:xfrm>
          <a:custGeom>
            <a:avLst/>
            <a:gdLst/>
            <a:ahLst/>
            <a:cxnLst/>
            <a:rect r="r" b="b" t="t" l="l"/>
            <a:pathLst>
              <a:path h="580390" w="464312">
                <a:moveTo>
                  <a:pt x="0" y="0"/>
                </a:moveTo>
                <a:lnTo>
                  <a:pt x="464312" y="0"/>
                </a:lnTo>
                <a:lnTo>
                  <a:pt x="464312" y="580390"/>
                </a:lnTo>
                <a:lnTo>
                  <a:pt x="0" y="58039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4841485" y="7482715"/>
            <a:ext cx="464312" cy="580390"/>
          </a:xfrm>
          <a:custGeom>
            <a:avLst/>
            <a:gdLst/>
            <a:ahLst/>
            <a:cxnLst/>
            <a:rect r="r" b="b" t="t" l="l"/>
            <a:pathLst>
              <a:path h="580390" w="464312">
                <a:moveTo>
                  <a:pt x="0" y="0"/>
                </a:moveTo>
                <a:lnTo>
                  <a:pt x="464312" y="0"/>
                </a:lnTo>
                <a:lnTo>
                  <a:pt x="464312" y="580390"/>
                </a:lnTo>
                <a:lnTo>
                  <a:pt x="0" y="58039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4841485" y="8720547"/>
            <a:ext cx="464312" cy="580390"/>
          </a:xfrm>
          <a:custGeom>
            <a:avLst/>
            <a:gdLst/>
            <a:ahLst/>
            <a:cxnLst/>
            <a:rect r="r" b="b" t="t" l="l"/>
            <a:pathLst>
              <a:path h="580390" w="464312">
                <a:moveTo>
                  <a:pt x="0" y="0"/>
                </a:moveTo>
                <a:lnTo>
                  <a:pt x="464312" y="0"/>
                </a:lnTo>
                <a:lnTo>
                  <a:pt x="464312" y="580390"/>
                </a:lnTo>
                <a:lnTo>
                  <a:pt x="0" y="58039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8277143" y="2569845"/>
            <a:ext cx="7990603" cy="2049780"/>
          </a:xfrm>
          <a:prstGeom prst="rect">
            <a:avLst/>
          </a:prstGeom>
        </p:spPr>
        <p:txBody>
          <a:bodyPr anchor="t" rtlCol="false" tIns="0" lIns="0" bIns="0" rIns="0">
            <a:spAutoFit/>
          </a:bodyPr>
          <a:lstStyle/>
          <a:p>
            <a:pPr algn="ctr" marL="0" indent="0" lvl="0">
              <a:lnSpc>
                <a:spcPts val="15960"/>
              </a:lnSpc>
              <a:spcBef>
                <a:spcPct val="0"/>
              </a:spcBef>
            </a:pPr>
            <a:r>
              <a:rPr lang="en-US" sz="14000" i="true" spc="-1008">
                <a:solidFill>
                  <a:srgbClr val="00C28D"/>
                </a:solidFill>
                <a:latin typeface="Libre Baskerville Italics"/>
                <a:ea typeface="Libre Baskerville Italics"/>
                <a:cs typeface="Libre Baskerville Italics"/>
                <a:sym typeface="Libre Baskerville Italics"/>
              </a:rPr>
              <a:t>Ineffective?</a:t>
            </a:r>
          </a:p>
        </p:txBody>
      </p:sp>
      <p:sp>
        <p:nvSpPr>
          <p:cNvPr name="TextBox 7" id="7"/>
          <p:cNvSpPr txBox="true"/>
          <p:nvPr/>
        </p:nvSpPr>
        <p:spPr>
          <a:xfrm rot="0">
            <a:off x="7198993" y="384426"/>
            <a:ext cx="9133690" cy="2109219"/>
          </a:xfrm>
          <a:prstGeom prst="rect">
            <a:avLst/>
          </a:prstGeom>
        </p:spPr>
        <p:txBody>
          <a:bodyPr anchor="t" rtlCol="false" tIns="0" lIns="0" bIns="0" rIns="0">
            <a:spAutoFit/>
          </a:bodyPr>
          <a:lstStyle/>
          <a:p>
            <a:pPr algn="ctr" marL="0" indent="0" lvl="0">
              <a:lnSpc>
                <a:spcPts val="16302"/>
              </a:lnSpc>
              <a:spcBef>
                <a:spcPct val="0"/>
              </a:spcBef>
            </a:pPr>
            <a:r>
              <a:rPr lang="en-US" b="true" sz="14300" spc="-1029">
                <a:solidFill>
                  <a:srgbClr val="000000"/>
                </a:solidFill>
                <a:latin typeface="Open Sauce Bold"/>
                <a:ea typeface="Open Sauce Bold"/>
                <a:cs typeface="Open Sauce Bold"/>
                <a:sym typeface="Open Sauce Bold"/>
              </a:rPr>
              <a:t>Why was it</a:t>
            </a:r>
          </a:p>
        </p:txBody>
      </p:sp>
      <p:sp>
        <p:nvSpPr>
          <p:cNvPr name="TextBox 8" id="8"/>
          <p:cNvSpPr txBox="true"/>
          <p:nvPr/>
        </p:nvSpPr>
        <p:spPr>
          <a:xfrm rot="0">
            <a:off x="5508799" y="6125821"/>
            <a:ext cx="11750501" cy="837565"/>
          </a:xfrm>
          <a:prstGeom prst="rect">
            <a:avLst/>
          </a:prstGeom>
        </p:spPr>
        <p:txBody>
          <a:bodyPr anchor="t" rtlCol="false" tIns="0" lIns="0" bIns="0" rIns="0">
            <a:spAutoFit/>
          </a:bodyPr>
          <a:lstStyle/>
          <a:p>
            <a:pPr algn="l">
              <a:lnSpc>
                <a:spcPts val="2180"/>
              </a:lnSpc>
            </a:pPr>
            <a:r>
              <a:rPr lang="en-US" sz="2000" b="true">
                <a:solidFill>
                  <a:srgbClr val="000000"/>
                </a:solidFill>
                <a:latin typeface="Open Sauce Bold"/>
                <a:ea typeface="Open Sauce Bold"/>
                <a:cs typeface="Open Sauce Bold"/>
                <a:sym typeface="Open Sauce Bold"/>
              </a:rPr>
              <a:t>Brand Loyalty: </a:t>
            </a:r>
            <a:r>
              <a:rPr lang="en-US" sz="2000">
                <a:solidFill>
                  <a:srgbClr val="000000"/>
                </a:solidFill>
                <a:latin typeface="Open Sauce"/>
                <a:ea typeface="Open Sauce"/>
                <a:cs typeface="Open Sauce"/>
                <a:sym typeface="Open Sauce"/>
              </a:rPr>
              <a:t>Google already established a strong brand presence and loyalty in the search engine market. Google users were not as willing to switch from Bing even with proof they preferred Bing more.</a:t>
            </a:r>
          </a:p>
        </p:txBody>
      </p:sp>
      <p:sp>
        <p:nvSpPr>
          <p:cNvPr name="TextBox 9" id="9"/>
          <p:cNvSpPr txBox="true"/>
          <p:nvPr/>
        </p:nvSpPr>
        <p:spPr>
          <a:xfrm rot="0">
            <a:off x="5508799" y="7501765"/>
            <a:ext cx="11750501" cy="561340"/>
          </a:xfrm>
          <a:prstGeom prst="rect">
            <a:avLst/>
          </a:prstGeom>
        </p:spPr>
        <p:txBody>
          <a:bodyPr anchor="t" rtlCol="false" tIns="0" lIns="0" bIns="0" rIns="0">
            <a:spAutoFit/>
          </a:bodyPr>
          <a:lstStyle/>
          <a:p>
            <a:pPr algn="l">
              <a:lnSpc>
                <a:spcPts val="2180"/>
              </a:lnSpc>
            </a:pPr>
            <a:r>
              <a:rPr lang="en-US" sz="2000" b="true">
                <a:solidFill>
                  <a:srgbClr val="000000"/>
                </a:solidFill>
                <a:latin typeface="Open Sauce Bold"/>
                <a:ea typeface="Open Sauce Bold"/>
                <a:cs typeface="Open Sauce Bold"/>
                <a:sym typeface="Open Sauce Bold"/>
              </a:rPr>
              <a:t>Market Share:</a:t>
            </a:r>
            <a:r>
              <a:rPr lang="en-US" sz="2000">
                <a:solidFill>
                  <a:srgbClr val="000000"/>
                </a:solidFill>
                <a:latin typeface="Open Sauce"/>
                <a:ea typeface="Open Sauce"/>
                <a:cs typeface="Open Sauce"/>
                <a:sym typeface="Open Sauce"/>
              </a:rPr>
              <a:t> While Bing reached an all time high in market share of 18.2%, Google was still a market share leader with 67.3% by the end of 2013.</a:t>
            </a:r>
          </a:p>
        </p:txBody>
      </p:sp>
      <p:sp>
        <p:nvSpPr>
          <p:cNvPr name="TextBox 10" id="10"/>
          <p:cNvSpPr txBox="true"/>
          <p:nvPr/>
        </p:nvSpPr>
        <p:spPr>
          <a:xfrm rot="0">
            <a:off x="5508799" y="8601485"/>
            <a:ext cx="11750501" cy="837565"/>
          </a:xfrm>
          <a:prstGeom prst="rect">
            <a:avLst/>
          </a:prstGeom>
        </p:spPr>
        <p:txBody>
          <a:bodyPr anchor="t" rtlCol="false" tIns="0" lIns="0" bIns="0" rIns="0">
            <a:spAutoFit/>
          </a:bodyPr>
          <a:lstStyle/>
          <a:p>
            <a:pPr algn="l">
              <a:lnSpc>
                <a:spcPts val="2180"/>
              </a:lnSpc>
              <a:spcBef>
                <a:spcPct val="0"/>
              </a:spcBef>
            </a:pPr>
            <a:r>
              <a:rPr lang="en-US" b="true" sz="2000">
                <a:solidFill>
                  <a:srgbClr val="000000"/>
                </a:solidFill>
                <a:latin typeface="Open Sauce Bold"/>
                <a:ea typeface="Open Sauce Bold"/>
                <a:cs typeface="Open Sauce Bold"/>
                <a:sym typeface="Open Sauce Bold"/>
              </a:rPr>
              <a:t>Advertising Impact:</a:t>
            </a:r>
            <a:r>
              <a:rPr lang="en-US" sz="2000">
                <a:solidFill>
                  <a:srgbClr val="000000"/>
                </a:solidFill>
                <a:latin typeface="Open Sauce"/>
                <a:ea typeface="Open Sauce"/>
                <a:cs typeface="Open Sauce"/>
                <a:sym typeface="Open Sauce"/>
              </a:rPr>
              <a:t> While the "Bing it On" campaign attracted some attention, it didn't have as  lasting of an impact. The campaign ran from about a few months to a year, and any market share it gained went away fairly quickly. </a:t>
            </a:r>
          </a:p>
        </p:txBody>
      </p:sp>
      <p:sp>
        <p:nvSpPr>
          <p:cNvPr name="TextBox 11" id="11"/>
          <p:cNvSpPr txBox="true"/>
          <p:nvPr/>
        </p:nvSpPr>
        <p:spPr>
          <a:xfrm rot="0">
            <a:off x="5508799" y="5026101"/>
            <a:ext cx="11750501" cy="561340"/>
          </a:xfrm>
          <a:prstGeom prst="rect">
            <a:avLst/>
          </a:prstGeom>
        </p:spPr>
        <p:txBody>
          <a:bodyPr anchor="t" rtlCol="false" tIns="0" lIns="0" bIns="0" rIns="0">
            <a:spAutoFit/>
          </a:bodyPr>
          <a:lstStyle/>
          <a:p>
            <a:pPr algn="l">
              <a:lnSpc>
                <a:spcPts val="2180"/>
              </a:lnSpc>
              <a:spcBef>
                <a:spcPct val="0"/>
              </a:spcBef>
            </a:pPr>
            <a:r>
              <a:rPr lang="en-US" b="true" sz="2000">
                <a:solidFill>
                  <a:srgbClr val="000000"/>
                </a:solidFill>
                <a:latin typeface="Open Sauce Bold"/>
                <a:ea typeface="Open Sauce Bold"/>
                <a:cs typeface="Open Sauce Bold"/>
                <a:sym typeface="Open Sauce Bold"/>
              </a:rPr>
              <a:t>Search Quality Perception</a:t>
            </a:r>
            <a:r>
              <a:rPr lang="en-US" sz="2000">
                <a:solidFill>
                  <a:srgbClr val="000000"/>
                </a:solidFill>
                <a:latin typeface="Open Sauce"/>
                <a:ea typeface="Open Sauce"/>
                <a:cs typeface="Open Sauce"/>
                <a:sym typeface="Open Sauce"/>
              </a:rPr>
              <a:t>: Many users still perceived Google as providing more accurate search results, so it was difficult to convince users to switch to Bing after one challenge. </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F8F6F1"/>
        </a:solidFill>
      </p:bgPr>
    </p:bg>
    <p:spTree>
      <p:nvGrpSpPr>
        <p:cNvPr id="1" name=""/>
        <p:cNvGrpSpPr/>
        <p:nvPr/>
      </p:nvGrpSpPr>
      <p:grpSpPr>
        <a:xfrm>
          <a:off x="0" y="0"/>
          <a:ext cx="0" cy="0"/>
          <a:chOff x="0" y="0"/>
          <a:chExt cx="0" cy="0"/>
        </a:xfrm>
      </p:grpSpPr>
      <p:sp>
        <p:nvSpPr>
          <p:cNvPr name="Freeform 2" id="2"/>
          <p:cNvSpPr/>
          <p:nvPr/>
        </p:nvSpPr>
        <p:spPr>
          <a:xfrm flipH="false" flipV="false" rot="0">
            <a:off x="13311323" y="7254243"/>
            <a:ext cx="6246740" cy="6281000"/>
          </a:xfrm>
          <a:custGeom>
            <a:avLst/>
            <a:gdLst/>
            <a:ahLst/>
            <a:cxnLst/>
            <a:rect r="r" b="b" t="t" l="l"/>
            <a:pathLst>
              <a:path h="6281000" w="6246740">
                <a:moveTo>
                  <a:pt x="0" y="0"/>
                </a:moveTo>
                <a:lnTo>
                  <a:pt x="6246739" y="0"/>
                </a:lnTo>
                <a:lnTo>
                  <a:pt x="6246739" y="6281000"/>
                </a:lnTo>
                <a:lnTo>
                  <a:pt x="0" y="6281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3062665" y="7254243"/>
            <a:ext cx="7365874" cy="7365874"/>
          </a:xfrm>
          <a:custGeom>
            <a:avLst/>
            <a:gdLst/>
            <a:ahLst/>
            <a:cxnLst/>
            <a:rect r="r" b="b" t="t" l="l"/>
            <a:pathLst>
              <a:path h="7365874" w="7365874">
                <a:moveTo>
                  <a:pt x="0" y="0"/>
                </a:moveTo>
                <a:lnTo>
                  <a:pt x="7365875" y="0"/>
                </a:lnTo>
                <a:lnTo>
                  <a:pt x="7365875" y="7365874"/>
                </a:lnTo>
                <a:lnTo>
                  <a:pt x="0" y="736587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2518440" y="-3114742"/>
            <a:ext cx="5968153" cy="6000885"/>
          </a:xfrm>
          <a:custGeom>
            <a:avLst/>
            <a:gdLst/>
            <a:ahLst/>
            <a:cxnLst/>
            <a:rect r="r" b="b" t="t" l="l"/>
            <a:pathLst>
              <a:path h="6000885" w="5968153">
                <a:moveTo>
                  <a:pt x="0" y="0"/>
                </a:moveTo>
                <a:lnTo>
                  <a:pt x="5968153" y="0"/>
                </a:lnTo>
                <a:lnTo>
                  <a:pt x="5968153" y="6000884"/>
                </a:lnTo>
                <a:lnTo>
                  <a:pt x="0" y="600088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3641859">
            <a:off x="14582144" y="-2536717"/>
            <a:ext cx="6736363" cy="6368925"/>
          </a:xfrm>
          <a:custGeom>
            <a:avLst/>
            <a:gdLst/>
            <a:ahLst/>
            <a:cxnLst/>
            <a:rect r="r" b="b" t="t" l="l"/>
            <a:pathLst>
              <a:path h="6368925" w="6736363">
                <a:moveTo>
                  <a:pt x="0" y="0"/>
                </a:moveTo>
                <a:lnTo>
                  <a:pt x="6736363" y="0"/>
                </a:lnTo>
                <a:lnTo>
                  <a:pt x="6736363" y="6368926"/>
                </a:lnTo>
                <a:lnTo>
                  <a:pt x="0" y="636892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8336799" y="2045308"/>
            <a:ext cx="1614402" cy="1681669"/>
          </a:xfrm>
          <a:custGeom>
            <a:avLst/>
            <a:gdLst/>
            <a:ahLst/>
            <a:cxnLst/>
            <a:rect r="r" b="b" t="t" l="l"/>
            <a:pathLst>
              <a:path h="1681669" w="1614402">
                <a:moveTo>
                  <a:pt x="0" y="0"/>
                </a:moveTo>
                <a:lnTo>
                  <a:pt x="1614402" y="0"/>
                </a:lnTo>
                <a:lnTo>
                  <a:pt x="1614402" y="1681669"/>
                </a:lnTo>
                <a:lnTo>
                  <a:pt x="0" y="1681669"/>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7" id="7"/>
          <p:cNvSpPr txBox="true"/>
          <p:nvPr/>
        </p:nvSpPr>
        <p:spPr>
          <a:xfrm rot="0">
            <a:off x="2743492" y="5183538"/>
            <a:ext cx="12801016" cy="1024893"/>
          </a:xfrm>
          <a:prstGeom prst="rect">
            <a:avLst/>
          </a:prstGeom>
        </p:spPr>
        <p:txBody>
          <a:bodyPr anchor="t" rtlCol="false" tIns="0" lIns="0" bIns="0" rIns="0">
            <a:spAutoFit/>
          </a:bodyPr>
          <a:lstStyle/>
          <a:p>
            <a:pPr algn="ctr" marL="0" indent="0" lvl="0">
              <a:lnSpc>
                <a:spcPts val="7980"/>
              </a:lnSpc>
            </a:pPr>
            <a:r>
              <a:rPr lang="en-US" sz="7000" i="true" spc="-504">
                <a:solidFill>
                  <a:srgbClr val="FF7271"/>
                </a:solidFill>
                <a:latin typeface="Libre Baskerville Italics"/>
                <a:ea typeface="Libre Baskerville Italics"/>
                <a:cs typeface="Libre Baskerville Italics"/>
                <a:sym typeface="Libre Baskerville Italics"/>
              </a:rPr>
              <a:t>Air BnB: “We Accept”</a:t>
            </a:r>
          </a:p>
        </p:txBody>
      </p:sp>
      <p:sp>
        <p:nvSpPr>
          <p:cNvPr name="TextBox 8" id="8"/>
          <p:cNvSpPr txBox="true"/>
          <p:nvPr/>
        </p:nvSpPr>
        <p:spPr>
          <a:xfrm rot="0">
            <a:off x="2252433" y="3970054"/>
            <a:ext cx="13783134" cy="1175384"/>
          </a:xfrm>
          <a:prstGeom prst="rect">
            <a:avLst/>
          </a:prstGeom>
        </p:spPr>
        <p:txBody>
          <a:bodyPr anchor="t" rtlCol="false" tIns="0" lIns="0" bIns="0" rIns="0">
            <a:spAutoFit/>
          </a:bodyPr>
          <a:lstStyle/>
          <a:p>
            <a:pPr algn="ctr" marL="0" indent="0" lvl="0">
              <a:lnSpc>
                <a:spcPts val="9119"/>
              </a:lnSpc>
            </a:pPr>
            <a:r>
              <a:rPr lang="en-US" b="true" sz="7999" spc="-575">
                <a:solidFill>
                  <a:srgbClr val="000000"/>
                </a:solidFill>
                <a:latin typeface="Open Sauce Bold"/>
                <a:ea typeface="Open Sauce Bold"/>
                <a:cs typeface="Open Sauce Bold"/>
                <a:sym typeface="Open Sauce Bold"/>
              </a:rPr>
              <a:t>Service - Effective </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bg>
      <p:bgPr>
        <a:solidFill>
          <a:srgbClr val="F8F6F1"/>
        </a:solidFill>
      </p:bgPr>
    </p:bg>
    <p:spTree>
      <p:nvGrpSpPr>
        <p:cNvPr id="1" name=""/>
        <p:cNvGrpSpPr/>
        <p:nvPr/>
      </p:nvGrpSpPr>
      <p:grpSpPr>
        <a:xfrm>
          <a:off x="0" y="0"/>
          <a:ext cx="0" cy="0"/>
          <a:chOff x="0" y="0"/>
          <a:chExt cx="0" cy="0"/>
        </a:xfrm>
      </p:grpSpPr>
      <p:sp>
        <p:nvSpPr>
          <p:cNvPr name="Freeform 2" id="2"/>
          <p:cNvSpPr/>
          <p:nvPr/>
        </p:nvSpPr>
        <p:spPr>
          <a:xfrm flipH="false" flipV="false" rot="0">
            <a:off x="12084910" y="2707005"/>
            <a:ext cx="5463002" cy="7256692"/>
          </a:xfrm>
          <a:custGeom>
            <a:avLst/>
            <a:gdLst/>
            <a:ahLst/>
            <a:cxnLst/>
            <a:rect r="r" b="b" t="t" l="l"/>
            <a:pathLst>
              <a:path h="7256692" w="5463002">
                <a:moveTo>
                  <a:pt x="0" y="0"/>
                </a:moveTo>
                <a:lnTo>
                  <a:pt x="5463001" y="0"/>
                </a:lnTo>
                <a:lnTo>
                  <a:pt x="5463001" y="7256692"/>
                </a:lnTo>
                <a:lnTo>
                  <a:pt x="0" y="7256692"/>
                </a:lnTo>
                <a:lnTo>
                  <a:pt x="0" y="0"/>
                </a:lnTo>
                <a:close/>
              </a:path>
            </a:pathLst>
          </a:custGeom>
          <a:blipFill>
            <a:blip r:embed="rId2"/>
            <a:stretch>
              <a:fillRect l="-50607" t="-1421" r="-51475" b="0"/>
            </a:stretch>
          </a:blipFill>
        </p:spPr>
      </p:sp>
      <p:sp>
        <p:nvSpPr>
          <p:cNvPr name="Freeform 3" id="3"/>
          <p:cNvSpPr/>
          <p:nvPr/>
        </p:nvSpPr>
        <p:spPr>
          <a:xfrm flipH="false" flipV="false" rot="0">
            <a:off x="12084910" y="2415469"/>
            <a:ext cx="4831308" cy="1509784"/>
          </a:xfrm>
          <a:custGeom>
            <a:avLst/>
            <a:gdLst/>
            <a:ahLst/>
            <a:cxnLst/>
            <a:rect r="r" b="b" t="t" l="l"/>
            <a:pathLst>
              <a:path h="1509784" w="4831308">
                <a:moveTo>
                  <a:pt x="0" y="0"/>
                </a:moveTo>
                <a:lnTo>
                  <a:pt x="4831308" y="0"/>
                </a:lnTo>
                <a:lnTo>
                  <a:pt x="4831308" y="1509784"/>
                </a:lnTo>
                <a:lnTo>
                  <a:pt x="0" y="1509784"/>
                </a:lnTo>
                <a:lnTo>
                  <a:pt x="0" y="0"/>
                </a:lnTo>
                <a:close/>
              </a:path>
            </a:pathLst>
          </a:custGeom>
          <a:blipFill>
            <a:blip r:embed="rId3"/>
            <a:stretch>
              <a:fillRect l="0" t="0" r="0" b="0"/>
            </a:stretch>
          </a:blipFill>
        </p:spPr>
      </p:sp>
      <p:sp>
        <p:nvSpPr>
          <p:cNvPr name="TextBox 4" id="4"/>
          <p:cNvSpPr txBox="true"/>
          <p:nvPr/>
        </p:nvSpPr>
        <p:spPr>
          <a:xfrm rot="0">
            <a:off x="902553" y="719143"/>
            <a:ext cx="11182356" cy="2350770"/>
          </a:xfrm>
          <a:prstGeom prst="rect">
            <a:avLst/>
          </a:prstGeom>
        </p:spPr>
        <p:txBody>
          <a:bodyPr anchor="t" rtlCol="false" tIns="0" lIns="0" bIns="0" rIns="0">
            <a:spAutoFit/>
          </a:bodyPr>
          <a:lstStyle/>
          <a:p>
            <a:pPr algn="l" marL="0" indent="0" lvl="0">
              <a:lnSpc>
                <a:spcPts val="18239"/>
              </a:lnSpc>
              <a:spcBef>
                <a:spcPct val="0"/>
              </a:spcBef>
            </a:pPr>
            <a:r>
              <a:rPr lang="en-US" sz="15999" spc="-1151">
                <a:solidFill>
                  <a:srgbClr val="000000"/>
                </a:solidFill>
                <a:latin typeface="Open Sauce Light"/>
                <a:ea typeface="Open Sauce Light"/>
                <a:cs typeface="Open Sauce Light"/>
                <a:sym typeface="Open Sauce Light"/>
              </a:rPr>
              <a:t>Background</a:t>
            </a:r>
          </a:p>
        </p:txBody>
      </p:sp>
      <p:sp>
        <p:nvSpPr>
          <p:cNvPr name="TextBox 5" id="5"/>
          <p:cNvSpPr txBox="true"/>
          <p:nvPr/>
        </p:nvSpPr>
        <p:spPr>
          <a:xfrm rot="0">
            <a:off x="902553" y="2792730"/>
            <a:ext cx="11182356" cy="2350770"/>
          </a:xfrm>
          <a:prstGeom prst="rect">
            <a:avLst/>
          </a:prstGeom>
        </p:spPr>
        <p:txBody>
          <a:bodyPr anchor="t" rtlCol="false" tIns="0" lIns="0" bIns="0" rIns="0">
            <a:spAutoFit/>
          </a:bodyPr>
          <a:lstStyle/>
          <a:p>
            <a:pPr algn="l" marL="0" indent="0" lvl="0">
              <a:lnSpc>
                <a:spcPts val="18239"/>
              </a:lnSpc>
              <a:spcBef>
                <a:spcPct val="0"/>
              </a:spcBef>
            </a:pPr>
            <a:r>
              <a:rPr lang="en-US" b="true" sz="15999" spc="-1151">
                <a:solidFill>
                  <a:srgbClr val="FF7271"/>
                </a:solidFill>
                <a:latin typeface="Open Sauce Medium"/>
                <a:ea typeface="Open Sauce Medium"/>
                <a:cs typeface="Open Sauce Medium"/>
                <a:sym typeface="Open Sauce Medium"/>
              </a:rPr>
              <a:t>Information</a:t>
            </a:r>
          </a:p>
        </p:txBody>
      </p:sp>
      <p:sp>
        <p:nvSpPr>
          <p:cNvPr name="TextBox 6" id="6"/>
          <p:cNvSpPr txBox="true"/>
          <p:nvPr/>
        </p:nvSpPr>
        <p:spPr>
          <a:xfrm rot="0">
            <a:off x="889327" y="6006374"/>
            <a:ext cx="11195583" cy="1570542"/>
          </a:xfrm>
          <a:prstGeom prst="rect">
            <a:avLst/>
          </a:prstGeom>
        </p:spPr>
        <p:txBody>
          <a:bodyPr anchor="t" rtlCol="false" tIns="0" lIns="0" bIns="0" rIns="0">
            <a:spAutoFit/>
          </a:bodyPr>
          <a:lstStyle/>
          <a:p>
            <a:pPr algn="l" marL="636663" indent="-318332" lvl="1">
              <a:lnSpc>
                <a:spcPts val="4128"/>
              </a:lnSpc>
              <a:buFont typeface="Arial"/>
              <a:buChar char="•"/>
            </a:pPr>
            <a:r>
              <a:rPr lang="en-US" sz="2948">
                <a:solidFill>
                  <a:srgbClr val="000000"/>
                </a:solidFill>
                <a:latin typeface="Open Sauce"/>
                <a:ea typeface="Open Sauce"/>
                <a:cs typeface="Open Sauce"/>
                <a:sym typeface="Open Sauce"/>
              </a:rPr>
              <a:t>Online marketplace for vacation rentals</a:t>
            </a:r>
          </a:p>
          <a:p>
            <a:pPr algn="l" marL="636663" indent="-318332" lvl="1">
              <a:lnSpc>
                <a:spcPts val="4128"/>
              </a:lnSpc>
              <a:buFont typeface="Arial"/>
              <a:buChar char="•"/>
            </a:pPr>
            <a:r>
              <a:rPr lang="en-US" sz="2948">
                <a:solidFill>
                  <a:srgbClr val="000000"/>
                </a:solidFill>
                <a:latin typeface="Open Sauce"/>
                <a:ea typeface="Open Sauce"/>
                <a:cs typeface="Open Sauce"/>
                <a:sym typeface="Open Sauce"/>
              </a:rPr>
              <a:t>Users can host their home/apartment for rent</a:t>
            </a:r>
          </a:p>
          <a:p>
            <a:pPr algn="l" marL="636663" indent="-318332" lvl="1">
              <a:lnSpc>
                <a:spcPts val="4128"/>
              </a:lnSpc>
              <a:buFont typeface="Arial"/>
              <a:buChar char="•"/>
            </a:pPr>
            <a:r>
              <a:rPr lang="en-US" sz="2948">
                <a:solidFill>
                  <a:srgbClr val="000000"/>
                </a:solidFill>
                <a:latin typeface="Open Sauce"/>
                <a:ea typeface="Open Sauce"/>
                <a:cs typeface="Open Sauce"/>
                <a:sym typeface="Open Sauce"/>
              </a:rPr>
              <a:t>Founded 2008 in San Francisco, CA</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bg>
      <p:bgPr>
        <a:solidFill>
          <a:srgbClr val="F8F6F1"/>
        </a:solidFill>
      </p:bgPr>
    </p:bg>
    <p:spTree>
      <p:nvGrpSpPr>
        <p:cNvPr id="1" name=""/>
        <p:cNvGrpSpPr/>
        <p:nvPr/>
      </p:nvGrpSpPr>
      <p:grpSpPr>
        <a:xfrm>
          <a:off x="0" y="0"/>
          <a:ext cx="0" cy="0"/>
          <a:chOff x="0" y="0"/>
          <a:chExt cx="0" cy="0"/>
        </a:xfrm>
      </p:grpSpPr>
      <p:pic>
        <p:nvPicPr>
          <p:cNvPr name="Picture 2" id="2"/>
          <p:cNvPicPr>
            <a:picLocks noChangeAspect="true"/>
          </p:cNvPicPr>
          <p:nvPr>
            <a:videoFile r:link="rId3"/>
          </p:nvPr>
        </p:nvPicPr>
        <p:blipFill>
          <a:blip r:embed="rId2"/>
          <a:stretch>
            <a:fillRect/>
          </a:stretch>
        </p:blipFill>
        <p:spPr>
          <a:xfrm rot="0">
            <a:off x="2628898" y="1156730"/>
            <a:ext cx="14630402" cy="8229600"/>
          </a:xfrm>
          <a:prstGeom prst="rect">
            <a:avLst/>
          </a:prstGeom>
        </p:spPr>
      </p:pic>
      <p:sp>
        <p:nvSpPr>
          <p:cNvPr name="Freeform 3" id="3"/>
          <p:cNvSpPr/>
          <p:nvPr/>
        </p:nvSpPr>
        <p:spPr>
          <a:xfrm flipH="false" flipV="false" rot="0">
            <a:off x="343086" y="381766"/>
            <a:ext cx="1838538" cy="1838538"/>
          </a:xfrm>
          <a:custGeom>
            <a:avLst/>
            <a:gdLst/>
            <a:ahLst/>
            <a:cxnLst/>
            <a:rect r="r" b="b" t="t" l="l"/>
            <a:pathLst>
              <a:path h="1838538" w="1838538">
                <a:moveTo>
                  <a:pt x="0" y="0"/>
                </a:moveTo>
                <a:lnTo>
                  <a:pt x="1838538" y="0"/>
                </a:lnTo>
                <a:lnTo>
                  <a:pt x="1838538" y="1838538"/>
                </a:lnTo>
                <a:lnTo>
                  <a:pt x="0" y="1838538"/>
                </a:lnTo>
                <a:lnTo>
                  <a:pt x="0" y="0"/>
                </a:lnTo>
                <a:close/>
              </a:path>
            </a:pathLst>
          </a:custGeom>
          <a:blipFill>
            <a:blip r:embed="rId4"/>
            <a:stretch>
              <a:fillRect l="0" t="0" r="0" b="0"/>
            </a:stretch>
          </a:blipFill>
        </p:spPr>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bg>
      <p:bgPr>
        <a:solidFill>
          <a:srgbClr val="F8F6F1"/>
        </a:solidFill>
      </p:bgPr>
    </p:bg>
    <p:spTree>
      <p:nvGrpSpPr>
        <p:cNvPr id="1" name=""/>
        <p:cNvGrpSpPr/>
        <p:nvPr/>
      </p:nvGrpSpPr>
      <p:grpSpPr>
        <a:xfrm>
          <a:off x="0" y="0"/>
          <a:ext cx="0" cy="0"/>
          <a:chOff x="0" y="0"/>
          <a:chExt cx="0" cy="0"/>
        </a:xfrm>
      </p:grpSpPr>
      <p:sp>
        <p:nvSpPr>
          <p:cNvPr name="Freeform 2" id="2"/>
          <p:cNvSpPr/>
          <p:nvPr/>
        </p:nvSpPr>
        <p:spPr>
          <a:xfrm flipH="false" flipV="false" rot="0">
            <a:off x="12283995" y="1028700"/>
            <a:ext cx="7315200" cy="3820244"/>
          </a:xfrm>
          <a:custGeom>
            <a:avLst/>
            <a:gdLst/>
            <a:ahLst/>
            <a:cxnLst/>
            <a:rect r="r" b="b" t="t" l="l"/>
            <a:pathLst>
              <a:path h="3820244" w="7315200">
                <a:moveTo>
                  <a:pt x="0" y="0"/>
                </a:moveTo>
                <a:lnTo>
                  <a:pt x="7315200" y="0"/>
                </a:lnTo>
                <a:lnTo>
                  <a:pt x="7315200" y="3820244"/>
                </a:lnTo>
                <a:lnTo>
                  <a:pt x="0" y="382024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291234" y="8676106"/>
            <a:ext cx="5487595" cy="5068543"/>
          </a:xfrm>
          <a:custGeom>
            <a:avLst/>
            <a:gdLst/>
            <a:ahLst/>
            <a:cxnLst/>
            <a:rect r="r" b="b" t="t" l="l"/>
            <a:pathLst>
              <a:path h="5068543" w="5487595">
                <a:moveTo>
                  <a:pt x="0" y="0"/>
                </a:moveTo>
                <a:lnTo>
                  <a:pt x="5487595" y="0"/>
                </a:lnTo>
                <a:lnTo>
                  <a:pt x="5487595" y="5068542"/>
                </a:lnTo>
                <a:lnTo>
                  <a:pt x="0" y="506854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4" id="4"/>
          <p:cNvSpPr/>
          <p:nvPr/>
        </p:nvSpPr>
        <p:spPr>
          <a:xfrm flipH="false" flipV="false" rot="0">
            <a:off x="14602053" y="314618"/>
            <a:ext cx="3019703" cy="3019703"/>
          </a:xfrm>
          <a:custGeom>
            <a:avLst/>
            <a:gdLst/>
            <a:ahLst/>
            <a:cxnLst/>
            <a:rect r="r" b="b" t="t" l="l"/>
            <a:pathLst>
              <a:path h="3019703" w="3019703">
                <a:moveTo>
                  <a:pt x="0" y="0"/>
                </a:moveTo>
                <a:lnTo>
                  <a:pt x="3019702" y="0"/>
                </a:lnTo>
                <a:lnTo>
                  <a:pt x="3019702" y="3019702"/>
                </a:lnTo>
                <a:lnTo>
                  <a:pt x="0" y="3019702"/>
                </a:lnTo>
                <a:lnTo>
                  <a:pt x="0" y="0"/>
                </a:lnTo>
                <a:close/>
              </a:path>
            </a:pathLst>
          </a:custGeom>
          <a:blipFill>
            <a:blip r:embed="rId7"/>
            <a:stretch>
              <a:fillRect l="0" t="0" r="0" b="0"/>
            </a:stretch>
          </a:blipFill>
        </p:spPr>
      </p:sp>
      <p:grpSp>
        <p:nvGrpSpPr>
          <p:cNvPr name="Group 5" id="5"/>
          <p:cNvGrpSpPr/>
          <p:nvPr/>
        </p:nvGrpSpPr>
        <p:grpSpPr>
          <a:xfrm rot="0">
            <a:off x="7449696" y="3661082"/>
            <a:ext cx="9668598" cy="5801159"/>
            <a:chOff x="0" y="0"/>
            <a:chExt cx="6350000" cy="3810000"/>
          </a:xfrm>
        </p:grpSpPr>
        <p:sp>
          <p:nvSpPr>
            <p:cNvPr name="Freeform 6" id="6"/>
            <p:cNvSpPr/>
            <p:nvPr/>
          </p:nvSpPr>
          <p:spPr>
            <a:xfrm flipH="false" flipV="false" rot="0">
              <a:off x="0" y="0"/>
              <a:ext cx="6350000" cy="3810000"/>
            </a:xfrm>
            <a:custGeom>
              <a:avLst/>
              <a:gdLst/>
              <a:ahLst/>
              <a:cxnLst/>
              <a:rect r="r" b="b" t="t" l="l"/>
              <a:pathLst>
                <a:path h="3810000" w="6350000">
                  <a:moveTo>
                    <a:pt x="0" y="3175000"/>
                  </a:moveTo>
                  <a:lnTo>
                    <a:pt x="0" y="635000"/>
                  </a:lnTo>
                  <a:cubicBezTo>
                    <a:pt x="0" y="284480"/>
                    <a:pt x="284480" y="0"/>
                    <a:pt x="635000" y="0"/>
                  </a:cubicBezTo>
                  <a:lnTo>
                    <a:pt x="5715000" y="0"/>
                  </a:lnTo>
                  <a:cubicBezTo>
                    <a:pt x="6065520" y="0"/>
                    <a:pt x="6350000" y="284480"/>
                    <a:pt x="6350000" y="635000"/>
                  </a:cubicBezTo>
                  <a:lnTo>
                    <a:pt x="6350000" y="3175000"/>
                  </a:lnTo>
                  <a:cubicBezTo>
                    <a:pt x="6350000" y="3525520"/>
                    <a:pt x="6065520" y="3810000"/>
                    <a:pt x="5715000" y="3810000"/>
                  </a:cubicBezTo>
                  <a:lnTo>
                    <a:pt x="635000" y="3810000"/>
                  </a:lnTo>
                  <a:cubicBezTo>
                    <a:pt x="284480" y="3810000"/>
                    <a:pt x="0" y="3525520"/>
                    <a:pt x="0" y="3175000"/>
                  </a:cubicBezTo>
                  <a:close/>
                </a:path>
              </a:pathLst>
            </a:custGeom>
            <a:blipFill>
              <a:blip r:embed="rId8"/>
              <a:stretch>
                <a:fillRect l="-3333" t="0" r="-3333" b="0"/>
              </a:stretch>
            </a:blipFill>
          </p:spPr>
        </p:sp>
      </p:grpSp>
      <p:sp>
        <p:nvSpPr>
          <p:cNvPr name="TextBox 7" id="7"/>
          <p:cNvSpPr txBox="true"/>
          <p:nvPr/>
        </p:nvSpPr>
        <p:spPr>
          <a:xfrm rot="0">
            <a:off x="1028700" y="1105074"/>
            <a:ext cx="10595062" cy="1505465"/>
          </a:xfrm>
          <a:prstGeom prst="rect">
            <a:avLst/>
          </a:prstGeom>
        </p:spPr>
        <p:txBody>
          <a:bodyPr anchor="t" rtlCol="false" tIns="0" lIns="0" bIns="0" rIns="0">
            <a:spAutoFit/>
          </a:bodyPr>
          <a:lstStyle/>
          <a:p>
            <a:pPr algn="l" marL="0" indent="0" lvl="0">
              <a:lnSpc>
                <a:spcPts val="11769"/>
              </a:lnSpc>
              <a:spcBef>
                <a:spcPct val="0"/>
              </a:spcBef>
            </a:pPr>
            <a:r>
              <a:rPr lang="en-US" sz="10323" spc="-743">
                <a:solidFill>
                  <a:srgbClr val="000000"/>
                </a:solidFill>
                <a:latin typeface="Open Sauce"/>
                <a:ea typeface="Open Sauce"/>
                <a:cs typeface="Open Sauce"/>
                <a:sym typeface="Open Sauce"/>
              </a:rPr>
              <a:t>“We Accept”</a:t>
            </a:r>
          </a:p>
        </p:txBody>
      </p:sp>
      <p:sp>
        <p:nvSpPr>
          <p:cNvPr name="TextBox 8" id="8"/>
          <p:cNvSpPr txBox="true"/>
          <p:nvPr/>
        </p:nvSpPr>
        <p:spPr>
          <a:xfrm rot="0">
            <a:off x="634880" y="3594407"/>
            <a:ext cx="5691351" cy="4713792"/>
          </a:xfrm>
          <a:prstGeom prst="rect">
            <a:avLst/>
          </a:prstGeom>
        </p:spPr>
        <p:txBody>
          <a:bodyPr anchor="t" rtlCol="false" tIns="0" lIns="0" bIns="0" rIns="0">
            <a:spAutoFit/>
          </a:bodyPr>
          <a:lstStyle/>
          <a:p>
            <a:pPr algn="l" marL="636663" indent="-318332" lvl="1">
              <a:lnSpc>
                <a:spcPts val="4128"/>
              </a:lnSpc>
              <a:buFont typeface="Arial"/>
              <a:buChar char="•"/>
            </a:pPr>
            <a:r>
              <a:rPr lang="en-US" sz="2948">
                <a:solidFill>
                  <a:srgbClr val="000000"/>
                </a:solidFill>
                <a:latin typeface="Open Sauce"/>
                <a:ea typeface="Open Sauce"/>
                <a:cs typeface="Open Sauce"/>
                <a:sym typeface="Open Sauce"/>
              </a:rPr>
              <a:t>Response to travel ban &amp; discrimination</a:t>
            </a:r>
          </a:p>
          <a:p>
            <a:pPr algn="l">
              <a:lnSpc>
                <a:spcPts val="4128"/>
              </a:lnSpc>
            </a:pPr>
          </a:p>
          <a:p>
            <a:pPr algn="l" marL="636663" indent="-318332" lvl="1">
              <a:lnSpc>
                <a:spcPts val="4128"/>
              </a:lnSpc>
              <a:buFont typeface="Arial"/>
              <a:buChar char="•"/>
            </a:pPr>
            <a:r>
              <a:rPr lang="en-US" sz="2948">
                <a:solidFill>
                  <a:srgbClr val="000000"/>
                </a:solidFill>
                <a:latin typeface="Open Sauce"/>
                <a:ea typeface="Open Sauce"/>
                <a:cs typeface="Open Sauce"/>
                <a:sym typeface="Open Sauce"/>
              </a:rPr>
              <a:t>2017 Super Bowl #weaccept</a:t>
            </a:r>
          </a:p>
          <a:p>
            <a:pPr algn="l">
              <a:lnSpc>
                <a:spcPts val="4128"/>
              </a:lnSpc>
            </a:pPr>
          </a:p>
          <a:p>
            <a:pPr algn="l" marL="636663" indent="-318332" lvl="1">
              <a:lnSpc>
                <a:spcPts val="4128"/>
              </a:lnSpc>
              <a:buFont typeface="Arial"/>
              <a:buChar char="•"/>
            </a:pPr>
            <a:r>
              <a:rPr lang="en-US" sz="2948">
                <a:solidFill>
                  <a:srgbClr val="000000"/>
                </a:solidFill>
                <a:latin typeface="Open Sauce"/>
                <a:ea typeface="Open Sauce"/>
                <a:cs typeface="Open Sauce"/>
                <a:sym typeface="Open Sauce"/>
              </a:rPr>
              <a:t>$4 million donation to the International Rescue Committee</a:t>
            </a:r>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bg>
      <p:bgPr>
        <a:solidFill>
          <a:srgbClr val="F8F6F1"/>
        </a:solidFill>
      </p:bgPr>
    </p:bg>
    <p:spTree>
      <p:nvGrpSpPr>
        <p:cNvPr id="1" name=""/>
        <p:cNvGrpSpPr/>
        <p:nvPr/>
      </p:nvGrpSpPr>
      <p:grpSpPr>
        <a:xfrm>
          <a:off x="0" y="0"/>
          <a:ext cx="0" cy="0"/>
          <a:chOff x="0" y="0"/>
          <a:chExt cx="0" cy="0"/>
        </a:xfrm>
      </p:grpSpPr>
      <p:sp>
        <p:nvSpPr>
          <p:cNvPr name="TextBox 2" id="2"/>
          <p:cNvSpPr txBox="true"/>
          <p:nvPr/>
        </p:nvSpPr>
        <p:spPr>
          <a:xfrm rot="0">
            <a:off x="4933610" y="551251"/>
            <a:ext cx="5963507" cy="1491891"/>
          </a:xfrm>
          <a:prstGeom prst="rect">
            <a:avLst/>
          </a:prstGeom>
        </p:spPr>
        <p:txBody>
          <a:bodyPr anchor="t" rtlCol="false" tIns="0" lIns="0" bIns="0" rIns="0">
            <a:spAutoFit/>
          </a:bodyPr>
          <a:lstStyle/>
          <a:p>
            <a:pPr algn="ctr" marL="0" indent="0" lvl="0">
              <a:lnSpc>
                <a:spcPts val="11667"/>
              </a:lnSpc>
              <a:spcBef>
                <a:spcPct val="0"/>
              </a:spcBef>
            </a:pPr>
            <a:r>
              <a:rPr lang="en-US" sz="10234" spc="-736">
                <a:solidFill>
                  <a:srgbClr val="000000"/>
                </a:solidFill>
                <a:latin typeface="Open Sauce"/>
                <a:ea typeface="Open Sauce"/>
                <a:cs typeface="Open Sauce"/>
                <a:sym typeface="Open Sauce"/>
              </a:rPr>
              <a:t>Why was it</a:t>
            </a:r>
          </a:p>
        </p:txBody>
      </p:sp>
      <p:sp>
        <p:nvSpPr>
          <p:cNvPr name="TextBox 3" id="3"/>
          <p:cNvSpPr txBox="true"/>
          <p:nvPr/>
        </p:nvSpPr>
        <p:spPr>
          <a:xfrm rot="0">
            <a:off x="4029073" y="1712835"/>
            <a:ext cx="10229853" cy="2350770"/>
          </a:xfrm>
          <a:prstGeom prst="rect">
            <a:avLst/>
          </a:prstGeom>
        </p:spPr>
        <p:txBody>
          <a:bodyPr anchor="t" rtlCol="false" tIns="0" lIns="0" bIns="0" rIns="0">
            <a:spAutoFit/>
          </a:bodyPr>
          <a:lstStyle/>
          <a:p>
            <a:pPr algn="ctr" marL="0" indent="0" lvl="0">
              <a:lnSpc>
                <a:spcPts val="18239"/>
              </a:lnSpc>
              <a:spcBef>
                <a:spcPct val="0"/>
              </a:spcBef>
            </a:pPr>
            <a:r>
              <a:rPr lang="en-US" sz="15999" spc="-1151">
                <a:solidFill>
                  <a:srgbClr val="FF7271"/>
                </a:solidFill>
                <a:latin typeface="Open Sauce"/>
                <a:ea typeface="Open Sauce"/>
                <a:cs typeface="Open Sauce"/>
                <a:sym typeface="Open Sauce"/>
              </a:rPr>
              <a:t>Effective?</a:t>
            </a:r>
          </a:p>
        </p:txBody>
      </p:sp>
      <p:sp>
        <p:nvSpPr>
          <p:cNvPr name="Freeform 4" id="4"/>
          <p:cNvSpPr/>
          <p:nvPr/>
        </p:nvSpPr>
        <p:spPr>
          <a:xfrm flipH="false" flipV="false" rot="0">
            <a:off x="-1955376" y="-1144818"/>
            <a:ext cx="5968153" cy="6000885"/>
          </a:xfrm>
          <a:custGeom>
            <a:avLst/>
            <a:gdLst/>
            <a:ahLst/>
            <a:cxnLst/>
            <a:rect r="r" b="b" t="t" l="l"/>
            <a:pathLst>
              <a:path h="6000885" w="5968153">
                <a:moveTo>
                  <a:pt x="0" y="0"/>
                </a:moveTo>
                <a:lnTo>
                  <a:pt x="5968152" y="0"/>
                </a:lnTo>
                <a:lnTo>
                  <a:pt x="5968152" y="6000885"/>
                </a:lnTo>
                <a:lnTo>
                  <a:pt x="0" y="600088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3641859">
            <a:off x="14342911" y="-1264914"/>
            <a:ext cx="6736363" cy="6368925"/>
          </a:xfrm>
          <a:custGeom>
            <a:avLst/>
            <a:gdLst/>
            <a:ahLst/>
            <a:cxnLst/>
            <a:rect r="r" b="b" t="t" l="l"/>
            <a:pathLst>
              <a:path h="6368925" w="6736363">
                <a:moveTo>
                  <a:pt x="0" y="0"/>
                </a:moveTo>
                <a:lnTo>
                  <a:pt x="6736363" y="0"/>
                </a:lnTo>
                <a:lnTo>
                  <a:pt x="6736363" y="6368925"/>
                </a:lnTo>
                <a:lnTo>
                  <a:pt x="0" y="636892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796701" y="4185179"/>
            <a:ext cx="7609682" cy="5073121"/>
          </a:xfrm>
          <a:custGeom>
            <a:avLst/>
            <a:gdLst/>
            <a:ahLst/>
            <a:cxnLst/>
            <a:rect r="r" b="b" t="t" l="l"/>
            <a:pathLst>
              <a:path h="5073121" w="7609682">
                <a:moveTo>
                  <a:pt x="0" y="0"/>
                </a:moveTo>
                <a:lnTo>
                  <a:pt x="7609682" y="0"/>
                </a:lnTo>
                <a:lnTo>
                  <a:pt x="7609682" y="5073121"/>
                </a:lnTo>
                <a:lnTo>
                  <a:pt x="0" y="5073121"/>
                </a:lnTo>
                <a:lnTo>
                  <a:pt x="0" y="0"/>
                </a:lnTo>
                <a:close/>
              </a:path>
            </a:pathLst>
          </a:custGeom>
          <a:blipFill>
            <a:blip r:embed="rId7"/>
            <a:stretch>
              <a:fillRect l="0" t="0" r="0" b="0"/>
            </a:stretch>
          </a:blipFill>
        </p:spPr>
      </p:sp>
      <p:sp>
        <p:nvSpPr>
          <p:cNvPr name="TextBox 7" id="7"/>
          <p:cNvSpPr txBox="true"/>
          <p:nvPr/>
        </p:nvSpPr>
        <p:spPr>
          <a:xfrm rot="0">
            <a:off x="9334452" y="5076825"/>
            <a:ext cx="8747712" cy="3968461"/>
          </a:xfrm>
          <a:prstGeom prst="rect">
            <a:avLst/>
          </a:prstGeom>
        </p:spPr>
        <p:txBody>
          <a:bodyPr anchor="t" rtlCol="false" tIns="0" lIns="0" bIns="0" rIns="0">
            <a:spAutoFit/>
          </a:bodyPr>
          <a:lstStyle/>
          <a:p>
            <a:pPr algn="l" marL="636663" indent="-318332" lvl="1">
              <a:lnSpc>
                <a:spcPts val="4128"/>
              </a:lnSpc>
              <a:buFont typeface="Arial"/>
              <a:buChar char="•"/>
            </a:pPr>
            <a:r>
              <a:rPr lang="en-US" sz="2948">
                <a:solidFill>
                  <a:srgbClr val="000000"/>
                </a:solidFill>
                <a:latin typeface="Open Sauce"/>
                <a:ea typeface="Open Sauce"/>
                <a:cs typeface="Open Sauce"/>
                <a:sym typeface="Open Sauce"/>
              </a:rPr>
              <a:t>85% positive response</a:t>
            </a:r>
          </a:p>
          <a:p>
            <a:pPr algn="l">
              <a:lnSpc>
                <a:spcPts val="4128"/>
              </a:lnSpc>
            </a:pPr>
          </a:p>
          <a:p>
            <a:pPr algn="l" marL="636663" indent="-318332" lvl="1">
              <a:lnSpc>
                <a:spcPts val="4128"/>
              </a:lnSpc>
              <a:buFont typeface="Arial"/>
              <a:buChar char="•"/>
            </a:pPr>
            <a:r>
              <a:rPr lang="en-US" sz="2948">
                <a:solidFill>
                  <a:srgbClr val="000000"/>
                </a:solidFill>
                <a:latin typeface="Open Sauce"/>
                <a:ea typeface="Open Sauce"/>
                <a:cs typeface="Open Sauce"/>
                <a:sym typeface="Open Sauce"/>
              </a:rPr>
              <a:t>2018 Shorty Social Good Awards </a:t>
            </a:r>
          </a:p>
          <a:p>
            <a:pPr algn="l" marL="1100611" indent="-366870" lvl="2">
              <a:lnSpc>
                <a:spcPts val="3568"/>
              </a:lnSpc>
              <a:buFont typeface="Arial"/>
              <a:buChar char="⚬"/>
            </a:pPr>
            <a:r>
              <a:rPr lang="en-US" sz="2548">
                <a:solidFill>
                  <a:srgbClr val="000000"/>
                </a:solidFill>
                <a:latin typeface="Open Sauce"/>
                <a:ea typeface="Open Sauce"/>
                <a:cs typeface="Open Sauce"/>
                <a:sym typeface="Open Sauce"/>
              </a:rPr>
              <a:t>Instagram &amp; Facebook presence</a:t>
            </a:r>
          </a:p>
          <a:p>
            <a:pPr algn="l" marL="1100611" indent="-366870" lvl="2">
              <a:lnSpc>
                <a:spcPts val="3568"/>
              </a:lnSpc>
              <a:buFont typeface="Arial"/>
              <a:buChar char="⚬"/>
            </a:pPr>
            <a:r>
              <a:rPr lang="en-US" sz="2548">
                <a:solidFill>
                  <a:srgbClr val="000000"/>
                </a:solidFill>
                <a:latin typeface="Open Sauce"/>
                <a:ea typeface="Open Sauce"/>
                <a:cs typeface="Open Sauce"/>
                <a:sym typeface="Open Sauce"/>
              </a:rPr>
              <a:t>Multi-platform campaign</a:t>
            </a:r>
          </a:p>
          <a:p>
            <a:pPr algn="l" marL="1100611" indent="-366870" lvl="2">
              <a:lnSpc>
                <a:spcPts val="3568"/>
              </a:lnSpc>
              <a:buFont typeface="Arial"/>
              <a:buChar char="⚬"/>
            </a:pPr>
            <a:r>
              <a:rPr lang="en-US" sz="2548">
                <a:solidFill>
                  <a:srgbClr val="000000"/>
                </a:solidFill>
                <a:latin typeface="Open Sauce"/>
                <a:ea typeface="Open Sauce"/>
                <a:cs typeface="Open Sauce"/>
                <a:sym typeface="Open Sauce"/>
              </a:rPr>
              <a:t>Hashtag campaign (#weaccept)</a:t>
            </a:r>
          </a:p>
          <a:p>
            <a:pPr algn="l">
              <a:lnSpc>
                <a:spcPts val="4128"/>
              </a:lnSpc>
            </a:pPr>
          </a:p>
          <a:p>
            <a:pPr algn="l" marL="636663" indent="-318332" lvl="1">
              <a:lnSpc>
                <a:spcPts val="4128"/>
              </a:lnSpc>
              <a:buFont typeface="Arial"/>
              <a:buChar char="•"/>
            </a:pPr>
            <a:r>
              <a:rPr lang="en-US" sz="2948">
                <a:solidFill>
                  <a:srgbClr val="000000"/>
                </a:solidFill>
                <a:latin typeface="Open Sauce"/>
                <a:ea typeface="Open Sauce"/>
                <a:cs typeface="Open Sauce"/>
                <a:sym typeface="Open Sauce"/>
              </a:rPr>
              <a:t>#1 Hashtag during 2017 SuperBowl</a:t>
            </a:r>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bg>
      <p:bgPr>
        <a:solidFill>
          <a:srgbClr val="F8F6F1"/>
        </a:solidFill>
      </p:bgPr>
    </p:bg>
    <p:spTree>
      <p:nvGrpSpPr>
        <p:cNvPr id="1" name=""/>
        <p:cNvGrpSpPr/>
        <p:nvPr/>
      </p:nvGrpSpPr>
      <p:grpSpPr>
        <a:xfrm>
          <a:off x="0" y="0"/>
          <a:ext cx="0" cy="0"/>
          <a:chOff x="0" y="0"/>
          <a:chExt cx="0" cy="0"/>
        </a:xfrm>
      </p:grpSpPr>
      <p:sp>
        <p:nvSpPr>
          <p:cNvPr name="Freeform 2" id="2"/>
          <p:cNvSpPr/>
          <p:nvPr/>
        </p:nvSpPr>
        <p:spPr>
          <a:xfrm flipH="false" flipV="false" rot="0">
            <a:off x="13311323" y="7254243"/>
            <a:ext cx="6246740" cy="6281000"/>
          </a:xfrm>
          <a:custGeom>
            <a:avLst/>
            <a:gdLst/>
            <a:ahLst/>
            <a:cxnLst/>
            <a:rect r="r" b="b" t="t" l="l"/>
            <a:pathLst>
              <a:path h="6281000" w="6246740">
                <a:moveTo>
                  <a:pt x="0" y="0"/>
                </a:moveTo>
                <a:lnTo>
                  <a:pt x="6246739" y="0"/>
                </a:lnTo>
                <a:lnTo>
                  <a:pt x="6246739" y="6281000"/>
                </a:lnTo>
                <a:lnTo>
                  <a:pt x="0" y="6281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3062665" y="7254243"/>
            <a:ext cx="7365874" cy="7365874"/>
          </a:xfrm>
          <a:custGeom>
            <a:avLst/>
            <a:gdLst/>
            <a:ahLst/>
            <a:cxnLst/>
            <a:rect r="r" b="b" t="t" l="l"/>
            <a:pathLst>
              <a:path h="7365874" w="7365874">
                <a:moveTo>
                  <a:pt x="0" y="0"/>
                </a:moveTo>
                <a:lnTo>
                  <a:pt x="7365875" y="0"/>
                </a:lnTo>
                <a:lnTo>
                  <a:pt x="7365875" y="7365874"/>
                </a:lnTo>
                <a:lnTo>
                  <a:pt x="0" y="736587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2518440" y="-3114742"/>
            <a:ext cx="5968153" cy="6000885"/>
          </a:xfrm>
          <a:custGeom>
            <a:avLst/>
            <a:gdLst/>
            <a:ahLst/>
            <a:cxnLst/>
            <a:rect r="r" b="b" t="t" l="l"/>
            <a:pathLst>
              <a:path h="6000885" w="5968153">
                <a:moveTo>
                  <a:pt x="0" y="0"/>
                </a:moveTo>
                <a:lnTo>
                  <a:pt x="5968153" y="0"/>
                </a:lnTo>
                <a:lnTo>
                  <a:pt x="5968153" y="6000884"/>
                </a:lnTo>
                <a:lnTo>
                  <a:pt x="0" y="600088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3641859">
            <a:off x="14582144" y="-2536717"/>
            <a:ext cx="6736363" cy="6368925"/>
          </a:xfrm>
          <a:custGeom>
            <a:avLst/>
            <a:gdLst/>
            <a:ahLst/>
            <a:cxnLst/>
            <a:rect r="r" b="b" t="t" l="l"/>
            <a:pathLst>
              <a:path h="6368925" w="6736363">
                <a:moveTo>
                  <a:pt x="0" y="0"/>
                </a:moveTo>
                <a:lnTo>
                  <a:pt x="6736363" y="0"/>
                </a:lnTo>
                <a:lnTo>
                  <a:pt x="6736363" y="6368926"/>
                </a:lnTo>
                <a:lnTo>
                  <a:pt x="0" y="636892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8220728" y="2003159"/>
            <a:ext cx="1846544" cy="1765968"/>
          </a:xfrm>
          <a:custGeom>
            <a:avLst/>
            <a:gdLst/>
            <a:ahLst/>
            <a:cxnLst/>
            <a:rect r="r" b="b" t="t" l="l"/>
            <a:pathLst>
              <a:path h="1765968" w="1846544">
                <a:moveTo>
                  <a:pt x="0" y="0"/>
                </a:moveTo>
                <a:lnTo>
                  <a:pt x="1846544" y="0"/>
                </a:lnTo>
                <a:lnTo>
                  <a:pt x="1846544" y="1765967"/>
                </a:lnTo>
                <a:lnTo>
                  <a:pt x="0" y="176596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7" id="7"/>
          <p:cNvSpPr txBox="true"/>
          <p:nvPr/>
        </p:nvSpPr>
        <p:spPr>
          <a:xfrm rot="0">
            <a:off x="2743492" y="5183538"/>
            <a:ext cx="12801016" cy="1024893"/>
          </a:xfrm>
          <a:prstGeom prst="rect">
            <a:avLst/>
          </a:prstGeom>
        </p:spPr>
        <p:txBody>
          <a:bodyPr anchor="t" rtlCol="false" tIns="0" lIns="0" bIns="0" rIns="0">
            <a:spAutoFit/>
          </a:bodyPr>
          <a:lstStyle/>
          <a:p>
            <a:pPr algn="ctr" marL="0" indent="0" lvl="0">
              <a:lnSpc>
                <a:spcPts val="7980"/>
              </a:lnSpc>
            </a:pPr>
            <a:r>
              <a:rPr lang="en-US" sz="7000" i="true" spc="-504">
                <a:solidFill>
                  <a:srgbClr val="E72F29"/>
                </a:solidFill>
                <a:latin typeface="Libre Baskerville Italics"/>
                <a:ea typeface="Libre Baskerville Italics"/>
                <a:cs typeface="Libre Baskerville Italics"/>
                <a:sym typeface="Libre Baskerville Italics"/>
              </a:rPr>
              <a:t>Wells Fargo: “Re-Established”</a:t>
            </a:r>
          </a:p>
        </p:txBody>
      </p:sp>
      <p:sp>
        <p:nvSpPr>
          <p:cNvPr name="TextBox 8" id="8"/>
          <p:cNvSpPr txBox="true"/>
          <p:nvPr/>
        </p:nvSpPr>
        <p:spPr>
          <a:xfrm rot="0">
            <a:off x="2252433" y="3970054"/>
            <a:ext cx="13783134" cy="1175384"/>
          </a:xfrm>
          <a:prstGeom prst="rect">
            <a:avLst/>
          </a:prstGeom>
        </p:spPr>
        <p:txBody>
          <a:bodyPr anchor="t" rtlCol="false" tIns="0" lIns="0" bIns="0" rIns="0">
            <a:spAutoFit/>
          </a:bodyPr>
          <a:lstStyle/>
          <a:p>
            <a:pPr algn="ctr" marL="0" indent="0" lvl="0">
              <a:lnSpc>
                <a:spcPts val="9119"/>
              </a:lnSpc>
            </a:pPr>
            <a:r>
              <a:rPr lang="en-US" b="true" sz="7999" spc="-575">
                <a:solidFill>
                  <a:srgbClr val="000000"/>
                </a:solidFill>
                <a:latin typeface="Open Sauce Bold"/>
                <a:ea typeface="Open Sauce Bold"/>
                <a:cs typeface="Open Sauce Bold"/>
                <a:sym typeface="Open Sauce Bold"/>
              </a:rPr>
              <a:t>Service - Ineffective </a:t>
            </a:r>
          </a:p>
        </p:txBody>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bg>
      <p:bgPr>
        <a:solidFill>
          <a:srgbClr val="F8F6F1"/>
        </a:solidFill>
      </p:bgPr>
    </p:bg>
    <p:spTree>
      <p:nvGrpSpPr>
        <p:cNvPr id="1" name=""/>
        <p:cNvGrpSpPr/>
        <p:nvPr/>
      </p:nvGrpSpPr>
      <p:grpSpPr>
        <a:xfrm>
          <a:off x="0" y="0"/>
          <a:ext cx="0" cy="0"/>
          <a:chOff x="0" y="0"/>
          <a:chExt cx="0" cy="0"/>
        </a:xfrm>
      </p:grpSpPr>
      <p:sp>
        <p:nvSpPr>
          <p:cNvPr name="Freeform 2" id="2"/>
          <p:cNvSpPr/>
          <p:nvPr/>
        </p:nvSpPr>
        <p:spPr>
          <a:xfrm flipH="false" flipV="false" rot="0">
            <a:off x="10792758" y="3780947"/>
            <a:ext cx="7186016" cy="6084160"/>
          </a:xfrm>
          <a:custGeom>
            <a:avLst/>
            <a:gdLst/>
            <a:ahLst/>
            <a:cxnLst/>
            <a:rect r="r" b="b" t="t" l="l"/>
            <a:pathLst>
              <a:path h="6084160" w="7186016">
                <a:moveTo>
                  <a:pt x="0" y="0"/>
                </a:moveTo>
                <a:lnTo>
                  <a:pt x="7186015" y="0"/>
                </a:lnTo>
                <a:lnTo>
                  <a:pt x="7186015" y="6084160"/>
                </a:lnTo>
                <a:lnTo>
                  <a:pt x="0" y="6084160"/>
                </a:lnTo>
                <a:lnTo>
                  <a:pt x="0" y="0"/>
                </a:lnTo>
                <a:close/>
              </a:path>
            </a:pathLst>
          </a:custGeom>
          <a:blipFill>
            <a:blip r:embed="rId2"/>
            <a:stretch>
              <a:fillRect l="0" t="0" r="0" b="0"/>
            </a:stretch>
          </a:blipFill>
        </p:spPr>
      </p:sp>
      <p:sp>
        <p:nvSpPr>
          <p:cNvPr name="TextBox 3" id="3"/>
          <p:cNvSpPr txBox="true"/>
          <p:nvPr/>
        </p:nvSpPr>
        <p:spPr>
          <a:xfrm rot="0">
            <a:off x="572712" y="574837"/>
            <a:ext cx="11182356" cy="2350770"/>
          </a:xfrm>
          <a:prstGeom prst="rect">
            <a:avLst/>
          </a:prstGeom>
        </p:spPr>
        <p:txBody>
          <a:bodyPr anchor="t" rtlCol="false" tIns="0" lIns="0" bIns="0" rIns="0">
            <a:spAutoFit/>
          </a:bodyPr>
          <a:lstStyle/>
          <a:p>
            <a:pPr algn="l" marL="0" indent="0" lvl="0">
              <a:lnSpc>
                <a:spcPts val="18239"/>
              </a:lnSpc>
              <a:spcBef>
                <a:spcPct val="0"/>
              </a:spcBef>
            </a:pPr>
            <a:r>
              <a:rPr lang="en-US" sz="15999" spc="-1151">
                <a:solidFill>
                  <a:srgbClr val="000000"/>
                </a:solidFill>
                <a:latin typeface="Open Sauce Light"/>
                <a:ea typeface="Open Sauce Light"/>
                <a:cs typeface="Open Sauce Light"/>
                <a:sym typeface="Open Sauce Light"/>
              </a:rPr>
              <a:t>Background</a:t>
            </a:r>
          </a:p>
        </p:txBody>
      </p:sp>
      <p:sp>
        <p:nvSpPr>
          <p:cNvPr name="TextBox 4" id="4"/>
          <p:cNvSpPr txBox="true"/>
          <p:nvPr/>
        </p:nvSpPr>
        <p:spPr>
          <a:xfrm rot="0">
            <a:off x="572712" y="2648424"/>
            <a:ext cx="11182356" cy="2350770"/>
          </a:xfrm>
          <a:prstGeom prst="rect">
            <a:avLst/>
          </a:prstGeom>
        </p:spPr>
        <p:txBody>
          <a:bodyPr anchor="t" rtlCol="false" tIns="0" lIns="0" bIns="0" rIns="0">
            <a:spAutoFit/>
          </a:bodyPr>
          <a:lstStyle/>
          <a:p>
            <a:pPr algn="l" marL="0" indent="0" lvl="0">
              <a:lnSpc>
                <a:spcPts val="18239"/>
              </a:lnSpc>
              <a:spcBef>
                <a:spcPct val="0"/>
              </a:spcBef>
            </a:pPr>
            <a:r>
              <a:rPr lang="en-US" b="true" sz="15999" spc="-1151">
                <a:solidFill>
                  <a:srgbClr val="E72F29"/>
                </a:solidFill>
                <a:latin typeface="Open Sauce Medium"/>
                <a:ea typeface="Open Sauce Medium"/>
                <a:cs typeface="Open Sauce Medium"/>
                <a:sym typeface="Open Sauce Medium"/>
              </a:rPr>
              <a:t>Information</a:t>
            </a:r>
          </a:p>
        </p:txBody>
      </p:sp>
      <p:sp>
        <p:nvSpPr>
          <p:cNvPr name="TextBox 5" id="5"/>
          <p:cNvSpPr txBox="true"/>
          <p:nvPr/>
        </p:nvSpPr>
        <p:spPr>
          <a:xfrm rot="0">
            <a:off x="889327" y="6006374"/>
            <a:ext cx="11195583" cy="1570542"/>
          </a:xfrm>
          <a:prstGeom prst="rect">
            <a:avLst/>
          </a:prstGeom>
        </p:spPr>
        <p:txBody>
          <a:bodyPr anchor="t" rtlCol="false" tIns="0" lIns="0" bIns="0" rIns="0">
            <a:spAutoFit/>
          </a:bodyPr>
          <a:lstStyle/>
          <a:p>
            <a:pPr algn="l" marL="636663" indent="-318332" lvl="1">
              <a:lnSpc>
                <a:spcPts val="4128"/>
              </a:lnSpc>
              <a:buFont typeface="Arial"/>
              <a:buChar char="•"/>
            </a:pPr>
            <a:r>
              <a:rPr lang="en-US" sz="2948">
                <a:solidFill>
                  <a:srgbClr val="000000"/>
                </a:solidFill>
                <a:latin typeface="Open Sauce"/>
                <a:ea typeface="Open Sauce"/>
                <a:cs typeface="Open Sauce"/>
                <a:sym typeface="Open Sauce"/>
              </a:rPr>
              <a:t>Multinational financial services company</a:t>
            </a:r>
          </a:p>
          <a:p>
            <a:pPr algn="l" marL="636663" indent="-318332" lvl="1">
              <a:lnSpc>
                <a:spcPts val="4128"/>
              </a:lnSpc>
              <a:buFont typeface="Arial"/>
              <a:buChar char="•"/>
            </a:pPr>
            <a:r>
              <a:rPr lang="en-US" sz="2948">
                <a:solidFill>
                  <a:srgbClr val="000000"/>
                </a:solidFill>
                <a:latin typeface="Open Sauce"/>
                <a:ea typeface="Open Sauce"/>
                <a:cs typeface="Open Sauce"/>
                <a:sym typeface="Open Sauce"/>
              </a:rPr>
              <a:t>Bank accounts, loans, mortgages, etc.</a:t>
            </a:r>
          </a:p>
          <a:p>
            <a:pPr algn="l" marL="636663" indent="-318332" lvl="1">
              <a:lnSpc>
                <a:spcPts val="4128"/>
              </a:lnSpc>
              <a:buFont typeface="Arial"/>
              <a:buChar char="•"/>
            </a:pPr>
            <a:r>
              <a:rPr lang="en-US" sz="2948">
                <a:solidFill>
                  <a:srgbClr val="000000"/>
                </a:solidFill>
                <a:latin typeface="Open Sauce"/>
                <a:ea typeface="Open Sauce"/>
                <a:cs typeface="Open Sauce"/>
                <a:sym typeface="Open Sauce"/>
              </a:rPr>
              <a:t>Founded 1852 in New York, NY</a:t>
            </a:r>
          </a:p>
        </p:txBody>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bg>
      <p:bgPr>
        <a:solidFill>
          <a:srgbClr val="F8F6F1"/>
        </a:solidFill>
      </p:bgPr>
    </p:bg>
    <p:spTree>
      <p:nvGrpSpPr>
        <p:cNvPr id="1" name=""/>
        <p:cNvGrpSpPr/>
        <p:nvPr/>
      </p:nvGrpSpPr>
      <p:grpSpPr>
        <a:xfrm>
          <a:off x="0" y="0"/>
          <a:ext cx="0" cy="0"/>
          <a:chOff x="0" y="0"/>
          <a:chExt cx="0" cy="0"/>
        </a:xfrm>
      </p:grpSpPr>
      <p:pic>
        <p:nvPicPr>
          <p:cNvPr name="Picture 2" id="2"/>
          <p:cNvPicPr>
            <a:picLocks noChangeAspect="true"/>
          </p:cNvPicPr>
          <p:nvPr>
            <a:videoFile r:link="rId3"/>
          </p:nvPr>
        </p:nvPicPr>
        <p:blipFill>
          <a:blip r:embed="rId2"/>
          <a:stretch>
            <a:fillRect/>
          </a:stretch>
        </p:blipFill>
        <p:spPr>
          <a:xfrm rot="0">
            <a:off x="1576607" y="1456370"/>
            <a:ext cx="16030428" cy="8071527"/>
          </a:xfrm>
          <a:prstGeom prst="rect">
            <a:avLst/>
          </a:prstGeom>
        </p:spPr>
      </p:pic>
      <p:sp>
        <p:nvSpPr>
          <p:cNvPr name="Freeform 3" id="3"/>
          <p:cNvSpPr/>
          <p:nvPr/>
        </p:nvSpPr>
        <p:spPr>
          <a:xfrm flipH="false" flipV="false" rot="0">
            <a:off x="533240" y="413003"/>
            <a:ext cx="2086733" cy="2086733"/>
          </a:xfrm>
          <a:custGeom>
            <a:avLst/>
            <a:gdLst/>
            <a:ahLst/>
            <a:cxnLst/>
            <a:rect r="r" b="b" t="t" l="l"/>
            <a:pathLst>
              <a:path h="2086733" w="2086733">
                <a:moveTo>
                  <a:pt x="0" y="0"/>
                </a:moveTo>
                <a:lnTo>
                  <a:pt x="2086733" y="0"/>
                </a:lnTo>
                <a:lnTo>
                  <a:pt x="2086733" y="2086733"/>
                </a:lnTo>
                <a:lnTo>
                  <a:pt x="0" y="2086733"/>
                </a:lnTo>
                <a:lnTo>
                  <a:pt x="0" y="0"/>
                </a:lnTo>
                <a:close/>
              </a:path>
            </a:pathLst>
          </a:custGeom>
          <a:blipFill>
            <a:blip r:embed="rId4"/>
            <a:stretch>
              <a:fillRect l="0" t="0" r="0" b="0"/>
            </a:stretch>
          </a:blipFill>
        </p:spPr>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bg>
      <p:bgPr>
        <a:solidFill>
          <a:srgbClr val="F8F6F1"/>
        </a:solidFill>
      </p:bgPr>
    </p:bg>
    <p:spTree>
      <p:nvGrpSpPr>
        <p:cNvPr id="1" name=""/>
        <p:cNvGrpSpPr/>
        <p:nvPr/>
      </p:nvGrpSpPr>
      <p:grpSpPr>
        <a:xfrm>
          <a:off x="0" y="0"/>
          <a:ext cx="0" cy="0"/>
          <a:chOff x="0" y="0"/>
          <a:chExt cx="0" cy="0"/>
        </a:xfrm>
      </p:grpSpPr>
      <p:sp>
        <p:nvSpPr>
          <p:cNvPr name="Freeform 2" id="2"/>
          <p:cNvSpPr/>
          <p:nvPr/>
        </p:nvSpPr>
        <p:spPr>
          <a:xfrm flipH="false" flipV="false" rot="0">
            <a:off x="12900972" y="-327485"/>
            <a:ext cx="6810248" cy="6810248"/>
          </a:xfrm>
          <a:custGeom>
            <a:avLst/>
            <a:gdLst/>
            <a:ahLst/>
            <a:cxnLst/>
            <a:rect r="r" b="b" t="t" l="l"/>
            <a:pathLst>
              <a:path h="6810248" w="6810248">
                <a:moveTo>
                  <a:pt x="0" y="0"/>
                </a:moveTo>
                <a:lnTo>
                  <a:pt x="6810248" y="0"/>
                </a:lnTo>
                <a:lnTo>
                  <a:pt x="6810248" y="6810248"/>
                </a:lnTo>
                <a:lnTo>
                  <a:pt x="0" y="681024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5273037" y="1673794"/>
            <a:ext cx="2066118" cy="2066118"/>
          </a:xfrm>
          <a:custGeom>
            <a:avLst/>
            <a:gdLst/>
            <a:ahLst/>
            <a:cxnLst/>
            <a:rect r="r" b="b" t="t" l="l"/>
            <a:pathLst>
              <a:path h="2066118" w="2066118">
                <a:moveTo>
                  <a:pt x="0" y="0"/>
                </a:moveTo>
                <a:lnTo>
                  <a:pt x="2066118" y="0"/>
                </a:lnTo>
                <a:lnTo>
                  <a:pt x="2066118" y="2066118"/>
                </a:lnTo>
                <a:lnTo>
                  <a:pt x="0" y="2066118"/>
                </a:lnTo>
                <a:lnTo>
                  <a:pt x="0" y="0"/>
                </a:lnTo>
                <a:close/>
              </a:path>
            </a:pathLst>
          </a:custGeom>
          <a:blipFill>
            <a:blip r:embed="rId5"/>
            <a:stretch>
              <a:fillRect l="0" t="0" r="0" b="0"/>
            </a:stretch>
          </a:blipFill>
        </p:spPr>
      </p:sp>
      <p:grpSp>
        <p:nvGrpSpPr>
          <p:cNvPr name="Group 4" id="4"/>
          <p:cNvGrpSpPr/>
          <p:nvPr/>
        </p:nvGrpSpPr>
        <p:grpSpPr>
          <a:xfrm rot="0">
            <a:off x="8791970" y="4169523"/>
            <a:ext cx="8743950" cy="5246370"/>
            <a:chOff x="0" y="0"/>
            <a:chExt cx="6350000" cy="3810000"/>
          </a:xfrm>
        </p:grpSpPr>
        <p:sp>
          <p:nvSpPr>
            <p:cNvPr name="Freeform 5" id="5"/>
            <p:cNvSpPr/>
            <p:nvPr/>
          </p:nvSpPr>
          <p:spPr>
            <a:xfrm flipH="false" flipV="false" rot="0">
              <a:off x="0" y="0"/>
              <a:ext cx="6350000" cy="3810000"/>
            </a:xfrm>
            <a:custGeom>
              <a:avLst/>
              <a:gdLst/>
              <a:ahLst/>
              <a:cxnLst/>
              <a:rect r="r" b="b" t="t" l="l"/>
              <a:pathLst>
                <a:path h="3810000" w="6350000">
                  <a:moveTo>
                    <a:pt x="0" y="3175000"/>
                  </a:moveTo>
                  <a:lnTo>
                    <a:pt x="0" y="635000"/>
                  </a:lnTo>
                  <a:cubicBezTo>
                    <a:pt x="0" y="284480"/>
                    <a:pt x="284480" y="0"/>
                    <a:pt x="635000" y="0"/>
                  </a:cubicBezTo>
                  <a:lnTo>
                    <a:pt x="5715000" y="0"/>
                  </a:lnTo>
                  <a:cubicBezTo>
                    <a:pt x="6065520" y="0"/>
                    <a:pt x="6350000" y="284480"/>
                    <a:pt x="6350000" y="635000"/>
                  </a:cubicBezTo>
                  <a:lnTo>
                    <a:pt x="6350000" y="3175000"/>
                  </a:lnTo>
                  <a:cubicBezTo>
                    <a:pt x="6350000" y="3525520"/>
                    <a:pt x="6065520" y="3810000"/>
                    <a:pt x="5715000" y="3810000"/>
                  </a:cubicBezTo>
                  <a:lnTo>
                    <a:pt x="635000" y="3810000"/>
                  </a:lnTo>
                  <a:cubicBezTo>
                    <a:pt x="284480" y="3810000"/>
                    <a:pt x="0" y="3525520"/>
                    <a:pt x="0" y="3175000"/>
                  </a:cubicBezTo>
                  <a:close/>
                </a:path>
              </a:pathLst>
            </a:custGeom>
            <a:blipFill>
              <a:blip r:embed="rId6"/>
              <a:stretch>
                <a:fillRect l="-9292" t="-392" r="-34755" b="-19647"/>
              </a:stretch>
            </a:blipFill>
          </p:spPr>
        </p:sp>
      </p:grpSp>
      <p:sp>
        <p:nvSpPr>
          <p:cNvPr name="TextBox 6" id="6"/>
          <p:cNvSpPr txBox="true"/>
          <p:nvPr/>
        </p:nvSpPr>
        <p:spPr>
          <a:xfrm rot="0">
            <a:off x="589227" y="969213"/>
            <a:ext cx="10112615" cy="1466311"/>
          </a:xfrm>
          <a:prstGeom prst="rect">
            <a:avLst/>
          </a:prstGeom>
        </p:spPr>
        <p:txBody>
          <a:bodyPr anchor="t" rtlCol="false" tIns="0" lIns="0" bIns="0" rIns="0">
            <a:spAutoFit/>
          </a:bodyPr>
          <a:lstStyle/>
          <a:p>
            <a:pPr algn="l" marL="0" indent="0" lvl="0">
              <a:lnSpc>
                <a:spcPts val="11404"/>
              </a:lnSpc>
              <a:spcBef>
                <a:spcPct val="0"/>
              </a:spcBef>
            </a:pPr>
            <a:r>
              <a:rPr lang="en-US" sz="10004" spc="-720">
                <a:solidFill>
                  <a:srgbClr val="000000"/>
                </a:solidFill>
                <a:latin typeface="Open Sauce"/>
                <a:ea typeface="Open Sauce"/>
                <a:cs typeface="Open Sauce"/>
                <a:sym typeface="Open Sauce"/>
              </a:rPr>
              <a:t>“Re-Established”</a:t>
            </a:r>
          </a:p>
        </p:txBody>
      </p:sp>
      <p:sp>
        <p:nvSpPr>
          <p:cNvPr name="TextBox 7" id="7"/>
          <p:cNvSpPr txBox="true"/>
          <p:nvPr/>
        </p:nvSpPr>
        <p:spPr>
          <a:xfrm rot="0">
            <a:off x="1028700" y="3862404"/>
            <a:ext cx="7134408" cy="4189917"/>
          </a:xfrm>
          <a:prstGeom prst="rect">
            <a:avLst/>
          </a:prstGeom>
        </p:spPr>
        <p:txBody>
          <a:bodyPr anchor="t" rtlCol="false" tIns="0" lIns="0" bIns="0" rIns="0">
            <a:spAutoFit/>
          </a:bodyPr>
          <a:lstStyle/>
          <a:p>
            <a:pPr algn="l" marL="636663" indent="-318332" lvl="1">
              <a:lnSpc>
                <a:spcPts val="4128"/>
              </a:lnSpc>
              <a:buFont typeface="Arial"/>
              <a:buChar char="•"/>
            </a:pPr>
            <a:r>
              <a:rPr lang="en-US" sz="2948">
                <a:solidFill>
                  <a:srgbClr val="000000"/>
                </a:solidFill>
                <a:latin typeface="Open Sauce"/>
                <a:ea typeface="Open Sauce"/>
                <a:cs typeface="Open Sauce"/>
                <a:sym typeface="Open Sauce"/>
              </a:rPr>
              <a:t>2018 Brand campaign aimed to re-establish trust with stakeholders</a:t>
            </a:r>
          </a:p>
          <a:p>
            <a:pPr algn="l">
              <a:lnSpc>
                <a:spcPts val="4128"/>
              </a:lnSpc>
            </a:pPr>
          </a:p>
          <a:p>
            <a:pPr algn="l" marL="636663" indent="-318332" lvl="1">
              <a:lnSpc>
                <a:spcPts val="4128"/>
              </a:lnSpc>
              <a:buFont typeface="Arial"/>
              <a:buChar char="•"/>
            </a:pPr>
            <a:r>
              <a:rPr lang="en-US" sz="2948">
                <a:solidFill>
                  <a:srgbClr val="000000"/>
                </a:solidFill>
                <a:latin typeface="Open Sauce"/>
                <a:ea typeface="Open Sauce"/>
                <a:cs typeface="Open Sauce"/>
                <a:sym typeface="Open Sauce"/>
              </a:rPr>
              <a:t>Response to fake accounts scandal</a:t>
            </a:r>
          </a:p>
          <a:p>
            <a:pPr algn="l">
              <a:lnSpc>
                <a:spcPts val="4128"/>
              </a:lnSpc>
            </a:pPr>
          </a:p>
          <a:p>
            <a:pPr algn="l" marL="636663" indent="-318332" lvl="1">
              <a:lnSpc>
                <a:spcPts val="4128"/>
              </a:lnSpc>
              <a:buFont typeface="Arial"/>
              <a:buChar char="•"/>
            </a:pPr>
            <a:r>
              <a:rPr lang="en-US" sz="2948">
                <a:solidFill>
                  <a:srgbClr val="000000"/>
                </a:solidFill>
                <a:latin typeface="Open Sauce"/>
                <a:ea typeface="Open Sauce"/>
                <a:cs typeface="Open Sauce"/>
                <a:sym typeface="Open Sauce"/>
              </a:rPr>
              <a:t>Campaign ran on all platforms (TV, Print, Social media)</a:t>
            </a:r>
          </a:p>
        </p:txBody>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bg>
      <p:bgPr>
        <a:solidFill>
          <a:srgbClr val="F8F6F1"/>
        </a:solidFill>
      </p:bgPr>
    </p:bg>
    <p:spTree>
      <p:nvGrpSpPr>
        <p:cNvPr id="1" name=""/>
        <p:cNvGrpSpPr/>
        <p:nvPr/>
      </p:nvGrpSpPr>
      <p:grpSpPr>
        <a:xfrm>
          <a:off x="0" y="0"/>
          <a:ext cx="0" cy="0"/>
          <a:chOff x="0" y="0"/>
          <a:chExt cx="0" cy="0"/>
        </a:xfrm>
      </p:grpSpPr>
      <p:sp>
        <p:nvSpPr>
          <p:cNvPr name="TextBox 2" id="2"/>
          <p:cNvSpPr txBox="true"/>
          <p:nvPr/>
        </p:nvSpPr>
        <p:spPr>
          <a:xfrm rot="0">
            <a:off x="4933610" y="551251"/>
            <a:ext cx="5963507" cy="1491891"/>
          </a:xfrm>
          <a:prstGeom prst="rect">
            <a:avLst/>
          </a:prstGeom>
        </p:spPr>
        <p:txBody>
          <a:bodyPr anchor="t" rtlCol="false" tIns="0" lIns="0" bIns="0" rIns="0">
            <a:spAutoFit/>
          </a:bodyPr>
          <a:lstStyle/>
          <a:p>
            <a:pPr algn="ctr" marL="0" indent="0" lvl="0">
              <a:lnSpc>
                <a:spcPts val="11667"/>
              </a:lnSpc>
              <a:spcBef>
                <a:spcPct val="0"/>
              </a:spcBef>
            </a:pPr>
            <a:r>
              <a:rPr lang="en-US" sz="10234" spc="-736">
                <a:solidFill>
                  <a:srgbClr val="000000"/>
                </a:solidFill>
                <a:latin typeface="Open Sauce"/>
                <a:ea typeface="Open Sauce"/>
                <a:cs typeface="Open Sauce"/>
                <a:sym typeface="Open Sauce"/>
              </a:rPr>
              <a:t>Why was it</a:t>
            </a:r>
          </a:p>
        </p:txBody>
      </p:sp>
      <p:sp>
        <p:nvSpPr>
          <p:cNvPr name="TextBox 3" id="3"/>
          <p:cNvSpPr txBox="true"/>
          <p:nvPr/>
        </p:nvSpPr>
        <p:spPr>
          <a:xfrm rot="0">
            <a:off x="4029073" y="1712835"/>
            <a:ext cx="10229853" cy="2350770"/>
          </a:xfrm>
          <a:prstGeom prst="rect">
            <a:avLst/>
          </a:prstGeom>
        </p:spPr>
        <p:txBody>
          <a:bodyPr anchor="t" rtlCol="false" tIns="0" lIns="0" bIns="0" rIns="0">
            <a:spAutoFit/>
          </a:bodyPr>
          <a:lstStyle/>
          <a:p>
            <a:pPr algn="ctr" marL="0" indent="0" lvl="0">
              <a:lnSpc>
                <a:spcPts val="18239"/>
              </a:lnSpc>
              <a:spcBef>
                <a:spcPct val="0"/>
              </a:spcBef>
            </a:pPr>
            <a:r>
              <a:rPr lang="en-US" sz="15999" spc="-1151">
                <a:solidFill>
                  <a:srgbClr val="E72F29"/>
                </a:solidFill>
                <a:latin typeface="Open Sauce"/>
                <a:ea typeface="Open Sauce"/>
                <a:cs typeface="Open Sauce"/>
                <a:sym typeface="Open Sauce"/>
              </a:rPr>
              <a:t>Inffective?</a:t>
            </a:r>
          </a:p>
        </p:txBody>
      </p:sp>
      <p:sp>
        <p:nvSpPr>
          <p:cNvPr name="Freeform 4" id="4"/>
          <p:cNvSpPr/>
          <p:nvPr/>
        </p:nvSpPr>
        <p:spPr>
          <a:xfrm flipH="false" flipV="false" rot="0">
            <a:off x="-1955376" y="-1144818"/>
            <a:ext cx="5968153" cy="6000885"/>
          </a:xfrm>
          <a:custGeom>
            <a:avLst/>
            <a:gdLst/>
            <a:ahLst/>
            <a:cxnLst/>
            <a:rect r="r" b="b" t="t" l="l"/>
            <a:pathLst>
              <a:path h="6000885" w="5968153">
                <a:moveTo>
                  <a:pt x="0" y="0"/>
                </a:moveTo>
                <a:lnTo>
                  <a:pt x="5968152" y="0"/>
                </a:lnTo>
                <a:lnTo>
                  <a:pt x="5968152" y="6000885"/>
                </a:lnTo>
                <a:lnTo>
                  <a:pt x="0" y="600088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3641859">
            <a:off x="13891118" y="-1328838"/>
            <a:ext cx="6736363" cy="6368925"/>
          </a:xfrm>
          <a:custGeom>
            <a:avLst/>
            <a:gdLst/>
            <a:ahLst/>
            <a:cxnLst/>
            <a:rect r="r" b="b" t="t" l="l"/>
            <a:pathLst>
              <a:path h="6368925" w="6736363">
                <a:moveTo>
                  <a:pt x="0" y="0"/>
                </a:moveTo>
                <a:lnTo>
                  <a:pt x="6736364" y="0"/>
                </a:lnTo>
                <a:lnTo>
                  <a:pt x="6736364" y="6368925"/>
                </a:lnTo>
                <a:lnTo>
                  <a:pt x="0" y="636892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1805195" y="4775668"/>
            <a:ext cx="5730998" cy="4823934"/>
          </a:xfrm>
          <a:custGeom>
            <a:avLst/>
            <a:gdLst/>
            <a:ahLst/>
            <a:cxnLst/>
            <a:rect r="r" b="b" t="t" l="l"/>
            <a:pathLst>
              <a:path h="4823934" w="5730998">
                <a:moveTo>
                  <a:pt x="0" y="0"/>
                </a:moveTo>
                <a:lnTo>
                  <a:pt x="5730998" y="0"/>
                </a:lnTo>
                <a:lnTo>
                  <a:pt x="5730998" y="4823933"/>
                </a:lnTo>
                <a:lnTo>
                  <a:pt x="0" y="4823933"/>
                </a:lnTo>
                <a:lnTo>
                  <a:pt x="0" y="0"/>
                </a:lnTo>
                <a:close/>
              </a:path>
            </a:pathLst>
          </a:custGeom>
          <a:blipFill>
            <a:blip r:embed="rId7"/>
            <a:stretch>
              <a:fillRect l="-3210" t="-3430" r="-3204" b="-3138"/>
            </a:stretch>
          </a:blipFill>
        </p:spPr>
      </p:sp>
      <p:sp>
        <p:nvSpPr>
          <p:cNvPr name="TextBox 7" id="7"/>
          <p:cNvSpPr txBox="true"/>
          <p:nvPr/>
        </p:nvSpPr>
        <p:spPr>
          <a:xfrm rot="0">
            <a:off x="8643311" y="5628625"/>
            <a:ext cx="8615989" cy="3089444"/>
          </a:xfrm>
          <a:prstGeom prst="rect">
            <a:avLst/>
          </a:prstGeom>
        </p:spPr>
        <p:txBody>
          <a:bodyPr anchor="t" rtlCol="false" tIns="0" lIns="0" bIns="0" rIns="0">
            <a:spAutoFit/>
          </a:bodyPr>
          <a:lstStyle/>
          <a:p>
            <a:pPr algn="ctr">
              <a:lnSpc>
                <a:spcPts val="3626"/>
              </a:lnSpc>
            </a:pPr>
            <a:r>
              <a:rPr lang="en-US" sz="2833">
                <a:solidFill>
                  <a:srgbClr val="000000"/>
                </a:solidFill>
                <a:latin typeface="Open Sauce"/>
                <a:ea typeface="Open Sauce"/>
                <a:cs typeface="Open Sauce"/>
                <a:sym typeface="Open Sauce"/>
              </a:rPr>
              <a:t>“I was looking for someone from Wells Fargo, like a human being, to say, ‘We accept responsibility, this is our plan, I personally own this plan and I’m going to hold myself responsible,’ ”</a:t>
            </a:r>
          </a:p>
          <a:p>
            <a:pPr algn="ctr">
              <a:lnSpc>
                <a:spcPts val="3626"/>
              </a:lnSpc>
            </a:pPr>
          </a:p>
          <a:p>
            <a:pPr algn="ctr">
              <a:lnSpc>
                <a:spcPts val="2730"/>
              </a:lnSpc>
            </a:pPr>
            <a:r>
              <a:rPr lang="en-US" sz="2133">
                <a:solidFill>
                  <a:srgbClr val="000000"/>
                </a:solidFill>
                <a:latin typeface="Open Sauce"/>
                <a:ea typeface="Open Sauce"/>
                <a:cs typeface="Open Sauce"/>
                <a:sym typeface="Open Sauce"/>
              </a:rPr>
              <a:t>-Deb Gabor, CEO of Sol Marketing</a:t>
            </a:r>
          </a:p>
        </p:txBody>
      </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bg>
      <p:bgPr>
        <a:solidFill>
          <a:srgbClr val="F8F6F1"/>
        </a:solidFill>
      </p:bgPr>
    </p:bg>
    <p:spTree>
      <p:nvGrpSpPr>
        <p:cNvPr id="1" name=""/>
        <p:cNvGrpSpPr/>
        <p:nvPr/>
      </p:nvGrpSpPr>
      <p:grpSpPr>
        <a:xfrm>
          <a:off x="0" y="0"/>
          <a:ext cx="0" cy="0"/>
          <a:chOff x="0" y="0"/>
          <a:chExt cx="0" cy="0"/>
        </a:xfrm>
      </p:grpSpPr>
      <p:sp>
        <p:nvSpPr>
          <p:cNvPr name="TextBox 2" id="2"/>
          <p:cNvSpPr txBox="true"/>
          <p:nvPr/>
        </p:nvSpPr>
        <p:spPr>
          <a:xfrm rot="0">
            <a:off x="1754880" y="4895359"/>
            <a:ext cx="14778239" cy="2350770"/>
          </a:xfrm>
          <a:prstGeom prst="rect">
            <a:avLst/>
          </a:prstGeom>
        </p:spPr>
        <p:txBody>
          <a:bodyPr anchor="t" rtlCol="false" tIns="0" lIns="0" bIns="0" rIns="0">
            <a:spAutoFit/>
          </a:bodyPr>
          <a:lstStyle/>
          <a:p>
            <a:pPr algn="l" marL="0" indent="0" lvl="0">
              <a:lnSpc>
                <a:spcPts val="18239"/>
              </a:lnSpc>
            </a:pPr>
            <a:r>
              <a:rPr lang="en-US" b="true" sz="15999" spc="-1151">
                <a:solidFill>
                  <a:srgbClr val="000000"/>
                </a:solidFill>
                <a:latin typeface="Open Sauce Medium"/>
                <a:ea typeface="Open Sauce Medium"/>
                <a:cs typeface="Open Sauce Medium"/>
                <a:sym typeface="Open Sauce Medium"/>
              </a:rPr>
              <a:t>Questions?</a:t>
            </a:r>
          </a:p>
        </p:txBody>
      </p:sp>
      <p:sp>
        <p:nvSpPr>
          <p:cNvPr name="TextBox 3" id="3"/>
          <p:cNvSpPr txBox="true"/>
          <p:nvPr/>
        </p:nvSpPr>
        <p:spPr>
          <a:xfrm rot="0">
            <a:off x="1754880" y="2737650"/>
            <a:ext cx="14778239" cy="2350770"/>
          </a:xfrm>
          <a:prstGeom prst="rect">
            <a:avLst/>
          </a:prstGeom>
        </p:spPr>
        <p:txBody>
          <a:bodyPr anchor="t" rtlCol="false" tIns="0" lIns="0" bIns="0" rIns="0">
            <a:spAutoFit/>
          </a:bodyPr>
          <a:lstStyle/>
          <a:p>
            <a:pPr algn="l" marL="0" indent="0" lvl="0">
              <a:lnSpc>
                <a:spcPts val="18239"/>
              </a:lnSpc>
            </a:pPr>
            <a:r>
              <a:rPr lang="en-US" sz="15999" spc="-1151">
                <a:solidFill>
                  <a:srgbClr val="000000"/>
                </a:solidFill>
                <a:latin typeface="Open Sauce Light"/>
                <a:ea typeface="Open Sauce Light"/>
                <a:cs typeface="Open Sauce Light"/>
                <a:sym typeface="Open Sauce Light"/>
              </a:rPr>
              <a:t>Thank you</a:t>
            </a:r>
          </a:p>
        </p:txBody>
      </p:sp>
      <p:sp>
        <p:nvSpPr>
          <p:cNvPr name="Freeform 4" id="4"/>
          <p:cNvSpPr/>
          <p:nvPr/>
        </p:nvSpPr>
        <p:spPr>
          <a:xfrm flipH="false" flipV="false" rot="0">
            <a:off x="12573977" y="7445439"/>
            <a:ext cx="7233003" cy="7272673"/>
          </a:xfrm>
          <a:custGeom>
            <a:avLst/>
            <a:gdLst/>
            <a:ahLst/>
            <a:cxnLst/>
            <a:rect r="r" b="b" t="t" l="l"/>
            <a:pathLst>
              <a:path h="7272673" w="7233003">
                <a:moveTo>
                  <a:pt x="0" y="0"/>
                </a:moveTo>
                <a:lnTo>
                  <a:pt x="7233004" y="0"/>
                </a:lnTo>
                <a:lnTo>
                  <a:pt x="7233004" y="7272673"/>
                </a:lnTo>
                <a:lnTo>
                  <a:pt x="0" y="72726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2302718" y="7352237"/>
            <a:ext cx="7365874" cy="7365874"/>
          </a:xfrm>
          <a:custGeom>
            <a:avLst/>
            <a:gdLst/>
            <a:ahLst/>
            <a:cxnLst/>
            <a:rect r="r" b="b" t="t" l="l"/>
            <a:pathLst>
              <a:path h="7365874" w="7365874">
                <a:moveTo>
                  <a:pt x="0" y="0"/>
                </a:moveTo>
                <a:lnTo>
                  <a:pt x="7365874" y="0"/>
                </a:lnTo>
                <a:lnTo>
                  <a:pt x="7365874" y="7365875"/>
                </a:lnTo>
                <a:lnTo>
                  <a:pt x="0" y="73658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2545021" y="-1971742"/>
            <a:ext cx="5968153" cy="6000885"/>
          </a:xfrm>
          <a:custGeom>
            <a:avLst/>
            <a:gdLst/>
            <a:ahLst/>
            <a:cxnLst/>
            <a:rect r="r" b="b" t="t" l="l"/>
            <a:pathLst>
              <a:path h="6000885" w="5968153">
                <a:moveTo>
                  <a:pt x="0" y="0"/>
                </a:moveTo>
                <a:lnTo>
                  <a:pt x="5968153" y="0"/>
                </a:lnTo>
                <a:lnTo>
                  <a:pt x="5968153" y="6000884"/>
                </a:lnTo>
                <a:lnTo>
                  <a:pt x="0" y="600088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3641859">
            <a:off x="14342911" y="-1264914"/>
            <a:ext cx="6736363" cy="6368925"/>
          </a:xfrm>
          <a:custGeom>
            <a:avLst/>
            <a:gdLst/>
            <a:ahLst/>
            <a:cxnLst/>
            <a:rect r="r" b="b" t="t" l="l"/>
            <a:pathLst>
              <a:path h="6368925" w="6736363">
                <a:moveTo>
                  <a:pt x="0" y="0"/>
                </a:moveTo>
                <a:lnTo>
                  <a:pt x="6736363" y="0"/>
                </a:lnTo>
                <a:lnTo>
                  <a:pt x="6736363" y="6368925"/>
                </a:lnTo>
                <a:lnTo>
                  <a:pt x="0" y="636892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DAGAK6-NZKU</dc:identifier>
  <dcterms:modified xsi:type="dcterms:W3CDTF">2011-08-01T06:04:30Z</dcterms:modified>
  <cp:revision>1</cp:revision>
  <dc:title>Advertising presentation - Group 4</dc:title>
</cp:coreProperties>
</file>